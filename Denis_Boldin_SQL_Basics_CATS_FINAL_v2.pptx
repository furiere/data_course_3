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79" r:id="rId30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1BFFF"/>
    <a:srgbClr val="00CCD7"/>
    <a:srgbClr val="000000"/>
    <a:srgbClr val="16160F"/>
    <a:srgbClr val="0F0B30"/>
    <a:srgbClr val="FFAA01"/>
    <a:srgbClr val="03CD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02710D-B2F4-5745-BC85-CF7A94FFE323}" v="440" dt="2025-12-09T12:43:09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/>
    <p:restoredTop sz="94635"/>
  </p:normalViewPr>
  <p:slideViewPr>
    <p:cSldViewPr snapToGrid="0">
      <p:cViewPr varScale="1">
        <p:scale>
          <a:sx n="120" d="100"/>
          <a:sy n="120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F733-3168-7873-880B-FEA1FE18E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944CA-C88C-DFDB-60F3-5B41DAA8E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AF801-7D1F-7C7E-F8C6-B279017E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18C9E-7C26-8D54-71FF-FE0D11938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B4611-3856-AFEF-D580-5BC0A5B7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1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6B71-F87C-403D-5EEF-0AB239688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6EF18-043C-0213-3DD5-86CC19912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CF0A-1916-1D72-49C5-76C8EE65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7FDAA-0D19-8EF9-5630-EC0E5143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4BB36-1303-F909-6084-82D74040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0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C80B-EA86-EF95-2B02-57380B76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702B9-4C09-F5A5-629D-7B937A7BA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2DC99-5C26-62DF-6ACA-03A68FB6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8EA05-58FB-CFB8-4355-B3E01066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F74B7-7658-3DA1-15CB-8154F1DE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64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5292-5416-4DD2-58B9-8B6D491F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CA097-D2E6-A1FF-2AB0-3E2B79824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9BCDA-DDA9-A7D6-9C5F-38EB18CD3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3D31A-AAB5-66B5-0352-F9C632995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A6548-D3D4-1B0F-2623-50B4A00AE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4DE81-D3B5-4349-91E5-AEDEB820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2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6C3D-7785-1347-3E47-B78AF2093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09C02-9E92-00B7-F10D-7B9B29A3B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49161-832D-20A7-75E0-4ECBF4B7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DB60DF-D4C9-6E49-27D3-2C0A55E29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92F57-6C10-CF00-2BC1-909BB4D4D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CA166-6FF6-DE04-11DE-95924A770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A3EE6-1CD0-048F-9DF8-6D1C58E4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0120C-8BEF-E587-9423-B2785C74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5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E851C-C9C7-C00B-7025-4E1CB272C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2AB687-1C06-4899-97A7-8278745F2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BFE3E-95A6-2141-80FC-E541CD78F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1B479-C973-E1CF-C799-CBD75F85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36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C5446-9145-1A53-D437-A2419EE5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2C58CE-87C8-835F-99D1-2ED99D05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C4F14-71DD-7E4F-054F-AE24BA01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0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F4EA7-5896-711C-C59C-2DA5291ED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C2374-89DB-007B-6CF2-07B66EC4C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D01FB-EC3C-F0DB-B93E-BC76F7724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CBA72-7741-0D38-B429-A8EAA1DB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36C4B-FB20-3EC4-3FCC-63A86C58E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FD35E-C1FA-5BF9-A6CC-09663729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8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3EA64-D9A6-12B4-8006-3FAF2F4A2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61FD38-8E87-C860-EC16-630142CEA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5487B-6D18-40C5-1393-F259344CE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CCAC3-B5CE-B361-404C-3544D61C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4AC23-10E1-85DE-D447-B43F20BB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C8FA2-EFA0-7E31-D89E-F3F66D3D0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33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DF28-A41C-DA40-7CF6-9167631F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8CBF8-D1A9-1A02-F5F9-7A6918887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0AFD7-E72C-43D4-FF54-62A06F2D4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1A3B3-BBD6-4933-0966-D6529366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0DB4D-78FD-4A79-7B42-5ADF7A54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99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6A3A5-77CB-D2A1-FBDD-3E5D2AC4E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C36C9-9014-2168-A6DE-E97258288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DE8A-8190-B500-6DA5-F3D3D6A83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DA9E4-A6AF-045B-F9CB-A247807A0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157CB-88C5-4E32-5C83-DFAB1454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519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19D1E-F005-630A-2D97-5E822259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3D141-978E-D93C-C310-EA32560F8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D23AF-84AF-31EC-FF37-D19B585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6142B-8569-DB07-3A3F-1FB06D89F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878F4-24B3-AEDF-9293-705508475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0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Cat0" Type="http://schemas.openxmlformats.org/officeDocument/2006/relationships/image" Target="../media/cat_layer_1_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Cat0" Type="http://schemas.openxmlformats.org/officeDocument/2006/relationships/image" Target="../media/cat_layer_7_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Cat0" Type="http://schemas.openxmlformats.org/officeDocument/2006/relationships/image" Target="../media/cat_layer_11_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Cat0" Type="http://schemas.openxmlformats.org/officeDocument/2006/relationships/image" Target="../media/cat_layer_14_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Cat0" Type="http://schemas.openxmlformats.org/officeDocument/2006/relationships/image" Target="../media/cat_layer_17_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Cat0" Type="http://schemas.openxmlformats.org/officeDocument/2006/relationships/image" Target="../media/cat_layer_20_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Cat0" Type="http://schemas.openxmlformats.org/officeDocument/2006/relationships/image" Target="../media/cat_layer_24_0.png"/><Relationship Id="rIdCat1" Type="http://schemas.openxmlformats.org/officeDocument/2006/relationships/image" Target="../media/cat_layer_24_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914400"/>
            <a:ext cx="5852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80808"/>
                </a:solidFill>
                <a:latin typeface="Arial"/>
              </a:rPr>
              <a:t>SQL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90195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97076"/>
                </a:solidFill>
                <a:latin typeface="Arial"/>
              </a:rPr>
              <a:t>PostgreSQL · Lecture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514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80808"/>
                </a:solidFill>
                <a:latin typeface="Arial"/>
              </a:rPr>
              <a:t>Denis Boldin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3246120"/>
            <a:ext cx="3429000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3" y="3300984"/>
            <a:ext cx="32826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SQL BASICS FOR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79476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7076"/>
                </a:solidFill>
                <a:latin typeface="Arial"/>
              </a:rPr>
              <a:t>For junior data analysts</a:t>
            </a:r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Cat0"/>
          <a:stretch/>
        </p:blipFill>
        <p:spPr>
          <a:xfrm>
            <a:off x="5905500" y="2079625"/>
            <a:ext cx="6191250" cy="412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8600"/>
            <a:ext cx="22860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286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327"/>
                </a:solidFill>
                <a:latin typeface="Arial"/>
              </a:rPr>
              <a:t>TBC Explorers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313432" cy="1225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651052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97387"/>
                </a:solidFill>
                <a:latin typeface="Arial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22860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71327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8580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71327"/>
                </a:solidFill>
                <a:latin typeface="Arial"/>
              </a:rPr>
              <a:t>What we'll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70432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C7D3"/>
                </a:solidFill>
                <a:latin typeface="Arial"/>
              </a:rPr>
              <a:t>cover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10512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387"/>
                </a:solidFill>
                <a:latin typeface="Arial"/>
              </a:rPr>
              <a:t>From basic queries to window functions and joins. With real examples.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2514600"/>
            <a:ext cx="144475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" y="2670048"/>
            <a:ext cx="347472" cy="347472"/>
          </a:xfrm>
          <a:prstGeom prst="ellipse">
            <a:avLst/>
          </a:prstGeom>
          <a:solidFill>
            <a:srgbClr val="14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2724912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3182112"/>
            <a:ext cx="120700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71327"/>
                </a:solidFill>
                <a:latin typeface="Arial"/>
              </a:rPr>
              <a:t>Working
with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4041648"/>
            <a:ext cx="1188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387"/>
                </a:solidFill>
                <a:latin typeface="Arial"/>
              </a:rPr>
              <a:t>Dataset
Data types
Readable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75104" y="2514600"/>
            <a:ext cx="144475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93976" y="2670048"/>
            <a:ext cx="347472" cy="347472"/>
          </a:xfrm>
          <a:prstGeom prst="ellipse">
            <a:avLst/>
          </a:prstGeom>
          <a:solidFill>
            <a:srgbClr val="14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3976" y="2724912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182112"/>
            <a:ext cx="120700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71327"/>
                </a:solidFill>
                <a:latin typeface="Arial"/>
              </a:rPr>
              <a:t>Filtering
and sorting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4041648"/>
            <a:ext cx="1188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387"/>
                </a:solidFill>
                <a:latin typeface="Arial"/>
              </a:rPr>
              <a:t>WHERE
ORDER BY
LIMIT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2736" y="2514600"/>
            <a:ext cx="144475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21608" y="2670048"/>
            <a:ext cx="347472" cy="347472"/>
          </a:xfrm>
          <a:prstGeom prst="ellipse">
            <a:avLst/>
          </a:prstGeom>
          <a:solidFill>
            <a:srgbClr val="14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2724912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608" y="3182112"/>
            <a:ext cx="120700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71327"/>
                </a:solidFill>
                <a:latin typeface="Arial"/>
              </a:rPr>
              <a:t>Aggregates
and groups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1608" y="4041648"/>
            <a:ext cx="1188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387"/>
                </a:solidFill>
                <a:latin typeface="Arial"/>
              </a:rPr>
              <a:t>Aggregate functions
GROUP BY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0368" y="2514600"/>
            <a:ext cx="144475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49240" y="2670048"/>
            <a:ext cx="347472" cy="347472"/>
          </a:xfrm>
          <a:prstGeom prst="ellipse">
            <a:avLst/>
          </a:prstGeom>
          <a:solidFill>
            <a:srgbClr val="14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724912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182112"/>
            <a:ext cx="120700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71327"/>
                </a:solidFill>
                <a:latin typeface="Arial"/>
              </a:rPr>
              <a:t>Window
functions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041648"/>
            <a:ext cx="1188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387"/>
                </a:solidFill>
                <a:latin typeface="Arial"/>
              </a:rPr>
              <a:t>Running total
Ranking
Moving average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2514600"/>
            <a:ext cx="144475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76872" y="2670048"/>
            <a:ext cx="347472" cy="347472"/>
          </a:xfrm>
          <a:prstGeom prst="ellipse">
            <a:avLst/>
          </a:prstGeom>
          <a:solidFill>
            <a:srgbClr val="14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76872" y="2724912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3182112"/>
            <a:ext cx="120700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71327"/>
                </a:solidFill>
                <a:latin typeface="Arial"/>
              </a:rPr>
              <a:t>Subqueries
and CTEs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6872" y="4041648"/>
            <a:ext cx="1188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387"/>
                </a:solidFill>
                <a:latin typeface="Arial"/>
              </a:rPr>
              <a:t>Subqueries
CTEs
Real examples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85632" y="2514600"/>
            <a:ext cx="144475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04504" y="2670048"/>
            <a:ext cx="347472" cy="347472"/>
          </a:xfrm>
          <a:prstGeom prst="ellipse">
            <a:avLst/>
          </a:prstGeom>
          <a:solidFill>
            <a:srgbClr val="14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04504" y="2724912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04504" y="3182112"/>
            <a:ext cx="120700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71327"/>
                </a:solidFill>
                <a:latin typeface="Arial"/>
              </a:rPr>
              <a:t>Joins, unions
and other stuff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4504" y="4041648"/>
            <a:ext cx="1188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387"/>
                </a:solidFill>
                <a:latin typeface="Arial"/>
              </a:rPr>
              <a:t>JOINS
UNION
Transactions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13264" y="2514600"/>
            <a:ext cx="144475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32136" y="2670048"/>
            <a:ext cx="347472" cy="347472"/>
          </a:xfrm>
          <a:prstGeom prst="ellipse">
            <a:avLst/>
          </a:prstGeom>
          <a:solidFill>
            <a:srgbClr val="14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32136" y="2724912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2136" y="3182112"/>
            <a:ext cx="120700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71327"/>
                </a:solidFill>
                <a:latin typeface="Arial"/>
              </a:rPr>
              <a:t>Wrap-up
and Q&amp;A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32136" y="4041648"/>
            <a:ext cx="1188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387"/>
                </a:solidFill>
                <a:latin typeface="Arial"/>
              </a:rPr>
              <a:t>Key takeaways
Practice ideas
Your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0"/>
            <a:ext cx="2542032" cy="1344168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01168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0808"/>
                </a:solidFill>
                <a:latin typeface="Arial"/>
              </a:rPr>
              <a:t>The database we’ll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076"/>
                </a:solidFill>
                <a:latin typeface="Arial"/>
              </a:rPr>
              <a:t>A Spotify catalogue sample, 1922–2021. We’ll work with four related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076"/>
                </a:solidFill>
                <a:latin typeface="Arial"/>
              </a:rPr>
              <a:t>0 · PRELIMINARIES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076"/>
                </a:solidFill>
                <a:latin typeface="Arial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93392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0808"/>
                </a:solidFill>
                <a:latin typeface="Arial"/>
              </a:rPr>
              <a:t>artists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59152"/>
            <a:ext cx="24140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076"/>
                </a:solidFill>
                <a:latin typeface="Arial"/>
              </a:rPr>
              <a:t>27,385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0808"/>
                </a:solidFill>
                <a:latin typeface="Arial"/>
              </a:rPr>
              <a:t>tracks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359152"/>
            <a:ext cx="24140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076"/>
                </a:solidFill>
                <a:latin typeface="Arial"/>
              </a:rPr>
              <a:t>60,000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6304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627632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0808"/>
                </a:solidFill>
                <a:latin typeface="Arial"/>
              </a:rPr>
              <a:t>track_artists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1993392"/>
            <a:ext cx="24140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076"/>
                </a:solidFill>
                <a:latin typeface="Arial"/>
              </a:rPr>
              <a:t>74,624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6908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233672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0808"/>
                </a:solidFill>
                <a:latin typeface="Arial"/>
              </a:rPr>
              <a:t>artist_related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599432"/>
            <a:ext cx="24140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076"/>
                </a:solidFill>
                <a:latin typeface="Arial"/>
              </a:rPr>
              <a:t>210,844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154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0808"/>
                </a:solidFill>
                <a:latin typeface="Courier New"/>
              </a:rPr>
              <a:t>artists  ──&lt;  track_artists  &gt;──  tracks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794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076"/>
                </a:solidFill>
                <a:latin typeface="Arial"/>
              </a:rPr>
              <a:t>Each table has its own grain. Bridge tables store relationships between entities.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4663440"/>
            <a:ext cx="1097280" cy="347472"/>
          </a:xfrm>
          <a:prstGeom prst="roundRect">
            <a:avLst/>
          </a:prstGeom>
          <a:solidFill>
            <a:srgbClr val="E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5072" y="4718303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WATCH THIS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645152"/>
            <a:ext cx="5669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80808"/>
                </a:solidFill>
                <a:latin typeface="Arial"/>
              </a:rPr>
              <a:t>Some release dates are only known to year/month and are padded to the 1st. Trust release_date_precision.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429000" y="1938528"/>
            <a:ext cx="1005840" cy="420624"/>
          </a:xfrm>
          <a:prstGeom prst="line">
            <a:avLst/>
          </a:prstGeom>
          <a:ln w="22860">
            <a:solidFill>
              <a:srgbClr val="13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178040" y="1938528"/>
            <a:ext cx="960120" cy="420624"/>
          </a:xfrm>
          <a:prstGeom prst="line">
            <a:avLst/>
          </a:prstGeom>
          <a:ln w="22860">
            <a:solidFill>
              <a:srgbClr val="13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57400" y="2880360"/>
            <a:ext cx="0" cy="1188720"/>
          </a:xfrm>
          <a:prstGeom prst="line">
            <a:avLst/>
          </a:prstGeom>
          <a:ln w="22860">
            <a:solidFill>
              <a:srgbClr val="13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0"/>
            <a:ext cx="2542032" cy="1344168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01168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0808"/>
                </a:solidFill>
                <a:latin typeface="Arial"/>
              </a:rPr>
              <a:t>Data types affect query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076"/>
                </a:solidFill>
                <a:latin typeface="Arial"/>
              </a:rPr>
              <a:t>0 · PRELIMINARIES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076"/>
                </a:solidFill>
                <a:latin typeface="Arial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2487168" cy="9601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84708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C5CF"/>
                </a:solidFill>
                <a:latin typeface="Arial"/>
              </a:rPr>
              <a:t>NUMERIC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17627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INTEGER · BIGINT · 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87168" cy="9601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84708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C5CF"/>
                </a:solidFill>
                <a:latin typeface="Arial"/>
              </a:rPr>
              <a:t>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17627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VARCHAR ·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2487168" cy="9601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4708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C5CF"/>
                </a:solidFill>
                <a:latin typeface="Arial"/>
              </a:rPr>
              <a:t>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17627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DATE · TIMESTAMP · INTERVAL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645920"/>
            <a:ext cx="2487168" cy="9601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3" y="184708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C5CF"/>
                </a:solidFill>
                <a:latin typeface="Arial"/>
              </a:rPr>
              <a:t>FLAG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3" y="217627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BOOLEAN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63240"/>
            <a:ext cx="5166360" cy="1691640"/>
          </a:xfrm>
          <a:prstGeom prst="roundRect">
            <a:avLst/>
          </a:prstGeom>
          <a:solidFill>
            <a:srgbClr val="12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063240"/>
            <a:ext cx="73152" cy="1691640"/>
          </a:xfrm>
          <a:prstGeom prst="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264408"/>
            <a:ext cx="470916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duration_ms / 60000     -- 4
duration_ms / 60000.0   -- 4.175...
explicit::int            -- true →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06324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80808"/>
                </a:solidFill>
                <a:latin typeface="Arial"/>
              </a:rPr>
              <a:t>CASE adds conditional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566160"/>
            <a:ext cx="4709160" cy="1645920"/>
          </a:xfrm>
          <a:prstGeom prst="roundRect">
            <a:avLst/>
          </a:prstGeom>
          <a:solidFill>
            <a:srgbClr val="12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3566160"/>
            <a:ext cx="73152" cy="1645920"/>
          </a:xfrm>
          <a:prstGeom prst="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3767328"/>
            <a:ext cx="4251960" cy="1325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urier New"/>
              </a:rPr>
              <a:t>CASE
  WHEN popularity &gt;= 80 THEN 'hit'
  WHEN popularity &gt;= 50 THEN 'known'
  ELSE 'obscure'
END AS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257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80808"/>
                </a:solidFill>
                <a:latin typeface="Arial"/>
              </a:rPr>
              <a:t>Cast explicitly when the result depends on the data 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0"/>
            <a:ext cx="2542032" cy="1344168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01168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0808"/>
                </a:solidFill>
                <a:latin typeface="Arial"/>
              </a:rPr>
              <a:t>Write SQL that another analyst can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076"/>
                </a:solidFill>
                <a:latin typeface="Arial"/>
              </a:rPr>
              <a:t>0 · PRELIMINARIES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076"/>
                </a:solidFill>
                <a:latin typeface="Arial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486400" cy="3337560"/>
          </a:xfrm>
          <a:prstGeom prst="roundRect">
            <a:avLst/>
          </a:prstGeom>
          <a:solidFill>
            <a:srgbClr val="12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3152" cy="3337560"/>
          </a:xfrm>
          <a:prstGeom prst="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01368"/>
            <a:ext cx="5029200" cy="3017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urier New"/>
              </a:rPr>
              <a:t>SELECT
    name,
    popularity,
    EXTRACT(YEAR FROM release_date)::int AS year
FROM tracks AS t
WHERE popularity &gt;= 80
ORDER BY popularity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6916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80808"/>
                </a:solidFill>
                <a:latin typeface="Arial"/>
              </a:rPr>
              <a:t>A few useful habits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4028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80808"/>
                </a:solidFill>
                <a:latin typeface="Arial"/>
              </a:defRPr>
            </a:pPr>
            <a:r>
              <a:t>Name computed fields with aliases</a:t>
            </a:r>
          </a:p>
          <a:p>
            <a:pPr>
              <a:spcAft>
                <a:spcPts val="800"/>
              </a:spcAft>
              <a:defRPr sz="1700">
                <a:solidFill>
                  <a:srgbClr val="080808"/>
                </a:solidFill>
                <a:latin typeface="Arial"/>
              </a:defRPr>
            </a:pPr>
            <a:r>
              <a:t>One clause per line</a:t>
            </a:r>
          </a:p>
          <a:p>
            <a:pPr>
              <a:spcAft>
                <a:spcPts val="800"/>
              </a:spcAft>
              <a:defRPr sz="1700">
                <a:solidFill>
                  <a:srgbClr val="080808"/>
                </a:solidFill>
                <a:latin typeface="Arial"/>
              </a:defRPr>
            </a:pPr>
            <a:r>
              <a:t>Indent expressions consistently</a:t>
            </a:r>
          </a:p>
          <a:p>
            <a:pPr>
              <a:spcAft>
                <a:spcPts val="800"/>
              </a:spcAft>
              <a:defRPr sz="1700">
                <a:solidFill>
                  <a:srgbClr val="080808"/>
                </a:solidFill>
                <a:latin typeface="Arial"/>
              </a:defRPr>
            </a:pPr>
            <a:r>
              <a:t>Prefer explicit logic over clever shortcuts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4983480"/>
            <a:ext cx="731520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5038344"/>
            <a:ext cx="5852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WHY?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01091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0808"/>
                </a:solidFill>
                <a:latin typeface="Arial"/>
              </a:rPr>
              <a:t>You will read this query again. Make it easy to understand.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0"/>
            <a:ext cx="5102352" cy="68580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219456" cy="21945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" y="960120"/>
            <a:ext cx="1417320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014984"/>
            <a:ext cx="12710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5760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080808"/>
                </a:solidFill>
                <a:latin typeface="Arial"/>
              </a:rPr>
              <a:t>Filtering and sorting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0128"/>
            <a:ext cx="5303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697076"/>
                </a:solidFill>
                <a:latin typeface="Arial"/>
              </a:rPr>
              <a:t>Use WHERE to decide which rows belong in the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076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7076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8600"/>
            <a:ext cx="22860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286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327"/>
                </a:solidFill>
                <a:latin typeface="Arial"/>
              </a:rPr>
              <a:t>TBC Explorers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1052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97387"/>
                </a:solidFill>
                <a:latin typeface="Arial"/>
              </a:rPr>
              <a:t>1.1 - FILTERING &amp; 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22860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71327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5943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71327"/>
                </a:solidFill>
                <a:latin typeface="Arial"/>
              </a:rPr>
              <a:t>FILTERING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896112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71327"/>
                </a:solidFill>
                <a:latin typeface="Arial"/>
              </a:rPr>
              <a:t>Use 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353312"/>
            <a:ext cx="4389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4C7D3"/>
                </a:solidFill>
                <a:latin typeface="Arial"/>
              </a:rPr>
              <a:t>to filter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3852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387"/>
                </a:solidFill>
                <a:latin typeface="Arial"/>
              </a:rPr>
              <a:t>WHERE keeps only the rows that match your condition.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578608"/>
            <a:ext cx="6400800" cy="3246120"/>
          </a:xfrm>
          <a:prstGeom prst="round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72491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54096"/>
            <a:ext cx="5943600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urier New"/>
              </a:rPr>
              <a:t>1  SELECT name, popularity, release_date
2  FROM tracks
3  WHERE popularity &gt;= 80
4    AND explicit = false
5    AND release_date &gt;= DATE '2010-01-01'
6    AND release_date &lt;  DATE '2020-01-01'
7  ORDER BY popularity DESC;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566035"/>
            <a:ext cx="4343400" cy="3072384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2770861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387"/>
                </a:solidFill>
                <a:latin typeface="Arial"/>
              </a:rPr>
              <a:t>track_name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2770861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387"/>
                </a:solidFill>
                <a:latin typeface="Arial"/>
              </a:rPr>
              <a:t>popularity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31552" y="2770861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387"/>
                </a:solidFill>
                <a:latin typeface="Arial"/>
              </a:rPr>
              <a:t>release_date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3136621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Blinding 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3136621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1552" y="3136621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2019-11-29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3560902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Starboy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3560902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1552" y="3560902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2016-09-21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3985184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Shape of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3985184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1552" y="3985184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2017-01-06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4409465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Believer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5672" y="4409465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31552" y="4409465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2017-02-01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4833747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HUMBLE.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4833747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1552" y="4833747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71327"/>
                </a:solidFill>
                <a:latin typeface="Arial"/>
              </a:rPr>
              <a:t>2017-03-30</a:t>
            </a:r>
          </a:p>
        </p:txBody>
      </p:sp>
      <p:pic>
        <p:nvPicPr>
          <p:cNvPr id="33" name=""/>
          <p:cNvPicPr>
            <a:picLocks noChangeAspect="1"/>
          </p:cNvPicPr>
          <p:nvPr/>
        </p:nvPicPr>
        <p:blipFill>
          <a:blip r:embed="rIdCat0"/>
          <a:stretch/>
        </p:blipFill>
        <p:spPr>
          <a:xfrm>
            <a:off x="8953500" y="432228"/>
            <a:ext cx="2667000" cy="22978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0"/>
            <a:ext cx="2542032" cy="1344168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01168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0808"/>
                </a:solidFill>
                <a:latin typeface="Arial"/>
              </a:rPr>
              <a:t>Text filters, NULLs, sorting and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076"/>
                </a:solidFill>
                <a:latin typeface="Arial"/>
              </a:rPr>
              <a:t>1.1 · FILTERING &amp; 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076"/>
                </a:solidFill>
                <a:latin typeface="Arial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C5CF"/>
                </a:solidFill>
                <a:latin typeface="Arial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00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0808"/>
                </a:solidFill>
                <a:latin typeface="Arial"/>
              </a:rPr>
              <a:t>= · LIKE · ILIKE ·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002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C5CF"/>
                </a:solidFill>
                <a:latin typeface="Arial"/>
              </a:rPr>
              <a:t>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600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0808"/>
                </a:solidFill>
                <a:latin typeface="Arial"/>
              </a:rPr>
              <a:t>IS NULL · IS NOT NULL · COALESCE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C5CF"/>
                </a:solidFill>
                <a:latin typeface="Arial"/>
              </a:rPr>
              <a:t>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43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0808"/>
                </a:solidFill>
                <a:latin typeface="Arial"/>
              </a:rPr>
              <a:t>ORDER BY … ASC / DESC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7432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C5CF"/>
                </a:solidFill>
                <a:latin typeface="Arial"/>
              </a:rPr>
              <a:t>Slice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743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0808"/>
                </a:solidFill>
                <a:latin typeface="Arial"/>
              </a:rPr>
              <a:t>LIMIT · OFFSET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69080"/>
            <a:ext cx="5029200" cy="1417320"/>
          </a:xfrm>
          <a:prstGeom prst="roundRect">
            <a:avLst/>
          </a:prstGeom>
          <a:solidFill>
            <a:srgbClr val="12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069080"/>
            <a:ext cx="73152" cy="1417320"/>
          </a:xfrm>
          <a:prstGeom prst="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270248"/>
            <a:ext cx="45720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urier New"/>
              </a:rPr>
              <a:t>SELECT name, popularity
FROM tracks
WHERE name ILIKE '%love%'
ORDER BY popularity DESC NULLS LAST
LIMIT 5;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80808"/>
                </a:solidFill>
                <a:latin typeface="Arial"/>
              </a:rPr>
              <a:t>NULL ≠ 0 ≠ empty string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1772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7076"/>
                </a:solidFill>
                <a:latin typeface="Arial"/>
              </a:rPr>
              <a:t>NULL means “unknown / absent”. Comparisons with = do not work the way beginners expect.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0"/>
            <a:ext cx="5102352" cy="68580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219456" cy="21945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" y="960120"/>
            <a:ext cx="1417320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014984"/>
            <a:ext cx="12710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5760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080808"/>
                </a:solidFill>
                <a:latin typeface="Arial"/>
              </a:rPr>
              <a:t>Aggregate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0128"/>
            <a:ext cx="5303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697076"/>
                </a:solidFill>
                <a:latin typeface="Arial"/>
              </a:rPr>
              <a:t>Use aggregates to summarize rows, with or without groups.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076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7076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0"/>
            <a:ext cx="2542032" cy="1344168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01168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0808"/>
                </a:solidFill>
                <a:latin typeface="Arial"/>
              </a:rPr>
              <a:t>Basic aggregate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076"/>
                </a:solidFill>
                <a:latin typeface="Arial"/>
              </a:rPr>
              <a:t>1.2 · AGGREGATE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076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C5CF"/>
                </a:solidFill>
                <a:latin typeface="Arial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0808"/>
                </a:solidFill>
                <a:latin typeface="Arial"/>
              </a:rPr>
              <a:t>What can we learn from the whole table?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5212080" cy="1874519"/>
          </a:xfrm>
          <a:prstGeom prst="roundRect">
            <a:avLst/>
          </a:prstGeom>
          <a:solidFill>
            <a:srgbClr val="12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743200"/>
            <a:ext cx="73152" cy="1874519"/>
          </a:xfrm>
          <a:prstGeom prst="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944368"/>
            <a:ext cx="4754880" cy="155447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SELECT
    count(*) AS tracks,
    round(avg(popularity), 1) AS avg_popularity,
    round(avg(duration_ms) / 60000.0, 2) AS avg_minutes
FROM tracks;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80808"/>
                </a:solidFill>
                <a:latin typeface="Arial"/>
              </a:rPr>
              <a:t>COUNT(*)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105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7076"/>
                </a:solidFill>
                <a:latin typeface="Arial"/>
              </a:rPr>
              <a:t>counts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146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80808"/>
                </a:solidFill>
                <a:latin typeface="Arial"/>
              </a:rPr>
              <a:t>COUNT(name)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5420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7076"/>
                </a:solidFill>
                <a:latin typeface="Arial"/>
              </a:rPr>
              <a:t>counts non-NULL names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03320"/>
            <a:ext cx="822960" cy="347472"/>
          </a:xfrm>
          <a:prstGeom prst="roundRect">
            <a:avLst/>
          </a:prstGeom>
          <a:solidFill>
            <a:srgbClr val="F5B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758183"/>
            <a:ext cx="6766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730752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0808"/>
                </a:solidFill>
                <a:latin typeface="Arial"/>
              </a:rPr>
              <a:t>Five tracks have NULL names. Which COUNT is smaller?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8600"/>
            <a:ext cx="22860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286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327"/>
                </a:solidFill>
                <a:latin typeface="Arial"/>
              </a:rPr>
              <a:t>TBC Explorers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1052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97387"/>
                </a:solidFill>
                <a:latin typeface="Arial"/>
              </a:rPr>
              <a:t>1.2 - AGGREGATE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22860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71327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594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71327"/>
                </a:solidFill>
                <a:latin typeface="Arial"/>
              </a:rPr>
              <a:t>AGGREGATES AND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896112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71327"/>
                </a:solidFill>
                <a:latin typeface="Arial"/>
              </a:rPr>
              <a:t>Use GROUP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353312"/>
            <a:ext cx="47548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C7D3"/>
                </a:solidFill>
                <a:latin typeface="Arial"/>
              </a:rPr>
              <a:t>to compare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20240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7387"/>
                </a:solidFill>
                <a:latin typeface="Arial"/>
              </a:rPr>
              <a:t>GROUP BY calculates a result for each group - for example, each decade.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606040"/>
            <a:ext cx="5806440" cy="3108960"/>
          </a:xfrm>
          <a:prstGeom prst="round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752344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81528"/>
            <a:ext cx="5349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SELECT
  (EXTRACT(YEAR FROM release_date)::int / 10) * 10 AS decade,
  count(*) AS tracks,
  round(avg(popularity), 1) AS avg_popularity
FROM tracks
GROUP BY decade
HAVING count(*) &gt;= 100
ORDER BY decade;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2331720"/>
            <a:ext cx="4983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57860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387"/>
                </a:solidFill>
                <a:latin typeface="Arial"/>
              </a:rPr>
              <a:t>decade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57860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387"/>
                </a:solidFill>
                <a:latin typeface="Arial"/>
              </a:rPr>
              <a:t>tracks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257860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387"/>
                </a:solidFill>
                <a:latin typeface="Arial"/>
              </a:rPr>
              <a:t>avg_popularity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306324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1980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306324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5,342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488" y="306324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42.7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5935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1990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5935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7,901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35935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46.1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41239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2000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1239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12,843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41239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51.4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654296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2010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4654296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18,774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9488" y="4654296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58.9</a:t>
            </a:r>
          </a:p>
        </p:txBody>
      </p:sp>
      <p:pic>
        <p:nvPicPr>
          <p:cNvPr id="30" name=""/>
          <p:cNvPicPr>
            <a:picLocks noChangeAspect="1"/>
          </p:cNvPicPr>
          <p:nvPr/>
        </p:nvPicPr>
        <p:blipFill>
          <a:blip r:embed="rIdCat0"/>
          <a:stretch/>
        </p:blipFill>
        <p:spPr>
          <a:xfrm>
            <a:off x="8096250" y="1144726"/>
            <a:ext cx="3238500" cy="13490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0"/>
            <a:ext cx="5102352" cy="68580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219456" cy="21945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" y="960120"/>
            <a:ext cx="1417320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014984"/>
            <a:ext cx="12710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5760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080808"/>
                </a:solidFill>
                <a:latin typeface="Arial"/>
              </a:rPr>
              <a:t>Window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0128"/>
            <a:ext cx="5303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697076"/>
                </a:solidFill>
                <a:latin typeface="Arial"/>
              </a:rPr>
              <a:t>Window functions calculate across related rows without collapsing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076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707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0"/>
            <a:ext cx="2542032" cy="1344168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01168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0808"/>
                </a:solidFill>
                <a:latin typeface="Arial"/>
              </a:rPr>
              <a:t>GROUP BY vs window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076"/>
                </a:solidFill>
                <a:latin typeface="Arial"/>
              </a:rPr>
              <a:t>1.3 ·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076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80808"/>
                </a:solidFill>
                <a:latin typeface="Arial"/>
              </a:rPr>
              <a:t>GROUP BY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651760" cy="384048"/>
          </a:xfrm>
          <a:prstGeom prst="roundRect">
            <a:avLst/>
          </a:prstGeom>
          <a:solidFill>
            <a:srgbClr val="F4F6F7"/>
          </a:solidFill>
          <a:ln w="7315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79192"/>
            <a:ext cx="2651760" cy="384048"/>
          </a:xfrm>
          <a:prstGeom prst="roundRect">
            <a:avLst/>
          </a:prstGeom>
          <a:solidFill>
            <a:srgbClr val="F4F6F7"/>
          </a:solidFill>
          <a:ln w="7315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209544"/>
            <a:ext cx="2651760" cy="384048"/>
          </a:xfrm>
          <a:prstGeom prst="roundRect">
            <a:avLst/>
          </a:prstGeom>
          <a:solidFill>
            <a:srgbClr val="F4F6F7"/>
          </a:solidFill>
          <a:ln w="7315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739896"/>
            <a:ext cx="2651760" cy="384048"/>
          </a:xfrm>
          <a:prstGeom prst="roundRect">
            <a:avLst/>
          </a:prstGeom>
          <a:solidFill>
            <a:srgbClr val="F4F6F7"/>
          </a:solidFill>
          <a:ln w="7315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076"/>
                </a:solidFill>
                <a:latin typeface="Arial"/>
              </a:rPr>
              <a:t>4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889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3C5CF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560320"/>
            <a:ext cx="1828800" cy="822960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8163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0808"/>
                </a:solidFill>
                <a:latin typeface="Arial"/>
              </a:rPr>
              <a:t>1 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6002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80808"/>
                </a:solidFill>
                <a:latin typeface="Arial"/>
              </a:rPr>
              <a:t>WINDOW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148840"/>
            <a:ext cx="4206240" cy="384048"/>
          </a:xfrm>
          <a:prstGeom prst="roundRect">
            <a:avLst/>
          </a:prstGeom>
          <a:solidFill>
            <a:srgbClr val="F4F6F7"/>
          </a:solidFill>
          <a:ln w="7315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24028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track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24028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3C5CF"/>
                </a:solidFill>
                <a:latin typeface="Arial"/>
              </a:rPr>
              <a:t>+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2679192"/>
            <a:ext cx="4206240" cy="384048"/>
          </a:xfrm>
          <a:prstGeom prst="roundRect">
            <a:avLst/>
          </a:prstGeom>
          <a:solidFill>
            <a:srgbClr val="F4F6F7"/>
          </a:solidFill>
          <a:ln w="7315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770632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track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770632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3C5CF"/>
                </a:solidFill>
                <a:latin typeface="Arial"/>
              </a:rPr>
              <a:t>+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3209544"/>
            <a:ext cx="4206240" cy="384048"/>
          </a:xfrm>
          <a:prstGeom prst="roundRect">
            <a:avLst/>
          </a:prstGeom>
          <a:solidFill>
            <a:srgbClr val="F4F6F7"/>
          </a:solidFill>
          <a:ln w="7315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300984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track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300984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3C5CF"/>
                </a:solidFill>
                <a:latin typeface="Arial"/>
              </a:rPr>
              <a:t>+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739896"/>
            <a:ext cx="4206240" cy="384048"/>
          </a:xfrm>
          <a:prstGeom prst="roundRect">
            <a:avLst/>
          </a:prstGeom>
          <a:solidFill>
            <a:srgbClr val="F4F6F7"/>
          </a:solidFill>
          <a:ln w="7315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831335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80808"/>
                </a:solidFill>
                <a:latin typeface="Arial"/>
              </a:rPr>
              <a:t>track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831335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3C5CF"/>
                </a:solidFill>
                <a:latin typeface="Arial"/>
              </a:rPr>
              <a:t>+ context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4572000"/>
            <a:ext cx="4206240" cy="914400"/>
          </a:xfrm>
          <a:prstGeom prst="roundRect">
            <a:avLst/>
          </a:prstGeom>
          <a:solidFill>
            <a:srgbClr val="12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7960" y="4572000"/>
            <a:ext cx="73152" cy="914400"/>
          </a:xfrm>
          <a:prstGeom prst="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3992" y="4773168"/>
            <a:ext cx="3749039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urier New"/>
              </a:rPr>
              <a:t>avg(popularity) OVER (
  PARTITION BY decade
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01168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0808"/>
                </a:solidFill>
                <a:latin typeface="Arial"/>
              </a:rPr>
              <a:t>Three types of window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076"/>
                </a:solidFill>
                <a:latin typeface="Arial"/>
              </a:rPr>
              <a:t>1.3 ·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076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325880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09344"/>
            <a:ext cx="1179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AGGREGATE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819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0808"/>
                </a:solidFill>
                <a:latin typeface="Arial"/>
              </a:rPr>
              <a:t>SUM · AVG ·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58191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7076"/>
                </a:solidFill>
                <a:latin typeface="Arial"/>
              </a:rPr>
              <a:t>running / group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1325880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798064"/>
            <a:ext cx="1179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OFFSET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77063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0808"/>
                </a:solidFill>
                <a:latin typeface="Arial"/>
              </a:rPr>
              <a:t>LAG ·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7706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7076"/>
                </a:solidFill>
                <a:latin typeface="Arial"/>
              </a:rPr>
              <a:t>previous / next row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31920"/>
            <a:ext cx="1325880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86783"/>
            <a:ext cx="1179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9593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0808"/>
                </a:solidFill>
                <a:latin typeface="Arial"/>
              </a:rPr>
              <a:t>ROW_NUMBER · RANK · DENSE_RANK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95935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7076"/>
                </a:solidFill>
                <a:latin typeface="Arial"/>
              </a:rPr>
              <a:t>position inside a group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74920"/>
            <a:ext cx="9715500" cy="960120"/>
          </a:xfrm>
          <a:prstGeom prst="roundRect">
            <a:avLst/>
          </a:prstGeom>
          <a:solidFill>
            <a:srgbClr val="12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074920"/>
            <a:ext cx="73152" cy="960120"/>
          </a:xfrm>
          <a:prstGeom prst="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200650"/>
            <a:ext cx="4572000" cy="85725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urier New"/>
              </a:rPr>
              <a:t>SELECT name, popularity,
       RANK() OVER (ORDER BY popularity DESC) AS rank
FROM tracks
LIMIT 10;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6105525"/>
            <a:ext cx="8191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0808"/>
                </a:solidFill>
                <a:latin typeface="Arial"/>
              </a:rPr>
              <a:t>A frame defines which rows participate in the window calculation.</a:t>
            </a:r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Cat0"/>
          <a:stretch/>
        </p:blipFill>
        <p:spPr>
          <a:xfrm>
            <a:off x="9239250" y="4225931"/>
            <a:ext cx="2381250" cy="20161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0"/>
            <a:ext cx="5102352" cy="68580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219456" cy="21945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" y="960120"/>
            <a:ext cx="1417320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014984"/>
            <a:ext cx="12710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5760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080808"/>
                </a:solidFill>
                <a:latin typeface="Arial"/>
              </a:rPr>
              <a:t>Subqueries and CTEs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0128"/>
            <a:ext cx="5303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697076"/>
                </a:solidFill>
                <a:latin typeface="Arial"/>
              </a:rPr>
              <a:t>Use them when a query is easier to solve in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076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707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0"/>
            <a:ext cx="2542032" cy="1344168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01168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0808"/>
                </a:solidFill>
                <a:latin typeface="Arial"/>
              </a:rPr>
              <a:t>Subqueries: use one query inside another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076"/>
                </a:solidFill>
                <a:latin typeface="Arial"/>
              </a:rPr>
              <a:t>1.4 · SUBQUERIES &amp;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076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80808"/>
                </a:solidFill>
                <a:latin typeface="Arial"/>
              </a:rPr>
              <a:t>Find tracks more popular than the catalogue average.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5074920" cy="2423160"/>
          </a:xfrm>
          <a:prstGeom prst="roundRect">
            <a:avLst/>
          </a:prstGeom>
          <a:solidFill>
            <a:srgbClr val="12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73152" cy="2423160"/>
          </a:xfrm>
          <a:prstGeom prst="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32888"/>
            <a:ext cx="461772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SELECT name, popularity
FROM tracks
WHERE popularity &gt; (
    SELECT avg(popularity)
    FROM tracks
)
ORDER BY popularity DESC;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19"/>
            <a:ext cx="4297680" cy="9601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84831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3C5CF"/>
                </a:solidFill>
                <a:latin typeface="Arial"/>
              </a:rPr>
              <a:t>1. inner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084831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80808"/>
                </a:solidFill>
                <a:latin typeface="Arial"/>
              </a:rPr>
              <a:t>average popularity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971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3C5CF"/>
                </a:solidFill>
                <a:latin typeface="Arial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474720"/>
            <a:ext cx="4297680" cy="96012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68503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3C5CF"/>
                </a:solidFill>
                <a:latin typeface="Arial"/>
              </a:rPr>
              <a:t>2. outer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68503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80808"/>
                </a:solidFill>
                <a:latin typeface="Arial"/>
              </a:rPr>
              <a:t>compare every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9204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7076"/>
                </a:solidFill>
                <a:latin typeface="Arial"/>
              </a:rPr>
              <a:t>Correlated subqueries run with values from the outer row; scalar subqueries return one value.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8600"/>
            <a:ext cx="22860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286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327"/>
                </a:solidFill>
                <a:latin typeface="Arial"/>
              </a:rPr>
              <a:t>TBC Explorers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1052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97387"/>
                </a:solidFill>
                <a:latin typeface="Arial"/>
              </a:rPr>
              <a:t>1.4 - SUBQUERIES &amp;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22860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71327"/>
                </a:solidFill>
                <a:latin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71327"/>
                </a:solidFill>
                <a:latin typeface="Arial"/>
              </a:rPr>
              <a:t>CTEs: split a query into readable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508760"/>
            <a:ext cx="6400800" cy="4297680"/>
          </a:xfrm>
          <a:prstGeom prst="round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655063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5943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WITH decade_stats AS (
  SELECT
    (EXTRACT(YEAR FROM release_date)::int / 10) * 10 AS decade,
    avg(popularity) AS avg_popularity
  FROM tracks
  GROUP BY 1
)
SELECT *
FROM decade_stats
ORDER BY decade;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627632"/>
            <a:ext cx="3931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71327"/>
                </a:solidFill>
                <a:latin typeface="Arial"/>
              </a:rPr>
              <a:t>Use a CTE when it makes
the query easier to follow
or debug.</a:t>
            </a:r>
          </a:p>
        </p:txBody>
      </p:sp>
      <p:sp>
        <p:nvSpPr>
          <p:cNvPr id="12" name="Oval 11"/>
          <p:cNvSpPr/>
          <p:nvPr/>
        </p:nvSpPr>
        <p:spPr>
          <a:xfrm>
            <a:off x="7242048" y="2880360"/>
            <a:ext cx="201168" cy="201168"/>
          </a:xfrm>
          <a:prstGeom prst="ellipse">
            <a:avLst/>
          </a:prstGeom>
          <a:solidFill>
            <a:srgbClr val="14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2871216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843784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387"/>
                </a:solidFill>
                <a:latin typeface="Arial"/>
              </a:rPr>
              <a:t>Break complex logic into steps</a:t>
            </a:r>
          </a:p>
        </p:txBody>
      </p:sp>
      <p:sp>
        <p:nvSpPr>
          <p:cNvPr id="15" name="Oval 14"/>
          <p:cNvSpPr/>
          <p:nvPr/>
        </p:nvSpPr>
        <p:spPr>
          <a:xfrm>
            <a:off x="7242048" y="3410712"/>
            <a:ext cx="201168" cy="201168"/>
          </a:xfrm>
          <a:prstGeom prst="ellipse">
            <a:avLst/>
          </a:prstGeom>
          <a:solidFill>
            <a:srgbClr val="14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0336" y="3401568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3374136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387"/>
                </a:solidFill>
                <a:latin typeface="Arial"/>
              </a:rPr>
              <a:t>Reuse a result inside the query</a:t>
            </a:r>
          </a:p>
        </p:txBody>
      </p:sp>
      <p:sp>
        <p:nvSpPr>
          <p:cNvPr id="18" name="Oval 17"/>
          <p:cNvSpPr/>
          <p:nvPr/>
        </p:nvSpPr>
        <p:spPr>
          <a:xfrm>
            <a:off x="7242048" y="3941063"/>
            <a:ext cx="201168" cy="201168"/>
          </a:xfrm>
          <a:prstGeom prst="ellipse">
            <a:avLst/>
          </a:prstGeom>
          <a:solidFill>
            <a:srgbClr val="14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3931920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904487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387"/>
                </a:solidFill>
                <a:latin typeface="Arial"/>
              </a:rPr>
              <a:t>Debug one step at a time</a:t>
            </a:r>
          </a:p>
        </p:txBody>
      </p:sp>
      <p:sp>
        <p:nvSpPr>
          <p:cNvPr id="21" name="Oval 20"/>
          <p:cNvSpPr/>
          <p:nvPr/>
        </p:nvSpPr>
        <p:spPr>
          <a:xfrm>
            <a:off x="7242048" y="4471416"/>
            <a:ext cx="201168" cy="201168"/>
          </a:xfrm>
          <a:prstGeom prst="ellipse">
            <a:avLst/>
          </a:prstGeom>
          <a:solidFill>
            <a:srgbClr val="14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4462272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4434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387"/>
                </a:solidFill>
                <a:latin typeface="Arial"/>
              </a:rPr>
              <a:t>WITH RECURSIVE handles graphs / hierarchies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5257800"/>
            <a:ext cx="2047875" cy="6286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71327"/>
                </a:solidFill>
                <a:latin typeface="Arial"/>
              </a:rPr>
              <a:t>A CTE exists only for this query.</a:t>
            </a:r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 r:embed="rIdCat0"/>
          <a:stretch/>
        </p:blipFill>
        <p:spPr>
          <a:xfrm>
            <a:off x="9048750" y="4632325"/>
            <a:ext cx="2762250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0"/>
            <a:ext cx="5102352" cy="68580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219456" cy="21945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" y="960120"/>
            <a:ext cx="1417320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014984"/>
            <a:ext cx="12710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5760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080808"/>
                </a:solidFill>
                <a:latin typeface="Arial"/>
              </a:rPr>
              <a:t>Joins and 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0128"/>
            <a:ext cx="5303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697076"/>
                </a:solidFill>
                <a:latin typeface="Arial"/>
              </a:rPr>
              <a:t>JOIN combines related tables. UNION combines result 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076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7076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8600"/>
            <a:ext cx="22860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286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327"/>
                </a:solidFill>
                <a:latin typeface="Arial"/>
              </a:rPr>
              <a:t>TBC Explorers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1052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97387"/>
                </a:solidFill>
                <a:latin typeface="Arial"/>
              </a:rPr>
              <a:t>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2860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71327"/>
                </a:solidFill>
                <a:latin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C7D3"/>
                </a:solidFill>
                <a:latin typeface="Arial"/>
              </a:rPr>
              <a:t>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481328"/>
            <a:ext cx="5486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71327"/>
                </a:solidFill>
                <a:latin typeface="Arial"/>
              </a:rPr>
              <a:t>Joins and unions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907792"/>
            <a:ext cx="4754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387"/>
                </a:solidFill>
                <a:latin typeface="Arial"/>
              </a:rPr>
              <a:t>JOIN combines related tables.
UNION combines result sets.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0"/>
            <a:ext cx="51023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8600"/>
            <a:ext cx="22860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286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327"/>
                </a:solidFill>
                <a:latin typeface="Arial"/>
              </a:rPr>
              <a:t>TBC Explorers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1052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97387"/>
                </a:solidFill>
                <a:latin typeface="Arial"/>
              </a:rPr>
              <a:t>1.5 - JOINS &amp; UNIONS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22860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71327"/>
                </a:solidFill>
                <a:latin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59436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71327"/>
                </a:solidFill>
                <a:latin typeface="Arial"/>
              </a:rPr>
              <a:t>JOINS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896112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71327"/>
                </a:solidFill>
                <a:latin typeface="Arial"/>
              </a:rPr>
              <a:t>Combine related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353312"/>
            <a:ext cx="4023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C7D3"/>
                </a:solidFill>
                <a:latin typeface="Arial"/>
              </a:rPr>
              <a:t>with 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3852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7387"/>
                </a:solidFill>
                <a:latin typeface="Arial"/>
              </a:rPr>
              <a:t>JOIN matches rows using a shared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27889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9535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71327"/>
                </a:solidFill>
                <a:latin typeface="Arial"/>
              </a:rPr>
              <a:t>artists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364992"/>
            <a:ext cx="2450592" cy="310896"/>
          </a:xfrm>
          <a:prstGeom prst="roundRect">
            <a:avLst/>
          </a:prstGeom>
          <a:solidFill>
            <a:srgbClr val="D2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4015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7673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13308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followers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49884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genres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743200"/>
            <a:ext cx="27889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9535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71327"/>
                </a:solidFill>
                <a:latin typeface="Arial"/>
              </a:rPr>
              <a:t>track_artists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8031" y="3364992"/>
            <a:ext cx="2450592" cy="310896"/>
          </a:xfrm>
          <a:prstGeom prst="roundRect">
            <a:avLst/>
          </a:prstGeom>
          <a:solidFill>
            <a:srgbClr val="D2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34015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artist_id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37673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track_id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413308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position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2743200"/>
            <a:ext cx="27889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5128" y="29535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71327"/>
                </a:solidFill>
                <a:latin typeface="Arial"/>
              </a:rPr>
              <a:t>tracks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88552" y="3364992"/>
            <a:ext cx="2450592" cy="310896"/>
          </a:xfrm>
          <a:prstGeom prst="roundRect">
            <a:avLst/>
          </a:prstGeom>
          <a:solidFill>
            <a:srgbClr val="D2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6568" y="34015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37673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413308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popularity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8" y="449884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71327"/>
                </a:solidFill>
                <a:latin typeface="Arial"/>
              </a:rPr>
              <a:t>duration_ms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91840" y="3703320"/>
            <a:ext cx="1371600" cy="0"/>
          </a:xfrm>
          <a:prstGeom prst="line">
            <a:avLst/>
          </a:prstGeom>
          <a:ln w="19050">
            <a:solidFill>
              <a:srgbClr val="14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52360" y="3703320"/>
            <a:ext cx="1371600" cy="0"/>
          </a:xfrm>
          <a:prstGeom prst="line">
            <a:avLst/>
          </a:prstGeom>
          <a:ln w="19050">
            <a:solidFill>
              <a:srgbClr val="14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401568" y="336499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C7D3"/>
                </a:solidFill>
                <a:latin typeface="Arial"/>
              </a:rPr>
              <a:t>artist_id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336499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C7D3"/>
                </a:solidFill>
                <a:latin typeface="Arial"/>
              </a:rPr>
              <a:t>track_id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257800"/>
            <a:ext cx="7680960" cy="1200150"/>
          </a:xfrm>
          <a:prstGeom prst="round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404104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5619750"/>
            <a:ext cx="7223760" cy="838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SELECT a.name AS artist, t.name AS track
FROM artists a
JOIN track_artists ta ON ta.artist_id = a.id
JOIN tracks t ON t.id = ta.track_id;</a:t>
            </a:r>
          </a:p>
        </p:txBody>
      </p:sp>
      <p:pic>
        <p:nvPicPr>
          <p:cNvPr id="38" name=""/>
          <p:cNvPicPr>
            <a:picLocks noChangeAspect="1"/>
          </p:cNvPicPr>
          <p:nvPr/>
        </p:nvPicPr>
        <p:blipFill>
          <a:blip r:embed="rIdCat0"/>
          <a:stretch/>
        </p:blipFill>
        <p:spPr>
          <a:xfrm>
            <a:off x="8902603" y="409575"/>
            <a:ext cx="2597344" cy="24098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0"/>
            <a:ext cx="2542032" cy="1344168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01168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0808"/>
                </a:solidFill>
                <a:latin typeface="Arial"/>
              </a:rPr>
              <a:t>Transactions and query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076"/>
                </a:solidFill>
                <a:latin typeface="Arial"/>
              </a:rPr>
              <a:t>1.6 · ACID &amp;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076"/>
                </a:solidFill>
                <a:latin typeface="Arial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331720" cy="10972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67335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3C5CF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6916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0808"/>
                </a:solidFill>
                <a:latin typeface="Arial"/>
              </a:rPr>
              <a:t>Atomicity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4884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076"/>
                </a:solidFill>
                <a:latin typeface="Arial"/>
              </a:rPr>
              <a:t>all or nothing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08760"/>
            <a:ext cx="2331720" cy="10972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67335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3C5CF"/>
                </a:solidFill>
                <a:latin typeface="Arial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16916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0808"/>
                </a:solidFill>
                <a:latin typeface="Arial"/>
              </a:rPr>
              <a:t>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14884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076"/>
                </a:solidFill>
                <a:latin typeface="Arial"/>
              </a:rPr>
              <a:t>valid → valid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508760"/>
            <a:ext cx="2331720" cy="10972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67335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3C5CF"/>
                </a:solidFill>
                <a:latin typeface="Arial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16916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0808"/>
                </a:solidFill>
                <a:latin typeface="Arial"/>
              </a:rPr>
              <a:t>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14884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076"/>
                </a:solidFill>
                <a:latin typeface="Arial"/>
              </a:rPr>
              <a:t>transactions don't leak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1508760"/>
            <a:ext cx="2331720" cy="10972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24544" y="167335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3C5CF"/>
                </a:solidFill>
                <a:latin typeface="Arial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16916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0808"/>
                </a:solidFill>
                <a:latin typeface="Arial"/>
              </a:rPr>
              <a:t>Durability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14884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076"/>
                </a:solidFill>
                <a:latin typeface="Arial"/>
              </a:rPr>
              <a:t>committed means durable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0632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80808"/>
                </a:solidFill>
                <a:latin typeface="Arial"/>
              </a:rPr>
              <a:t>Logical execution order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611880"/>
            <a:ext cx="841248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666744"/>
            <a:ext cx="6949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FROM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36776" y="3611880"/>
            <a:ext cx="841248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09928" y="3666744"/>
            <a:ext cx="6949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87752" y="3611880"/>
            <a:ext cx="841248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60904" y="3666744"/>
            <a:ext cx="6949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JOIN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38728" y="3611880"/>
            <a:ext cx="841248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3666744"/>
            <a:ext cx="6949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WHERE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9704" y="3611880"/>
            <a:ext cx="1097280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3666744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GROUP BY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96712" y="3611880"/>
            <a:ext cx="1097280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9864" y="3666744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HAVING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3611880"/>
            <a:ext cx="1097280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76872" y="3666744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SELECT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10728" y="3611880"/>
            <a:ext cx="1097280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3666744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DISTINCT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17736" y="3611880"/>
            <a:ext cx="1097280" cy="347472"/>
          </a:xfrm>
          <a:prstGeom prst="roundRect">
            <a:avLst/>
          </a:prstGeom>
          <a:solidFill>
            <a:srgbClr val="13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90888" y="3666744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ORDER BY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24744" y="3611880"/>
            <a:ext cx="841248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97896" y="3666744"/>
            <a:ext cx="6949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LIMIT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22452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80808"/>
                </a:solidFill>
                <a:latin typeface="Arial"/>
              </a:rPr>
              <a:t>This is why WHERE cannot use a SELECT alias.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49834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C5CF"/>
                </a:solidFill>
                <a:latin typeface="Arial"/>
              </a:rPr>
              <a:t>EXPLAIN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5001768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80808"/>
                </a:solidFill>
                <a:latin typeface="Arial"/>
              </a:rPr>
              <a:t>shows how PostgreSQL plans to execute the query — scans, joins, aggregates, sort, estimated cost.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0"/>
            <a:ext cx="2542032" cy="1344168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01168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80808"/>
                </a:solidFill>
                <a:latin typeface="Arial"/>
              </a:rPr>
              <a:t>How to approach a SQL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076"/>
                </a:solidFill>
                <a:latin typeface="Arial"/>
              </a:rPr>
              <a:t>Before writing SQL, define what the result should represent.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076"/>
                </a:solidFill>
                <a:latin typeface="Arial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076"/>
                </a:solidFill>
                <a:latin typeface="Arial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C5C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80808"/>
                </a:solidFill>
                <a:latin typeface="Arial"/>
              </a:rPr>
              <a:t>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5544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076"/>
                </a:solidFill>
                <a:latin typeface="Arial"/>
              </a:rPr>
              <a:t>Which rows do I need?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527048"/>
            <a:ext cx="914400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1581912"/>
            <a:ext cx="768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5544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C5C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55448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80808"/>
                </a:solidFill>
                <a:latin typeface="Arial"/>
              </a:rPr>
              <a:t>Grain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5544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076"/>
                </a:solidFill>
                <a:latin typeface="Arial"/>
              </a:rPr>
              <a:t>One row should represent what?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1527048"/>
            <a:ext cx="1143000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88752" y="1581912"/>
            <a:ext cx="9966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GROUP BY / JOIN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5292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C5C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85292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80808"/>
                </a:solidFill>
                <a:latin typeface="Arial"/>
              </a:rPr>
              <a:t>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85292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076"/>
                </a:solidFill>
                <a:latin typeface="Arial"/>
              </a:rPr>
              <a:t>What do I calculate?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825496"/>
            <a:ext cx="1143000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2880360"/>
            <a:ext cx="9966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AVG / COUNT / SUM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85292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C5C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85292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80808"/>
                </a:solidFill>
                <a:latin typeface="Arial"/>
              </a:rPr>
              <a:t>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85292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076"/>
                </a:solidFill>
                <a:latin typeface="Arial"/>
              </a:rPr>
              <a:t>Do rows need comparison?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2825496"/>
            <a:ext cx="914400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88752" y="2880360"/>
            <a:ext cx="768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1513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C5C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151376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80808"/>
                </a:solidFill>
                <a:latin typeface="Arial"/>
              </a:rPr>
              <a:t>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151376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076"/>
                </a:solidFill>
                <a:latin typeface="Arial"/>
              </a:rPr>
              <a:t>Is the logic easier in steps?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4123944"/>
            <a:ext cx="914400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2" y="4178807"/>
            <a:ext cx="768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CTE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1513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C5C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51376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80808"/>
                </a:solidFill>
                <a:latin typeface="Arial"/>
              </a:rPr>
              <a:t>Sanity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151376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076"/>
                </a:solidFill>
                <a:latin typeface="Arial"/>
              </a:rPr>
              <a:t>Could NULLs or duplicates lie to me?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0" y="4123944"/>
            <a:ext cx="914400" cy="347472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88752" y="4178807"/>
            <a:ext cx="768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808"/>
                </a:solidFill>
                <a:latin typeface="Arial"/>
              </a:rPr>
              <a:t>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5321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80808"/>
                </a:solidFill>
                <a:latin typeface="Arial"/>
              </a:rPr>
              <a:t>Good SQL starts with a clear definition of the rows, grain and metric you need.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97680" y="45262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0">
                <a:solidFill>
                  <a:srgbClr val="080808"/>
                </a:solidFill>
                <a:latin typeface="Arial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5262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0808"/>
                </a:solidFill>
                <a:latin typeface="Arial"/>
              </a:rPr>
              <a:t>Denis Boldin · SQL Basics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IdCat0"/>
          <a:srcRect l="4187" t="4782" r="79844" b="88204"/>
          <a:stretch/>
        </p:blipFill>
        <p:spPr>
          <a:xfrm>
            <a:off x="514350" y="333375"/>
            <a:ext cx="1943100" cy="47625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IdCat1"/>
          <a:stretch/>
        </p:blipFill>
        <p:spPr>
          <a:xfrm>
            <a:off x="5476875" y="2295719"/>
            <a:ext cx="6667500" cy="3752463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a16:creationId xmlns:a16="http://schemas.microsoft.com/office/drawing/2014/main" id="{978E745D-0FC4-4495-92A9-4F940FA50086}"/>
              </a:ext>
            </a:extLst>
          </p:cNvPr>
          <p:cNvSpPr>
            <a:spLocks noGrp="1"/>
          </p:cNvSpPr>
          <p:nvPr/>
        </p:nvSpPr>
        <p:spPr>
          <a:xfrm>
            <a:off x="495300" y="1638300"/>
            <a:ext cx="5524500" cy="1276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700" b="1">
                <a:solidFill>
                  <a:srgbClr val="030D1B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30D1B"/>
                </a:solidFill>
                <a:latin typeface="Arial"/>
                <a:ea typeface="Arial"/>
                <a:cs typeface="Arial"/>
              </a:rPr>
              <a:t>10-minute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3AE2454A-BA3E-461E-BA08-57B4A033CB75}"/>
              </a:ext>
            </a:extLst>
          </p:cNvPr>
          <p:cNvSpPr>
            <a:spLocks noGrp="1"/>
          </p:cNvSpPr>
          <p:nvPr/>
        </p:nvSpPr>
        <p:spPr>
          <a:xfrm>
            <a:off x="514350" y="2724150"/>
            <a:ext cx="4476750" cy="1285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700" b="1">
                <a:solidFill>
                  <a:srgbClr val="0FC4CB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FC4CB"/>
                </a:solidFill>
                <a:latin typeface="Arial"/>
                <a:ea typeface="Arial"/>
                <a:cs typeface="Arial"/>
              </a:rPr>
              <a:t>break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529625F8-A4AD-4A2A-ADED-36AB85D715C2}"/>
              </a:ext>
            </a:extLst>
          </p:cNvPr>
          <p:cNvSpPr>
            <a:spLocks noGrp="1"/>
          </p:cNvSpPr>
          <p:nvPr/>
        </p:nvSpPr>
        <p:spPr>
          <a:xfrm>
            <a:off x="714375" y="4000500"/>
            <a:ext cx="433387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78849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78849A"/>
                </a:solidFill>
                <a:latin typeface="Arial"/>
                <a:ea typeface="Arial"/>
                <a:cs typeface="Arial"/>
              </a:rPr>
              <a:t>We’ll continue with</a:t>
            </a:r>
          </a:p>
          <a:p>
            <a:pPr>
              <a:defRPr sz="2325" b="0">
                <a:solidFill>
                  <a:srgbClr val="78849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78849A"/>
                </a:solidFill>
                <a:latin typeface="Arial"/>
                <a:ea typeface="Arial"/>
                <a:cs typeface="Arial"/>
              </a:rPr>
              <a:t>window functions.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26373D2-25AE-40F9-A641-A97D48396EDB}"/>
              </a:ext>
            </a:extLst>
          </p:cNvPr>
          <p:cNvSpPr>
            <a:spLocks noGrp="1"/>
          </p:cNvSpPr>
          <p:nvPr/>
        </p:nvSpPr>
        <p:spPr>
          <a:xfrm>
            <a:off x="1304925" y="5105400"/>
            <a:ext cx="309562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7884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849A"/>
                </a:solidFill>
                <a:latin typeface="Arial"/>
                <a:ea typeface="Arial"/>
                <a:cs typeface="Arial"/>
              </a:rPr>
              <a:t>Grab a coffee,</a:t>
            </a:r>
          </a:p>
          <a:p>
            <a:pPr>
              <a:defRPr sz="1575" b="0">
                <a:solidFill>
                  <a:srgbClr val="78849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849A"/>
                </a:solidFill>
                <a:latin typeface="Arial"/>
                <a:ea typeface="Arial"/>
                <a:cs typeface="Arial"/>
              </a:rPr>
              <a:t>stretch and recharge.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83A5DA3B-C03E-4CCF-BE80-472C1390611D}"/>
              </a:ext>
            </a:extLst>
          </p:cNvPr>
          <p:cNvSpPr>
            <a:spLocks noGrp="1"/>
          </p:cNvSpPr>
          <p:nvPr/>
        </p:nvSpPr>
        <p:spPr>
          <a:xfrm>
            <a:off x="11382375" y="2667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030D1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30D1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e2a8a44-4773-4649-a4d0-14fe0292ffe6}" enabled="0" method="" siteId="{7e2a8a44-4773-4649-a4d0-14fe0292ffe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294</Words>
  <Application>Microsoft Macintosh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Nini Onezashvili</dc:creator>
  <cp:lastModifiedBy>Denis Boldin</cp:lastModifiedBy>
  <cp:revision>3</cp:revision>
  <dcterms:created xsi:type="dcterms:W3CDTF">2025-12-09T07:05:38Z</dcterms:created>
  <dcterms:modified xsi:type="dcterms:W3CDTF">2026-10-04T11:11:26Z</dcterms:modified>
</cp:coreProperties>
</file>