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2"/>
  </p:notesMasterIdLst>
  <p:sldIdLst>
    <p:sldId id="256" r:id="rId2"/>
    <p:sldId id="280" r:id="rId3"/>
    <p:sldId id="281" r:id="rId4"/>
    <p:sldId id="257" r:id="rId5"/>
    <p:sldId id="258" r:id="rId6"/>
    <p:sldId id="259" r:id="rId7"/>
    <p:sldId id="310" r:id="rId8"/>
    <p:sldId id="311" r:id="rId9"/>
    <p:sldId id="312" r:id="rId10"/>
    <p:sldId id="313" r:id="rId11"/>
    <p:sldId id="314" r:id="rId12"/>
    <p:sldId id="315" r:id="rId13"/>
    <p:sldId id="316" r:id="rId14"/>
    <p:sldId id="317" r:id="rId15"/>
    <p:sldId id="319" r:id="rId16"/>
    <p:sldId id="324" r:id="rId17"/>
    <p:sldId id="327" r:id="rId18"/>
    <p:sldId id="262" r:id="rId19"/>
    <p:sldId id="263" r:id="rId20"/>
    <p:sldId id="334" r:id="rId21"/>
    <p:sldId id="335" r:id="rId22"/>
    <p:sldId id="336" r:id="rId23"/>
    <p:sldId id="337" r:id="rId24"/>
    <p:sldId id="341" r:id="rId25"/>
    <p:sldId id="342" r:id="rId26"/>
    <p:sldId id="351" r:id="rId27"/>
    <p:sldId id="352" r:id="rId28"/>
    <p:sldId id="353" r:id="rId29"/>
    <p:sldId id="354" r:id="rId30"/>
    <p:sldId id="355" r:id="rId31"/>
    <p:sldId id="359" r:id="rId32"/>
    <p:sldId id="360" r:id="rId33"/>
    <p:sldId id="363" r:id="rId34"/>
    <p:sldId id="279" r:id="rId35"/>
    <p:sldId id="368" r:id="rId36"/>
    <p:sldId id="268" r:id="rId37"/>
    <p:sldId id="370" r:id="rId38"/>
    <p:sldId id="372" r:id="rId39"/>
    <p:sldId id="373" r:id="rId40"/>
    <p:sldId id="374" r:id="rId41"/>
    <p:sldId id="378" r:id="rId42"/>
    <p:sldId id="379" r:id="rId43"/>
    <p:sldId id="380" r:id="rId44"/>
    <p:sldId id="381" r:id="rId45"/>
    <p:sldId id="270" r:id="rId46"/>
    <p:sldId id="271" r:id="rId47"/>
    <p:sldId id="272" r:id="rId48"/>
    <p:sldId id="414" r:id="rId49"/>
    <p:sldId id="421" r:id="rId50"/>
    <p:sldId id="422" r:id="rId51"/>
    <p:sldId id="424" r:id="rId52"/>
    <p:sldId id="275" r:id="rId53"/>
    <p:sldId id="430" r:id="rId54"/>
    <p:sldId id="433" r:id="rId55"/>
    <p:sldId id="434" r:id="rId56"/>
    <p:sldId id="436" r:id="rId57"/>
    <p:sldId id="438" r:id="rId58"/>
    <p:sldId id="442" r:id="rId59"/>
    <p:sldId id="443" r:id="rId60"/>
    <p:sldId id="444" r:id="rId61"/>
    <p:sldId id="450" r:id="rId62"/>
    <p:sldId id="453" r:id="rId63"/>
    <p:sldId id="456" r:id="rId64"/>
    <p:sldId id="458" r:id="rId65"/>
    <p:sldId id="277" r:id="rId66"/>
    <p:sldId id="461" r:id="rId67"/>
    <p:sldId id="462" r:id="rId68"/>
    <p:sldId id="463" r:id="rId69"/>
    <p:sldId id="278" r:id="rId70"/>
    <p:sldId id="465"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41BFFF"/>
    <a:srgbClr val="00CCD7"/>
    <a:srgbClr val="000000"/>
    <a:srgbClr val="16160F"/>
    <a:srgbClr val="0F0B30"/>
    <a:srgbClr val="FFAA01"/>
    <a:srgbClr val="03CD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02710D-B2F4-5745-BC85-CF7A94FFE323}" v="440" dt="2025-12-09T12:43:09.9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06"/>
    <p:restoredTop sz="94646"/>
  </p:normalViewPr>
  <p:slideViewPr>
    <p:cSldViewPr snapToGrid="0">
      <p:cViewPr>
        <p:scale>
          <a:sx n="92" d="100"/>
          <a:sy n="92" d="100"/>
        </p:scale>
        <p:origin x="320" y="28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028FDB-5EC9-0D43-BAF5-F30DB2707EA5}" type="datetimeFigureOut">
              <a:rPr lang="en-US" smtClean="0"/>
              <a:t>10/5/26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BDF604-0BA3-5B48-8AF4-519965C5A90A}" type="slidenum">
              <a:rPr lang="en-US" smtClean="0"/>
              <a:t>‹#›</a:t>
            </a:fld>
            <a:endParaRPr lang="en-US"/>
          </a:p>
        </p:txBody>
      </p:sp>
    </p:spTree>
    <p:extLst>
      <p:ext uri="{BB962C8B-B14F-4D97-AF65-F5344CB8AC3E}">
        <p14:creationId xmlns:p14="http://schemas.microsoft.com/office/powerpoint/2010/main" val="3018740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name,</a:t>
            </a:r>
          </a:p>
          <a:p>
            <a:r>
              <a:t>       duration_ms,</a:t>
            </a:r>
          </a:p>
          <a:p>
            <a:r>
              <a:t>       duration_ms / 60000        AS minutes_int,</a:t>
            </a:r>
          </a:p>
          <a:p>
            <a:r>
              <a:t>       duration_ms / 60000.0      AS minutes_exact,</a:t>
            </a:r>
          </a:p>
          <a:p>
            <a:r>
              <a:t>       round(duration_ms / 60000.0, 2) AS minutes_rounded,</a:t>
            </a:r>
          </a:p>
          <a:p>
            <a:r>
              <a:t>       (duration_ms || 'milliseconds') :: interval as interval,</a:t>
            </a:r>
          </a:p>
          <a:p>
            <a:r>
              <a:t>       to_char((duration_ms || 'milliseconds') :: interval, 'MI:SS') as minutes_seconds_char</a:t>
            </a:r>
          </a:p>
          <a:p>
            <a:r>
              <a:t>FROM tracks</a:t>
            </a:r>
          </a:p>
          <a:p>
            <a:r>
              <a:t>where name = 'Everlong';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name,</a:t>
            </a:r>
          </a:p>
          <a:p>
            <a:r>
              <a:t>       release_date,</a:t>
            </a:r>
          </a:p>
          <a:p>
            <a:r>
              <a:t>       EXTRACT(YEAR FROM release_date)::int              AS year,</a:t>
            </a:r>
          </a:p>
          <a:p>
            <a:r>
              <a:t>       (EXTRACT(YEAR FROM release_date)::int / 10) * 10  AS decade</a:t>
            </a:r>
          </a:p>
          <a:p>
            <a:r>
              <a:t>  FROM tracks</a:t>
            </a:r>
          </a:p>
          <a:p>
            <a:r>
              <a:t> ORDER BY release_date</a:t>
            </a:r>
          </a:p>
          <a:p>
            <a:r>
              <a:t> LIMIT 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name,</a:t>
            </a:r>
          </a:p>
          <a:p>
            <a:r>
              <a:t>       popularity,</a:t>
            </a:r>
          </a:p>
          <a:p>
            <a:r>
              <a:t>       CASE WHEN popularity &gt;= 80 THEN 'hit'</a:t>
            </a:r>
          </a:p>
          <a:p>
            <a:r>
              <a:t>            WHEN popularity &gt;= 50 THEN 'known'</a:t>
            </a:r>
          </a:p>
          <a:p>
            <a:r>
              <a:t>            WHEN popularity &gt;= 20 THEN 'deep cut'</a:t>
            </a:r>
          </a:p>
          <a:p>
            <a:r>
              <a:t>            ELSE 'obscure' END AS tier,</a:t>
            </a:r>
          </a:p>
          <a:p>
            <a:r>
              <a:t>       explicit,</a:t>
            </a:r>
          </a:p>
          <a:p>
            <a:r>
              <a:t>       explicit::int AS explicit_int</a:t>
            </a:r>
          </a:p>
          <a:p>
            <a:r>
              <a:t>  FROM tracks</a:t>
            </a:r>
          </a:p>
          <a:p>
            <a:r>
              <a:t> ORDER BY popularity DESC, name</a:t>
            </a:r>
          </a:p>
          <a:p>
            <a:r>
              <a:t> LIMIT 6;</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name, popularity, release_date, explicit</a:t>
            </a:r>
          </a:p>
          <a:p>
            <a:r>
              <a:t>  FROM tracks</a:t>
            </a:r>
          </a:p>
          <a:p>
            <a:r>
              <a:t> WHERE explicit</a:t>
            </a:r>
          </a:p>
          <a:p>
            <a:r>
              <a:t>   AND popularity &gt; 75</a:t>
            </a:r>
          </a:p>
          <a:p>
            <a:r>
              <a:t> LIMIT 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name, popularity</a:t>
            </a:r>
          </a:p>
          <a:p>
            <a:r>
              <a:t>  FROM tracks</a:t>
            </a:r>
          </a:p>
          <a:p>
            <a:r>
              <a:t> WHERE name ILIKE '%love%'</a:t>
            </a:r>
          </a:p>
          <a:p>
            <a:r>
              <a:t> ORDER BY popularity DESC</a:t>
            </a:r>
          </a:p>
          <a:p>
            <a:r>
              <a:t> LIMIT 5;</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name, key, mode, time_signature</a:t>
            </a:r>
          </a:p>
          <a:p>
            <a:r>
              <a:t>  FROM tracks</a:t>
            </a:r>
          </a:p>
          <a:p>
            <a:r>
              <a:t> WHERE time_signature IN (3, 5, 7)</a:t>
            </a:r>
          </a:p>
          <a:p>
            <a:r>
              <a:t>   AND popularity &gt; 70</a:t>
            </a:r>
          </a:p>
          <a:p>
            <a:r>
              <a:t> LIMIT 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name</a:t>
            </a:r>
          </a:p>
          <a:p>
            <a:r>
              <a:t>  FROM tracks</a:t>
            </a:r>
          </a:p>
          <a:p>
            <a:r>
              <a:t> WHERE LOWER(name) = 'yesterday'</a:t>
            </a:r>
          </a:p>
          <a:p>
            <a:r>
              <a:t> LIMIT 3;</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name, popularity, tempo</a:t>
            </a:r>
          </a:p>
          <a:p>
            <a:r>
              <a:t>  FROM tracks</a:t>
            </a:r>
          </a:p>
          <a:p>
            <a:r>
              <a:t> WHERE (name ILIKE '%love%' OR name ILIKE '%heart%')</a:t>
            </a:r>
          </a:p>
          <a:p>
            <a:r>
              <a:t>   AND popularity &gt; 60</a:t>
            </a:r>
          </a:p>
          <a:p>
            <a:r>
              <a:t>   AND tempo BETWEEN 100 AND 130</a:t>
            </a:r>
          </a:p>
          <a:p>
            <a:r>
              <a:t> LIMIT 5;</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name,</a:t>
            </a:r>
          </a:p>
          <a:p>
            <a:r>
              <a:t>       round(duration_ms / 60000.0, 2) AS minutes</a:t>
            </a:r>
          </a:p>
          <a:p>
            <a:r>
              <a:t>  FROM tracks</a:t>
            </a:r>
          </a:p>
          <a:p>
            <a:r>
              <a:t> WHERE popularity &gt; 70</a:t>
            </a:r>
          </a:p>
          <a:p>
            <a:r>
              <a:t> ORDER BY minutes DESC</a:t>
            </a:r>
          </a:p>
          <a:p>
            <a:r>
              <a:t> LIMIT 5;</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SELECT *</a:t>
            </a:r>
          </a:p>
          <a:p>
            <a:r>
              <a:t>     FROM table</a:t>
            </a:r>
          </a:p>
          <a:p>
            <a:r>
              <a:t>    WHERE &lt;condition&gt;</a:t>
            </a:r>
          </a:p>
          <a:p>
            <a:r>
              <a:t> ORDER BY &lt;field_1&gt;, &lt;field_2&gt;</a:t>
            </a:r>
          </a:p>
          <a:p>
            <a:r>
              <a:t>    LIMIT n1                       -- return n1 rows</a:t>
            </a:r>
          </a:p>
          <a:p>
            <a:r>
              <a:t>   OFFSET n2                       -- skip the first n2 rows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count(*)                             AS tracks,</a:t>
            </a:r>
          </a:p>
          <a:p>
            <a:r>
              <a:t>       round(avg(popularity), 2)            AS avg_popularity,</a:t>
            </a:r>
          </a:p>
          <a:p>
            <a:r>
              <a:t>       min(release_date)                    AS earliest,</a:t>
            </a:r>
          </a:p>
          <a:p>
            <a:r>
              <a:t>       max(release_date)                    AS latest,</a:t>
            </a:r>
          </a:p>
          <a:p>
            <a:r>
              <a:t>       round(sum(duration_ms) / 3600000.0)  AS total_hours</a:t>
            </a:r>
          </a:p>
          <a:p>
            <a:r>
              <a:t>  FROM tracks;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count(*)                       AS count_star,</a:t>
            </a:r>
          </a:p>
          <a:p>
            <a:r>
              <a:t>       count(1)                       AS count_1,</a:t>
            </a:r>
          </a:p>
          <a:p>
            <a:r>
              <a:t>       count(name)                    AS count_name,</a:t>
            </a:r>
          </a:p>
          <a:p>
            <a:r>
              <a:t>       count(DISTINCT name)           AS count_distinct_name,</a:t>
            </a:r>
          </a:p>
          <a:p>
            <a:r>
              <a:t>       count(DISTINCT time_signature) AS count_distinct_time_sig</a:t>
            </a:r>
          </a:p>
          <a:p>
            <a:r>
              <a:t>  FROM tracks;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(EXTRACT(YEAR FROM release_date)::int / 10) * 10 AS decade,</a:t>
            </a:r>
          </a:p>
          <a:p>
            <a:r>
              <a:t>       count(*)                                        AS tracks,</a:t>
            </a:r>
          </a:p>
          <a:p>
            <a:r>
              <a:t>       round(avg(popularity), 1)                       AS avg_popularity,</a:t>
            </a:r>
          </a:p>
          <a:p>
            <a:r>
              <a:t>       round(avg(duration_ms) / 60000.0, 2)            AS avg_minutes,</a:t>
            </a:r>
          </a:p>
          <a:p>
            <a:r>
              <a:t>       round(avg(energy)::numeric, 3)                  AS avg_energy</a:t>
            </a:r>
          </a:p>
          <a:p>
            <a:r>
              <a:t>  FROM tracks</a:t>
            </a:r>
          </a:p>
          <a:p>
            <a:r>
              <a:t> GROUP BY decade</a:t>
            </a:r>
          </a:p>
          <a:p>
            <a:r>
              <a:t> ORDER BY decade;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(EXTRACT(YEAR FROM release_date)::int / 10) * 10 AS decade,</a:t>
            </a:r>
          </a:p>
          <a:p>
            <a:r>
              <a:t>       count(*)                                        AS tracks,</a:t>
            </a:r>
          </a:p>
          <a:p>
            <a:r>
              <a:t>       round(avg(popularity), 1)                       AS avg_popularity,</a:t>
            </a:r>
          </a:p>
          <a:p>
            <a:r>
              <a:t>       round(avg(duration_ms) / 60000.0, 2)            AS avg_minutes,</a:t>
            </a:r>
          </a:p>
          <a:p>
            <a:r>
              <a:t>       round(avg(energy)::numeric, 3)                  AS avg_energy</a:t>
            </a:r>
          </a:p>
          <a:p>
            <a:r>
              <a:t>  FROM tracks</a:t>
            </a:r>
          </a:p>
          <a:p>
            <a:r>
              <a:t> GROUP BY decade</a:t>
            </a:r>
          </a:p>
          <a:p>
            <a:r>
              <a:t> ORDER BY decade;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a.name,</a:t>
            </a:r>
          </a:p>
          <a:p>
            <a:r>
              <a:t>       count(*) AS tracks</a:t>
            </a:r>
          </a:p>
          <a:p>
            <a:r>
              <a:t>  FROM artists AS a</a:t>
            </a:r>
          </a:p>
          <a:p>
            <a:r>
              <a:t>  JOIN track_artists AS ta ON ta.artist_id = a.id</a:t>
            </a:r>
          </a:p>
          <a:p>
            <a:r>
              <a:t> GROUP BY a.name</a:t>
            </a:r>
          </a:p>
          <a:p>
            <a:r>
              <a:t>HAVING count(*) &gt; 150</a:t>
            </a:r>
          </a:p>
          <a:p>
            <a:r>
              <a:t> ORDER BY tracks DESC;</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&lt;function&gt;(&lt;field&gt;) OVER (PARTITION BY &lt;partition&gt; ORDER BY &lt;sorting&gt; &lt;frame&gt;)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artist_decade AS (</a:t>
            </a:r>
          </a:p>
          <a:p>
            <a:r>
              <a:t>    SELECT a.name AS artist,</a:t>
            </a:r>
          </a:p>
          <a:p>
            <a:r>
              <a:t>           (EXTRACT(YEAR FROM t.release_date)::int / 10) * 10 AS decade,</a:t>
            </a:r>
          </a:p>
          <a:p>
            <a:r>
              <a:t>           count(*) AS track_cnt</a:t>
            </a:r>
          </a:p>
          <a:p>
            <a:r>
              <a:t>      FROM artists AS a</a:t>
            </a:r>
          </a:p>
          <a:p>
            <a:r>
              <a:t>      JOIN track_artists AS ta ON ta.artist_id = a.id</a:t>
            </a:r>
          </a:p>
          <a:p>
            <a:r>
              <a:t>      JOIN tracks AS t ON t.id = ta.track_id</a:t>
            </a:r>
          </a:p>
          <a:p>
            <a:r>
              <a:t>     WHERE a.name IN ('David Bowie', 'Bob Dylan')</a:t>
            </a:r>
          </a:p>
          <a:p>
            <a:r>
              <a:t>     GROUP BY 1, 2</a:t>
            </a:r>
          </a:p>
          <a:p>
            <a:r>
              <a:t>)</a:t>
            </a:r>
          </a:p>
          <a:p>
            <a:r>
              <a:t>SELECT artist,</a:t>
            </a:r>
          </a:p>
          <a:p>
            <a:r>
              <a:t>       decade,</a:t>
            </a:r>
          </a:p>
          <a:p>
            <a:r>
              <a:t>       track_cnt,</a:t>
            </a:r>
          </a:p>
          <a:p>
            <a:r>
              <a:t>       SUM(track_cnt) OVER w ::int          AS running_sum,</a:t>
            </a:r>
          </a:p>
          <a:p>
            <a:r>
              <a:t>       round(AVG(track_cnt) OVER w, 2)      AS running_avg,</a:t>
            </a:r>
          </a:p>
          <a:p>
            <a:r>
              <a:t>       MIN(track_cnt) OVER w ::int          AS running_min,</a:t>
            </a:r>
          </a:p>
          <a:p>
            <a:r>
              <a:t>       MAX(track_cnt) OVER w ::int          AS running_max</a:t>
            </a:r>
          </a:p>
          <a:p>
            <a:r>
              <a:t>  FROM artist_decade</a:t>
            </a:r>
          </a:p>
          <a:p>
            <a:r>
              <a:t>WINDOW w AS (PARTITION BY artist ORDER BY decade)</a:t>
            </a:r>
          </a:p>
          <a:p>
            <a:r>
              <a:t> ORDER BY artist, decade;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artist_decade AS (</a:t>
            </a:r>
          </a:p>
          <a:p>
            <a:r>
              <a:t>    SELECT a.name AS artist,</a:t>
            </a:r>
          </a:p>
          <a:p>
            <a:r>
              <a:t>           (EXTRACT(YEAR FROM t.release_date)::int / 10) * 10 AS decade,</a:t>
            </a:r>
          </a:p>
          <a:p>
            <a:r>
              <a:t>           count(*) AS track_cnt</a:t>
            </a:r>
          </a:p>
          <a:p>
            <a:r>
              <a:t>      FROM artists AS a</a:t>
            </a:r>
          </a:p>
          <a:p>
            <a:r>
              <a:t>      JOIN track_artists AS ta ON ta.artist_id = a.id</a:t>
            </a:r>
          </a:p>
          <a:p>
            <a:r>
              <a:t>      JOIN tracks AS t ON t.id = ta.track_id</a:t>
            </a:r>
          </a:p>
          <a:p>
            <a:r>
              <a:t>     WHERE a.name IN ('David Bowie', 'Bob Dylan')</a:t>
            </a:r>
          </a:p>
          <a:p>
            <a:r>
              <a:t>     GROUP BY 1, 2</a:t>
            </a:r>
          </a:p>
          <a:p>
            <a:r>
              <a:t>)</a:t>
            </a:r>
          </a:p>
          <a:p>
            <a:r>
              <a:t>SELECT artist,</a:t>
            </a:r>
          </a:p>
          <a:p>
            <a:r>
              <a:t>       decade,</a:t>
            </a:r>
          </a:p>
          <a:p>
            <a:r>
              <a:t>       track_cnt,</a:t>
            </a:r>
          </a:p>
          <a:p>
            <a:r>
              <a:t>       SUM(track_cnt) OVER w ::int          AS running_sum,</a:t>
            </a:r>
          </a:p>
          <a:p>
            <a:r>
              <a:t>       round(AVG(track_cnt) OVER w, 2)      AS running_avg,</a:t>
            </a:r>
          </a:p>
          <a:p>
            <a:r>
              <a:t>       MIN(track_cnt) OVER w ::int          AS running_min,</a:t>
            </a:r>
          </a:p>
          <a:p>
            <a:r>
              <a:t>       MAX(track_cnt) OVER w ::int          AS running_max</a:t>
            </a:r>
          </a:p>
          <a:p>
            <a:r>
              <a:t>  FROM artist_decade</a:t>
            </a:r>
          </a:p>
          <a:p>
            <a:r>
              <a:t>WINDOW w AS (PARTITION BY artist ORDER BY decade)</a:t>
            </a:r>
          </a:p>
          <a:p>
            <a:r>
              <a:t> ORDER BY artist, decade;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artist_decade AS (</a:t>
            </a:r>
          </a:p>
          <a:p>
            <a:r>
              <a:t>    SELECT a.name AS artist,</a:t>
            </a:r>
          </a:p>
          <a:p>
            <a:r>
              <a:t>           (EXTRACT(YEAR FROM t.release_date)::int / 10) * 10 AS decade,</a:t>
            </a:r>
          </a:p>
          <a:p>
            <a:r>
              <a:t>           count(*) AS track_cnt</a:t>
            </a:r>
          </a:p>
          <a:p>
            <a:r>
              <a:t>      FROM artists AS a</a:t>
            </a:r>
          </a:p>
          <a:p>
            <a:r>
              <a:t>      JOIN track_artists AS ta ON ta.artist_id = a.id</a:t>
            </a:r>
          </a:p>
          <a:p>
            <a:r>
              <a:t>      JOIN tracks AS t ON t.id = ta.track_id</a:t>
            </a:r>
          </a:p>
          <a:p>
            <a:r>
              <a:t>     WHERE a.name IN ('David Bowie', 'Bob Dylan')</a:t>
            </a:r>
          </a:p>
          <a:p>
            <a:r>
              <a:t>     GROUP BY 1, 2</a:t>
            </a:r>
          </a:p>
          <a:p>
            <a:r>
              <a:t>)</a:t>
            </a:r>
          </a:p>
          <a:p>
            <a:r>
              <a:t>SELECT artist,</a:t>
            </a:r>
          </a:p>
          <a:p>
            <a:r>
              <a:t>       decade,</a:t>
            </a:r>
          </a:p>
          <a:p>
            <a:r>
              <a:t>       track_cnt,</a:t>
            </a:r>
          </a:p>
          <a:p>
            <a:r>
              <a:t>       FIRST_VALUE(track_cnt)  OVER w AS first_decade,</a:t>
            </a:r>
          </a:p>
          <a:p>
            <a:r>
              <a:t>       LAG(track_cnt)          OVER w AS prev_decade,</a:t>
            </a:r>
          </a:p>
          <a:p>
            <a:r>
              <a:t>       LEAD(track_cnt)         OVER w AS next_decade,</a:t>
            </a:r>
          </a:p>
          <a:p>
            <a:r>
              <a:t>       track_cnt - LAG(track_cnt) OVER w AS change,</a:t>
            </a:r>
          </a:p>
          <a:p>
            <a:r>
              <a:t>       NTH_VALUE(track_cnt, 2) OVER w AS second_decade</a:t>
            </a:r>
          </a:p>
          <a:p>
            <a:r>
              <a:t>  FROM artist_decade</a:t>
            </a:r>
          </a:p>
          <a:p>
            <a:r>
              <a:t>WINDOW w AS (PARTITION BY artist ORDER BY decade)</a:t>
            </a:r>
          </a:p>
          <a:p>
            <a:r>
              <a:t> ORDER BY artist, decade;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artist_decade AS (</a:t>
            </a:r>
          </a:p>
          <a:p>
            <a:r>
              <a:t>    SELECT a.name AS artist,</a:t>
            </a:r>
          </a:p>
          <a:p>
            <a:r>
              <a:t>           (EXTRACT(YEAR FROM t.release_date)::int / 10) * 10 AS decade,</a:t>
            </a:r>
          </a:p>
          <a:p>
            <a:r>
              <a:t>           count(*) AS track_cnt</a:t>
            </a:r>
          </a:p>
          <a:p>
            <a:r>
              <a:t>      FROM artists AS a</a:t>
            </a:r>
          </a:p>
          <a:p>
            <a:r>
              <a:t>      JOIN track_artists AS ta ON ta.artist_id = a.id</a:t>
            </a:r>
          </a:p>
          <a:p>
            <a:r>
              <a:t>      JOIN tracks AS t ON t.id = ta.track_id</a:t>
            </a:r>
          </a:p>
          <a:p>
            <a:r>
              <a:t>     WHERE a.name IN ('David Bowie', 'Bob Dylan')</a:t>
            </a:r>
          </a:p>
          <a:p>
            <a:r>
              <a:t>     GROUP BY 1, 2</a:t>
            </a:r>
          </a:p>
          <a:p>
            <a:r>
              <a:t>)</a:t>
            </a:r>
          </a:p>
          <a:p>
            <a:r>
              <a:t>SELECT artist,</a:t>
            </a:r>
          </a:p>
          <a:p>
            <a:r>
              <a:t>       decade,</a:t>
            </a:r>
          </a:p>
          <a:p>
            <a:r>
              <a:t>       track_cnt,</a:t>
            </a:r>
          </a:p>
          <a:p>
            <a:r>
              <a:t>       FIRST_VALUE(track_cnt)  OVER w AS first_decade,</a:t>
            </a:r>
          </a:p>
          <a:p>
            <a:r>
              <a:t>       LAG(track_cnt)          OVER w AS prev_decade,</a:t>
            </a:r>
          </a:p>
          <a:p>
            <a:r>
              <a:t>       LEAD(track_cnt)         OVER w AS next_decade,</a:t>
            </a:r>
          </a:p>
          <a:p>
            <a:r>
              <a:t>       track_cnt - LAG(track_cnt) OVER w AS change,</a:t>
            </a:r>
          </a:p>
          <a:p>
            <a:r>
              <a:t>       NTH_VALUE(track_cnt, 2) OVER w AS second_decade</a:t>
            </a:r>
          </a:p>
          <a:p>
            <a:r>
              <a:t>  FROM artist_decade</a:t>
            </a:r>
          </a:p>
          <a:p>
            <a:r>
              <a:t>WINDOW w AS (PARTITION BY artist ORDER BY decade)</a:t>
            </a:r>
          </a:p>
          <a:p>
            <a:r>
              <a:t> ORDER BY artist, decade;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bowie AS (</a:t>
            </a:r>
          </a:p>
          <a:p>
            <a:r>
              <a:t>    SELECT t.name, t.popularity</a:t>
            </a:r>
          </a:p>
          <a:p>
            <a:r>
              <a:t>      FROM tracks AS t</a:t>
            </a:r>
          </a:p>
          <a:p>
            <a:r>
              <a:t>      JOIN track_artists AS ta ON ta.track_id = t.id</a:t>
            </a:r>
          </a:p>
          <a:p>
            <a:r>
              <a:t>      JOIN artists AS a        ON a.id = ta.artist_id</a:t>
            </a:r>
          </a:p>
          <a:p>
            <a:r>
              <a:t>     WHERE a.name = 'David Bowie'</a:t>
            </a:r>
          </a:p>
          <a:p>
            <a:r>
              <a:t>     ORDER BY t.popularity DESC, t.name</a:t>
            </a:r>
          </a:p>
          <a:p>
            <a:r>
              <a:t>     LIMIT 8</a:t>
            </a:r>
          </a:p>
          <a:p>
            <a:r>
              <a:t>)</a:t>
            </a:r>
          </a:p>
          <a:p>
            <a:r>
              <a:t>SELECT name,</a:t>
            </a:r>
          </a:p>
          <a:p>
            <a:r>
              <a:t>       popularity,</a:t>
            </a:r>
          </a:p>
          <a:p>
            <a:r>
              <a:t>       ROW_NUMBER()   OVER w AS rn,</a:t>
            </a:r>
          </a:p>
          <a:p>
            <a:r>
              <a:t>       RANK()         OVER w AS rank,</a:t>
            </a:r>
          </a:p>
          <a:p>
            <a:r>
              <a:t>       DENSE_RANK()   OVER w AS dense_rank,</a:t>
            </a:r>
          </a:p>
          <a:p>
            <a:r>
              <a:t>       NTILE(2)       OVER w AS ntile_2,</a:t>
            </a:r>
          </a:p>
          <a:p>
            <a:r>
              <a:t>       round((CUME_DIST()    OVER w)::numeric, 2) AS cume_dist,</a:t>
            </a:r>
          </a:p>
          <a:p>
            <a:r>
              <a:t>       round((PERCENT_RANK() OVER w)::numeric, 2) AS percent_rank</a:t>
            </a:r>
          </a:p>
          <a:p>
            <a:r>
              <a:t>  FROM bowie</a:t>
            </a:r>
          </a:p>
          <a:p>
            <a:r>
              <a:t>WINDOW w AS (ORDER BY popularity DESC);</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bowie AS (</a:t>
            </a:r>
          </a:p>
          <a:p>
            <a:r>
              <a:t>    SELECT t.name, t.popularity</a:t>
            </a:r>
          </a:p>
          <a:p>
            <a:r>
              <a:t>      FROM tracks AS t</a:t>
            </a:r>
          </a:p>
          <a:p>
            <a:r>
              <a:t>      JOIN track_artists AS ta ON ta.track_id = t.id</a:t>
            </a:r>
          </a:p>
          <a:p>
            <a:r>
              <a:t>      JOIN artists AS a        ON a.id = ta.artist_id</a:t>
            </a:r>
          </a:p>
          <a:p>
            <a:r>
              <a:t>     WHERE a.name = 'David Bowie'</a:t>
            </a:r>
          </a:p>
          <a:p>
            <a:r>
              <a:t>     ORDER BY t.popularity DESC, t.name</a:t>
            </a:r>
          </a:p>
          <a:p>
            <a:r>
              <a:t>     LIMIT 8</a:t>
            </a:r>
          </a:p>
          <a:p>
            <a:r>
              <a:t>)</a:t>
            </a:r>
          </a:p>
          <a:p>
            <a:r>
              <a:t>SELECT name,</a:t>
            </a:r>
          </a:p>
          <a:p>
            <a:r>
              <a:t>       popularity,</a:t>
            </a:r>
          </a:p>
          <a:p>
            <a:r>
              <a:t>       ROW_NUMBER()   OVER w AS rn,</a:t>
            </a:r>
          </a:p>
          <a:p>
            <a:r>
              <a:t>       RANK()         OVER w AS rank,</a:t>
            </a:r>
          </a:p>
          <a:p>
            <a:r>
              <a:t>       DENSE_RANK()   OVER w AS dense_rank,</a:t>
            </a:r>
          </a:p>
          <a:p>
            <a:r>
              <a:t>       NTILE(2)       OVER w AS ntile_2,</a:t>
            </a:r>
          </a:p>
          <a:p>
            <a:r>
              <a:t>       round((CUME_DIST()    OVER w)::numeric, 2) AS cume_dist,</a:t>
            </a:r>
          </a:p>
          <a:p>
            <a:r>
              <a:t>       round((PERCENT_RANK() OVER w)::numeric, 2) AS percent_rank</a:t>
            </a:r>
          </a:p>
          <a:p>
            <a:r>
              <a:t>  FROM bowie</a:t>
            </a:r>
          </a:p>
          <a:p>
            <a:r>
              <a:t>WINDOW w AS (ORDER BY popularity DESC);</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artist_tracks AS (</a:t>
            </a:r>
          </a:p>
          <a:p>
            <a:r>
              <a:t>    SELECT a.id, a.name, t.popularity</a:t>
            </a:r>
          </a:p>
          <a:p>
            <a:r>
              <a:t>      FROM artists AS a</a:t>
            </a:r>
          </a:p>
          <a:p>
            <a:r>
              <a:t>      JOIN track_artists AS ta ON ta.artist_id = a.id</a:t>
            </a:r>
          </a:p>
          <a:p>
            <a:r>
              <a:t>      JOIN tracks AS t         ON t.id = ta.track_id</a:t>
            </a:r>
          </a:p>
          <a:p>
            <a:r>
              <a:t>),</a:t>
            </a:r>
          </a:p>
          <a:p>
            <a:r>
              <a:t>artist_stats AS (</a:t>
            </a:r>
          </a:p>
          <a:p>
            <a:r>
              <a:t>    SELECT id,</a:t>
            </a:r>
          </a:p>
          <a:p>
            <a:r>
              <a:t>           name,</a:t>
            </a:r>
          </a:p>
          <a:p>
            <a:r>
              <a:t>           count(*)                  AS track_cnt,</a:t>
            </a:r>
          </a:p>
          <a:p>
            <a:r>
              <a:t>           round(avg(popularity), 1) AS avg_popularity</a:t>
            </a:r>
          </a:p>
          <a:p>
            <a:r>
              <a:t>      FROM artist_tracks</a:t>
            </a:r>
          </a:p>
          <a:p>
            <a:r>
              <a:t>     GROUP BY id, name</a:t>
            </a:r>
          </a:p>
          <a:p>
            <a:r>
              <a:t>)</a:t>
            </a:r>
          </a:p>
          <a:p>
            <a:r>
              <a:t>SELECT name, track_cnt, avg_popularity</a:t>
            </a:r>
          </a:p>
          <a:p>
            <a:r>
              <a:t>  FROM artist_stats</a:t>
            </a:r>
          </a:p>
          <a:p>
            <a:r>
              <a:t> WHERE track_cnt &gt;= 30</a:t>
            </a:r>
          </a:p>
          <a:p>
            <a:r>
              <a:t> ORDER BY avg_popularity DESC</a:t>
            </a:r>
          </a:p>
          <a:p>
            <a:r>
              <a:t> LIMIT 10;</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DISTINCT column1 FROM table_name;</a:t>
            </a:r>
          </a:p>
          <a:p>
            <a:r>
              <a:t>SELECT DISTINCT column1, column2 FROM table_name;   -- unique combinations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a.column1, b.column2</a:t>
            </a:r>
          </a:p>
          <a:p>
            <a:r>
              <a:t>  FROM table1 a</a:t>
            </a:r>
          </a:p>
          <a:p>
            <a:r>
              <a:t>  JOIN table2 b ON a.id = b.table2_id;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releases(release_id, title, label_id) AS (VALUES</a:t>
            </a:r>
          </a:p>
          <a:p>
            <a:r>
              <a:t>        (1, 'Space Oddity', 1), (2, 'Heroes', 2), (3, 'Blackstar', 9),</a:t>
            </a:r>
          </a:p>
          <a:p>
            <a:r>
              <a:t>        (4, 'Blonde on Blonde', 3), (5, 'Bedroom Demo', NULL), (6, 'Lodger', 2)</a:t>
            </a:r>
          </a:p>
          <a:p>
            <a:r>
              <a:t>),</a:t>
            </a:r>
          </a:p>
          <a:p>
            <a:r>
              <a:t>labels(label_id, label_name) AS (VALUES</a:t>
            </a:r>
          </a:p>
          <a:p>
            <a:r>
              <a:t>        (1, 'Philips'), (2, 'RCA'), (3, 'Columbia'), (4, 'Sub Pop')</a:t>
            </a:r>
          </a:p>
          <a:p>
            <a:r>
              <a:t>)</a:t>
            </a:r>
          </a:p>
          <a:p>
            <a:r>
              <a:t>SELECT r.release_id, r.title, l.label_name</a:t>
            </a:r>
          </a:p>
          <a:p>
            <a:r>
              <a:t>  FROM releases AS r</a:t>
            </a:r>
          </a:p>
          <a:p>
            <a:r>
              <a:t> INNER JOIN labels AS l ON r.label_id = l.label_id</a:t>
            </a:r>
          </a:p>
          <a:p>
            <a:r>
              <a:t> ORDER BY r.release_id;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releases(release_id, title, label_id) AS (VALUES</a:t>
            </a:r>
          </a:p>
          <a:p>
            <a:r>
              <a:t>        (1, 'Space Oddity', 1), (2, 'Heroes', 2), (3, 'Blackstar', 9),</a:t>
            </a:r>
          </a:p>
          <a:p>
            <a:r>
              <a:t>        (4, 'Blonde on Blonde', 3), (5, 'Bedroom Demo', NULL), (6, 'Lodger', 2)</a:t>
            </a:r>
          </a:p>
          <a:p>
            <a:r>
              <a:t>),</a:t>
            </a:r>
          </a:p>
          <a:p>
            <a:r>
              <a:t>labels(label_id, label_name) AS (VALUES</a:t>
            </a:r>
          </a:p>
          <a:p>
            <a:r>
              <a:t>        (1, 'Philips'), (2, 'RCA'), (3, 'Columbia'), (4, 'Sub Pop')</a:t>
            </a:r>
          </a:p>
          <a:p>
            <a:r>
              <a:t>)</a:t>
            </a:r>
          </a:p>
          <a:p>
            <a:r>
              <a:t>SELECT r.release_id, r.title, l.label_name</a:t>
            </a:r>
          </a:p>
          <a:p>
            <a:r>
              <a:t>  FROM releases AS r</a:t>
            </a:r>
          </a:p>
          <a:p>
            <a:r>
              <a:t>  LEFT JOIN labels AS l ON r.label_id = l.label_id</a:t>
            </a:r>
          </a:p>
          <a:p>
            <a:r>
              <a:t> ORDER BY r.release_id;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releases(release_id, title, label_id) AS (VALUES</a:t>
            </a:r>
          </a:p>
          <a:p>
            <a:r>
              <a:t>        (1, 'Space Oddity', 1), (2, 'Heroes', 2), (3, 'Blackstar', 9),</a:t>
            </a:r>
          </a:p>
          <a:p>
            <a:r>
              <a:t>        (4, 'Blonde on Blonde', 3), (5, 'Bedroom Demo', NULL), (6, 'Lodger', 2)</a:t>
            </a:r>
          </a:p>
          <a:p>
            <a:r>
              <a:t>),</a:t>
            </a:r>
          </a:p>
          <a:p>
            <a:r>
              <a:t>labels(label_id, label_name) AS (VALUES</a:t>
            </a:r>
          </a:p>
          <a:p>
            <a:r>
              <a:t>        (1, 'Philips'), (2, 'RCA'), (3, 'Columbia'), (4, 'Sub Pop')</a:t>
            </a:r>
          </a:p>
          <a:p>
            <a:r>
              <a:t>)</a:t>
            </a:r>
          </a:p>
          <a:p>
            <a:r>
              <a:t>SELECT r.release_id, r.title, l.label_name</a:t>
            </a:r>
          </a:p>
          <a:p>
            <a:r>
              <a:t>  FROM releases AS r</a:t>
            </a:r>
          </a:p>
          <a:p>
            <a:r>
              <a:t> RIGHT JOIN labels AS l ON r.label_id = l.label_id</a:t>
            </a:r>
          </a:p>
          <a:p>
            <a:r>
              <a:t> ORDER BY l.label_name;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releases(release_id, title, label_id) AS (VALUES</a:t>
            </a:r>
          </a:p>
          <a:p>
            <a:r>
              <a:t>        (1, 'Space Oddity', 1), (2, 'Heroes', 2), (3, 'Blackstar', 9),</a:t>
            </a:r>
          </a:p>
          <a:p>
            <a:r>
              <a:t>        (4, 'Blonde on Blonde', 3), (5, 'Bedroom Demo', NULL), (6, 'Lodger', 2)</a:t>
            </a:r>
          </a:p>
          <a:p>
            <a:r>
              <a:t>),</a:t>
            </a:r>
          </a:p>
          <a:p>
            <a:r>
              <a:t>labels(label_id, label_name) AS (VALUES</a:t>
            </a:r>
          </a:p>
          <a:p>
            <a:r>
              <a:t>        (1, 'Philips'), (2, 'RCA'), (3, 'Columbia'), (4, 'Sub Pop')</a:t>
            </a:r>
          </a:p>
          <a:p>
            <a:r>
              <a:t>)</a:t>
            </a:r>
          </a:p>
          <a:p>
            <a:r>
              <a:t>SELECT r.release_id, r.title, l.label_name</a:t>
            </a:r>
          </a:p>
          <a:p>
            <a:r>
              <a:t>  FROM releases AS r</a:t>
            </a:r>
          </a:p>
          <a:p>
            <a:r>
              <a:t>  FULL JOIN labels AS l ON r.label_id = l.label_id</a:t>
            </a:r>
          </a:p>
          <a:p>
            <a:r>
              <a:t> ORDER BY r.release_id NULLS LAST;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top3 AS (</a:t>
            </a:r>
          </a:p>
          <a:p>
            <a:r>
              <a:t>    SELECT name FROM tracks ORDER BY popularity DESC, name LIMIT 3</a:t>
            </a:r>
          </a:p>
          <a:p>
            <a:r>
              <a:t>)</a:t>
            </a:r>
          </a:p>
          <a:p>
            <a:r>
              <a:t>SELECT a.name AS track_1, b.name AS track_2</a:t>
            </a:r>
          </a:p>
          <a:p>
            <a:r>
              <a:t>  FROM top3 AS a</a:t>
            </a:r>
          </a:p>
          <a:p>
            <a:r>
              <a:t> CROSS JOIN top3 AS b</a:t>
            </a:r>
          </a:p>
          <a:p>
            <a:r>
              <a:t> WHERE a.name &lt;&gt; b.name</a:t>
            </a:r>
          </a:p>
          <a:p>
            <a:r>
              <a:t> ORDER BY 1, 2;</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a.name AS artist,</a:t>
            </a:r>
          </a:p>
          <a:p>
            <a:r>
              <a:t>       r.name AS also_liked</a:t>
            </a:r>
          </a:p>
          <a:p>
            <a:r>
              <a:t>  FROM artist_related AS ar</a:t>
            </a:r>
          </a:p>
          <a:p>
            <a:r>
              <a:t>  JOIN artists AS a ON a.id = ar.artist_id</a:t>
            </a:r>
          </a:p>
          <a:p>
            <a:r>
              <a:t>  JOIN artists AS r ON r.id = ar.related_artist_id</a:t>
            </a:r>
          </a:p>
          <a:p>
            <a:r>
              <a:t> WHERE a.name = 'David Bowie'</a:t>
            </a:r>
          </a:p>
          <a:p>
            <a:r>
              <a:t> ORDER BY ar.position</a:t>
            </a:r>
          </a:p>
          <a:p>
            <a:r>
              <a:t> LIMIT 8;</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t.name, t.release_date, t.popularity</a:t>
            </a:r>
          </a:p>
          <a:p>
            <a:r>
              <a:t>  FROM tracks AS t</a:t>
            </a:r>
          </a:p>
          <a:p>
            <a:r>
              <a:t>  LEFT JOIN track_artists AS ta ON ta.track_id = t.id</a:t>
            </a:r>
          </a:p>
          <a:p>
            <a:r>
              <a:t> WHERE ta.track_id IS NULL</a:t>
            </a:r>
          </a:p>
          <a:p>
            <a:r>
              <a:t> ORDER BY t.popularity DESC</a:t>
            </a:r>
          </a:p>
          <a:p>
            <a:r>
              <a:t> LIMIT 5;</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a:t>
            </a:r>
          </a:p>
          <a:p>
            <a:r>
              <a:t>SELECT a.name, count(*) AS tracks</a:t>
            </a:r>
          </a:p>
          <a:p>
            <a:r>
              <a:t>  FROM artists AS a</a:t>
            </a:r>
          </a:p>
          <a:p>
            <a:r>
              <a:t>  JOIN track_artists AS ta ON ta.artist_id = a.id</a:t>
            </a:r>
          </a:p>
          <a:p>
            <a:r>
              <a:t> GROUP BY a.name</a:t>
            </a:r>
          </a:p>
          <a:p>
            <a:r>
              <a:t> ORDER BY tracks DESC</a:t>
            </a:r>
          </a:p>
          <a:p>
            <a:r>
              <a:t> LIMIT 10;</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F733-3168-7873-880B-FEA1FE18EF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9944CA-C88C-DFDB-60F3-5B41DAA8E9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4AF801-7D1F-7C7E-F8C6-B279017EAA1D}"/>
              </a:ext>
            </a:extLst>
          </p:cNvPr>
          <p:cNvSpPr>
            <a:spLocks noGrp="1"/>
          </p:cNvSpPr>
          <p:nvPr>
            <p:ph type="dt" sz="half" idx="10"/>
          </p:nvPr>
        </p:nvSpPr>
        <p:spPr/>
        <p:txBody>
          <a:bodyPr/>
          <a:lstStyle/>
          <a:p>
            <a:fld id="{60AA41EB-F526-1B4C-8D0D-F403911830D9}" type="datetimeFigureOut">
              <a:rPr lang="en-US" smtClean="0"/>
              <a:t>10/5/26</a:t>
            </a:fld>
            <a:endParaRPr lang="en-US"/>
          </a:p>
        </p:txBody>
      </p:sp>
      <p:sp>
        <p:nvSpPr>
          <p:cNvPr id="5" name="Footer Placeholder 4">
            <a:extLst>
              <a:ext uri="{FF2B5EF4-FFF2-40B4-BE49-F238E27FC236}">
                <a16:creationId xmlns:a16="http://schemas.microsoft.com/office/drawing/2014/main" id="{5E718C9E-7C26-8D54-71FF-FE0D119389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9B4611-3856-AFEF-D580-5BC0A5B7345C}"/>
              </a:ext>
            </a:extLst>
          </p:cNvPr>
          <p:cNvSpPr>
            <a:spLocks noGrp="1"/>
          </p:cNvSpPr>
          <p:nvPr>
            <p:ph type="sldNum" sz="quarter" idx="12"/>
          </p:nvPr>
        </p:nvSpPr>
        <p:spPr/>
        <p:txBody>
          <a:bodyPr/>
          <a:lstStyle/>
          <a:p>
            <a:fld id="{1196EAD1-42CC-E149-B725-0EE6865D0105}" type="slidenum">
              <a:rPr lang="en-US" smtClean="0"/>
              <a:t>‹#›</a:t>
            </a:fld>
            <a:endParaRPr lang="en-US"/>
          </a:p>
        </p:txBody>
      </p:sp>
    </p:spTree>
    <p:extLst>
      <p:ext uri="{BB962C8B-B14F-4D97-AF65-F5344CB8AC3E}">
        <p14:creationId xmlns:p14="http://schemas.microsoft.com/office/powerpoint/2010/main" val="2889711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A6B71-F87C-403D-5EEF-0AB239688C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36EF18-043C-0213-3DD5-86CC199126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1CCF0A-1916-1D72-49C5-76C8EE657299}"/>
              </a:ext>
            </a:extLst>
          </p:cNvPr>
          <p:cNvSpPr>
            <a:spLocks noGrp="1"/>
          </p:cNvSpPr>
          <p:nvPr>
            <p:ph type="dt" sz="half" idx="10"/>
          </p:nvPr>
        </p:nvSpPr>
        <p:spPr/>
        <p:txBody>
          <a:bodyPr/>
          <a:lstStyle/>
          <a:p>
            <a:fld id="{60AA41EB-F526-1B4C-8D0D-F403911830D9}" type="datetimeFigureOut">
              <a:rPr lang="en-US" smtClean="0"/>
              <a:t>10/5/26</a:t>
            </a:fld>
            <a:endParaRPr lang="en-US"/>
          </a:p>
        </p:txBody>
      </p:sp>
      <p:sp>
        <p:nvSpPr>
          <p:cNvPr id="5" name="Footer Placeholder 4">
            <a:extLst>
              <a:ext uri="{FF2B5EF4-FFF2-40B4-BE49-F238E27FC236}">
                <a16:creationId xmlns:a16="http://schemas.microsoft.com/office/drawing/2014/main" id="{65F7FDAA-0D19-8EF9-5630-EC0E51433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04BB36-1303-F909-6084-82D74040041E}"/>
              </a:ext>
            </a:extLst>
          </p:cNvPr>
          <p:cNvSpPr>
            <a:spLocks noGrp="1"/>
          </p:cNvSpPr>
          <p:nvPr>
            <p:ph type="sldNum" sz="quarter" idx="12"/>
          </p:nvPr>
        </p:nvSpPr>
        <p:spPr/>
        <p:txBody>
          <a:bodyPr/>
          <a:lstStyle/>
          <a:p>
            <a:fld id="{1196EAD1-42CC-E149-B725-0EE6865D0105}" type="slidenum">
              <a:rPr lang="en-US" smtClean="0"/>
              <a:t>‹#›</a:t>
            </a:fld>
            <a:endParaRPr lang="en-US"/>
          </a:p>
        </p:txBody>
      </p:sp>
    </p:spTree>
    <p:extLst>
      <p:ext uri="{BB962C8B-B14F-4D97-AF65-F5344CB8AC3E}">
        <p14:creationId xmlns:p14="http://schemas.microsoft.com/office/powerpoint/2010/main" val="2704604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4C80B-EA86-EF95-2B02-57380B7629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A1702B9-4C09-F5A5-629D-7B937A7BAD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D2DC99-5C26-62DF-6ACA-03A68FB6C816}"/>
              </a:ext>
            </a:extLst>
          </p:cNvPr>
          <p:cNvSpPr>
            <a:spLocks noGrp="1"/>
          </p:cNvSpPr>
          <p:nvPr>
            <p:ph type="dt" sz="half" idx="10"/>
          </p:nvPr>
        </p:nvSpPr>
        <p:spPr/>
        <p:txBody>
          <a:bodyPr/>
          <a:lstStyle/>
          <a:p>
            <a:fld id="{60AA41EB-F526-1B4C-8D0D-F403911830D9}" type="datetimeFigureOut">
              <a:rPr lang="en-US" smtClean="0"/>
              <a:t>10/5/26</a:t>
            </a:fld>
            <a:endParaRPr lang="en-US"/>
          </a:p>
        </p:txBody>
      </p:sp>
      <p:sp>
        <p:nvSpPr>
          <p:cNvPr id="5" name="Footer Placeholder 4">
            <a:extLst>
              <a:ext uri="{FF2B5EF4-FFF2-40B4-BE49-F238E27FC236}">
                <a16:creationId xmlns:a16="http://schemas.microsoft.com/office/drawing/2014/main" id="{1698EA05-58FB-CFB8-4355-B3E01066E4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DF74B7-7658-3DA1-15CB-8154F1DE7D51}"/>
              </a:ext>
            </a:extLst>
          </p:cNvPr>
          <p:cNvSpPr>
            <a:spLocks noGrp="1"/>
          </p:cNvSpPr>
          <p:nvPr>
            <p:ph type="sldNum" sz="quarter" idx="12"/>
          </p:nvPr>
        </p:nvSpPr>
        <p:spPr/>
        <p:txBody>
          <a:bodyPr/>
          <a:lstStyle/>
          <a:p>
            <a:fld id="{1196EAD1-42CC-E149-B725-0EE6865D0105}" type="slidenum">
              <a:rPr lang="en-US" smtClean="0"/>
              <a:t>‹#›</a:t>
            </a:fld>
            <a:endParaRPr lang="en-US"/>
          </a:p>
        </p:txBody>
      </p:sp>
    </p:spTree>
    <p:extLst>
      <p:ext uri="{BB962C8B-B14F-4D97-AF65-F5344CB8AC3E}">
        <p14:creationId xmlns:p14="http://schemas.microsoft.com/office/powerpoint/2010/main" val="837664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15292-5416-4DD2-58B9-8B6D491FFD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0CA097-D2E6-A1FF-2AB0-3E2B798249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89BCDA-DDA9-A7D6-9C5F-38EB18CD31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B3D31A-AAB5-66B5-0352-F9C632995E5C}"/>
              </a:ext>
            </a:extLst>
          </p:cNvPr>
          <p:cNvSpPr>
            <a:spLocks noGrp="1"/>
          </p:cNvSpPr>
          <p:nvPr>
            <p:ph type="dt" sz="half" idx="10"/>
          </p:nvPr>
        </p:nvSpPr>
        <p:spPr/>
        <p:txBody>
          <a:bodyPr/>
          <a:lstStyle/>
          <a:p>
            <a:fld id="{60AA41EB-F526-1B4C-8D0D-F403911830D9}" type="datetimeFigureOut">
              <a:rPr lang="en-US" smtClean="0"/>
              <a:t>10/5/26</a:t>
            </a:fld>
            <a:endParaRPr lang="en-US"/>
          </a:p>
        </p:txBody>
      </p:sp>
      <p:sp>
        <p:nvSpPr>
          <p:cNvPr id="6" name="Footer Placeholder 5">
            <a:extLst>
              <a:ext uri="{FF2B5EF4-FFF2-40B4-BE49-F238E27FC236}">
                <a16:creationId xmlns:a16="http://schemas.microsoft.com/office/drawing/2014/main" id="{A20A6548-D3D4-1B0F-2623-50B4A00AE9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84DE81-D3B5-4349-91E5-AEDEB820B5AF}"/>
              </a:ext>
            </a:extLst>
          </p:cNvPr>
          <p:cNvSpPr>
            <a:spLocks noGrp="1"/>
          </p:cNvSpPr>
          <p:nvPr>
            <p:ph type="sldNum" sz="quarter" idx="12"/>
          </p:nvPr>
        </p:nvSpPr>
        <p:spPr/>
        <p:txBody>
          <a:bodyPr/>
          <a:lstStyle/>
          <a:p>
            <a:fld id="{1196EAD1-42CC-E149-B725-0EE6865D0105}" type="slidenum">
              <a:rPr lang="en-US" smtClean="0"/>
              <a:t>‹#›</a:t>
            </a:fld>
            <a:endParaRPr lang="en-US"/>
          </a:p>
        </p:txBody>
      </p:sp>
    </p:spTree>
    <p:extLst>
      <p:ext uri="{BB962C8B-B14F-4D97-AF65-F5344CB8AC3E}">
        <p14:creationId xmlns:p14="http://schemas.microsoft.com/office/powerpoint/2010/main" val="1746721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26C3D-7785-1347-3E47-B78AF2093D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209C02-9E92-00B7-F10D-7B9B29A3BC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F49161-832D-20A7-75E0-4ECBF4B719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DB60DF-D4C9-6E49-27D3-2C0A55E29C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E92F57-6C10-CF00-2BC1-909BB4D4DC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5CA166-6FF6-DE04-11DE-95924A770EFF}"/>
              </a:ext>
            </a:extLst>
          </p:cNvPr>
          <p:cNvSpPr>
            <a:spLocks noGrp="1"/>
          </p:cNvSpPr>
          <p:nvPr>
            <p:ph type="dt" sz="half" idx="10"/>
          </p:nvPr>
        </p:nvSpPr>
        <p:spPr/>
        <p:txBody>
          <a:bodyPr/>
          <a:lstStyle/>
          <a:p>
            <a:fld id="{60AA41EB-F526-1B4C-8D0D-F403911830D9}" type="datetimeFigureOut">
              <a:rPr lang="en-US" smtClean="0"/>
              <a:t>10/5/26</a:t>
            </a:fld>
            <a:endParaRPr lang="en-US"/>
          </a:p>
        </p:txBody>
      </p:sp>
      <p:sp>
        <p:nvSpPr>
          <p:cNvPr id="8" name="Footer Placeholder 7">
            <a:extLst>
              <a:ext uri="{FF2B5EF4-FFF2-40B4-BE49-F238E27FC236}">
                <a16:creationId xmlns:a16="http://schemas.microsoft.com/office/drawing/2014/main" id="{61EA3EE6-1CD0-048F-9DF8-6D1C58E452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50120C-8BEF-E587-9423-B2785C7467A4}"/>
              </a:ext>
            </a:extLst>
          </p:cNvPr>
          <p:cNvSpPr>
            <a:spLocks noGrp="1"/>
          </p:cNvSpPr>
          <p:nvPr>
            <p:ph type="sldNum" sz="quarter" idx="12"/>
          </p:nvPr>
        </p:nvSpPr>
        <p:spPr/>
        <p:txBody>
          <a:bodyPr/>
          <a:lstStyle/>
          <a:p>
            <a:fld id="{1196EAD1-42CC-E149-B725-0EE6865D0105}" type="slidenum">
              <a:rPr lang="en-US" smtClean="0"/>
              <a:t>‹#›</a:t>
            </a:fld>
            <a:endParaRPr lang="en-US"/>
          </a:p>
        </p:txBody>
      </p:sp>
    </p:spTree>
    <p:extLst>
      <p:ext uri="{BB962C8B-B14F-4D97-AF65-F5344CB8AC3E}">
        <p14:creationId xmlns:p14="http://schemas.microsoft.com/office/powerpoint/2010/main" val="706755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E851C-C9C7-C00B-7025-4E1CB272CB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2AB687-1C06-4899-97A7-8278745F2CA9}"/>
              </a:ext>
            </a:extLst>
          </p:cNvPr>
          <p:cNvSpPr>
            <a:spLocks noGrp="1"/>
          </p:cNvSpPr>
          <p:nvPr>
            <p:ph type="dt" sz="half" idx="10"/>
          </p:nvPr>
        </p:nvSpPr>
        <p:spPr/>
        <p:txBody>
          <a:bodyPr/>
          <a:lstStyle/>
          <a:p>
            <a:fld id="{60AA41EB-F526-1B4C-8D0D-F403911830D9}" type="datetimeFigureOut">
              <a:rPr lang="en-US" smtClean="0"/>
              <a:t>10/5/26</a:t>
            </a:fld>
            <a:endParaRPr lang="en-US"/>
          </a:p>
        </p:txBody>
      </p:sp>
      <p:sp>
        <p:nvSpPr>
          <p:cNvPr id="4" name="Footer Placeholder 3">
            <a:extLst>
              <a:ext uri="{FF2B5EF4-FFF2-40B4-BE49-F238E27FC236}">
                <a16:creationId xmlns:a16="http://schemas.microsoft.com/office/drawing/2014/main" id="{A29BFE3E-95A6-2141-80FC-E541CD78FF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91B479-C973-E1CF-C799-CBD75F85BE1B}"/>
              </a:ext>
            </a:extLst>
          </p:cNvPr>
          <p:cNvSpPr>
            <a:spLocks noGrp="1"/>
          </p:cNvSpPr>
          <p:nvPr>
            <p:ph type="sldNum" sz="quarter" idx="12"/>
          </p:nvPr>
        </p:nvSpPr>
        <p:spPr/>
        <p:txBody>
          <a:bodyPr/>
          <a:lstStyle/>
          <a:p>
            <a:fld id="{1196EAD1-42CC-E149-B725-0EE6865D0105}" type="slidenum">
              <a:rPr lang="en-US" smtClean="0"/>
              <a:t>‹#›</a:t>
            </a:fld>
            <a:endParaRPr lang="en-US"/>
          </a:p>
        </p:txBody>
      </p:sp>
    </p:spTree>
    <p:extLst>
      <p:ext uri="{BB962C8B-B14F-4D97-AF65-F5344CB8AC3E}">
        <p14:creationId xmlns:p14="http://schemas.microsoft.com/office/powerpoint/2010/main" val="2439936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EC5446-9145-1A53-D437-A2419EE52B12}"/>
              </a:ext>
            </a:extLst>
          </p:cNvPr>
          <p:cNvSpPr>
            <a:spLocks noGrp="1"/>
          </p:cNvSpPr>
          <p:nvPr>
            <p:ph type="dt" sz="half" idx="10"/>
          </p:nvPr>
        </p:nvSpPr>
        <p:spPr/>
        <p:txBody>
          <a:bodyPr/>
          <a:lstStyle/>
          <a:p>
            <a:fld id="{60AA41EB-F526-1B4C-8D0D-F403911830D9}" type="datetimeFigureOut">
              <a:rPr lang="en-US" smtClean="0"/>
              <a:t>10/5/26</a:t>
            </a:fld>
            <a:endParaRPr lang="en-US"/>
          </a:p>
        </p:txBody>
      </p:sp>
      <p:sp>
        <p:nvSpPr>
          <p:cNvPr id="3" name="Footer Placeholder 2">
            <a:extLst>
              <a:ext uri="{FF2B5EF4-FFF2-40B4-BE49-F238E27FC236}">
                <a16:creationId xmlns:a16="http://schemas.microsoft.com/office/drawing/2014/main" id="{902C58CE-87C8-835F-99D1-2ED99D0524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DC4F14-71DD-7E4F-054F-AE24BA01D920}"/>
              </a:ext>
            </a:extLst>
          </p:cNvPr>
          <p:cNvSpPr>
            <a:spLocks noGrp="1"/>
          </p:cNvSpPr>
          <p:nvPr>
            <p:ph type="sldNum" sz="quarter" idx="12"/>
          </p:nvPr>
        </p:nvSpPr>
        <p:spPr/>
        <p:txBody>
          <a:bodyPr/>
          <a:lstStyle/>
          <a:p>
            <a:fld id="{1196EAD1-42CC-E149-B725-0EE6865D0105}" type="slidenum">
              <a:rPr lang="en-US" smtClean="0"/>
              <a:t>‹#›</a:t>
            </a:fld>
            <a:endParaRPr lang="en-US"/>
          </a:p>
        </p:txBody>
      </p:sp>
    </p:spTree>
    <p:extLst>
      <p:ext uri="{BB962C8B-B14F-4D97-AF65-F5344CB8AC3E}">
        <p14:creationId xmlns:p14="http://schemas.microsoft.com/office/powerpoint/2010/main" val="434802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F4EA7-5896-711C-C59C-2DA5291EDB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3C2374-89DB-007B-6CF2-07B66EC4CA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4D01FB-EC3C-F0DB-B93E-BC76F7724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CBA72-7741-0D38-B429-A8EAA1DB317C}"/>
              </a:ext>
            </a:extLst>
          </p:cNvPr>
          <p:cNvSpPr>
            <a:spLocks noGrp="1"/>
          </p:cNvSpPr>
          <p:nvPr>
            <p:ph type="dt" sz="half" idx="10"/>
          </p:nvPr>
        </p:nvSpPr>
        <p:spPr/>
        <p:txBody>
          <a:bodyPr/>
          <a:lstStyle/>
          <a:p>
            <a:fld id="{60AA41EB-F526-1B4C-8D0D-F403911830D9}" type="datetimeFigureOut">
              <a:rPr lang="en-US" smtClean="0"/>
              <a:t>10/5/26</a:t>
            </a:fld>
            <a:endParaRPr lang="en-US"/>
          </a:p>
        </p:txBody>
      </p:sp>
      <p:sp>
        <p:nvSpPr>
          <p:cNvPr id="6" name="Footer Placeholder 5">
            <a:extLst>
              <a:ext uri="{FF2B5EF4-FFF2-40B4-BE49-F238E27FC236}">
                <a16:creationId xmlns:a16="http://schemas.microsoft.com/office/drawing/2014/main" id="{D4436C4B-FB20-3EC4-3FCC-63A86C58E7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3FD35E-C1FA-5BF9-A6CC-0966372993A5}"/>
              </a:ext>
            </a:extLst>
          </p:cNvPr>
          <p:cNvSpPr>
            <a:spLocks noGrp="1"/>
          </p:cNvSpPr>
          <p:nvPr>
            <p:ph type="sldNum" sz="quarter" idx="12"/>
          </p:nvPr>
        </p:nvSpPr>
        <p:spPr/>
        <p:txBody>
          <a:bodyPr/>
          <a:lstStyle/>
          <a:p>
            <a:fld id="{1196EAD1-42CC-E149-B725-0EE6865D0105}" type="slidenum">
              <a:rPr lang="en-US" smtClean="0"/>
              <a:t>‹#›</a:t>
            </a:fld>
            <a:endParaRPr lang="en-US"/>
          </a:p>
        </p:txBody>
      </p:sp>
    </p:spTree>
    <p:extLst>
      <p:ext uri="{BB962C8B-B14F-4D97-AF65-F5344CB8AC3E}">
        <p14:creationId xmlns:p14="http://schemas.microsoft.com/office/powerpoint/2010/main" val="1202684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3EA64-D9A6-12B4-8006-3FAF2F4A29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61FD38-8E87-C860-EC16-630142CEA0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A5487B-6D18-40C5-1393-F259344CEB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FCCAC3-B5CE-B361-404C-3544D61C01FA}"/>
              </a:ext>
            </a:extLst>
          </p:cNvPr>
          <p:cNvSpPr>
            <a:spLocks noGrp="1"/>
          </p:cNvSpPr>
          <p:nvPr>
            <p:ph type="dt" sz="half" idx="10"/>
          </p:nvPr>
        </p:nvSpPr>
        <p:spPr/>
        <p:txBody>
          <a:bodyPr/>
          <a:lstStyle/>
          <a:p>
            <a:fld id="{60AA41EB-F526-1B4C-8D0D-F403911830D9}" type="datetimeFigureOut">
              <a:rPr lang="en-US" smtClean="0"/>
              <a:t>10/5/26</a:t>
            </a:fld>
            <a:endParaRPr lang="en-US"/>
          </a:p>
        </p:txBody>
      </p:sp>
      <p:sp>
        <p:nvSpPr>
          <p:cNvPr id="6" name="Footer Placeholder 5">
            <a:extLst>
              <a:ext uri="{FF2B5EF4-FFF2-40B4-BE49-F238E27FC236}">
                <a16:creationId xmlns:a16="http://schemas.microsoft.com/office/drawing/2014/main" id="{A414AC23-10E1-85DE-D447-B43F20BB38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DC8FA2-EFA0-7E31-D89E-F3F66D3D0A9B}"/>
              </a:ext>
            </a:extLst>
          </p:cNvPr>
          <p:cNvSpPr>
            <a:spLocks noGrp="1"/>
          </p:cNvSpPr>
          <p:nvPr>
            <p:ph type="sldNum" sz="quarter" idx="12"/>
          </p:nvPr>
        </p:nvSpPr>
        <p:spPr/>
        <p:txBody>
          <a:bodyPr/>
          <a:lstStyle/>
          <a:p>
            <a:fld id="{1196EAD1-42CC-E149-B725-0EE6865D0105}" type="slidenum">
              <a:rPr lang="en-US" smtClean="0"/>
              <a:t>‹#›</a:t>
            </a:fld>
            <a:endParaRPr lang="en-US"/>
          </a:p>
        </p:txBody>
      </p:sp>
    </p:spTree>
    <p:extLst>
      <p:ext uri="{BB962C8B-B14F-4D97-AF65-F5344CB8AC3E}">
        <p14:creationId xmlns:p14="http://schemas.microsoft.com/office/powerpoint/2010/main" val="2086233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6DF28-A41C-DA40-7CF6-9167631FEC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878CBF8-D1A9-1A02-F5F9-7A69188875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20AFD7-E72C-43D4-FF54-62A06F2D4167}"/>
              </a:ext>
            </a:extLst>
          </p:cNvPr>
          <p:cNvSpPr>
            <a:spLocks noGrp="1"/>
          </p:cNvSpPr>
          <p:nvPr>
            <p:ph type="dt" sz="half" idx="10"/>
          </p:nvPr>
        </p:nvSpPr>
        <p:spPr/>
        <p:txBody>
          <a:bodyPr/>
          <a:lstStyle/>
          <a:p>
            <a:fld id="{60AA41EB-F526-1B4C-8D0D-F403911830D9}" type="datetimeFigureOut">
              <a:rPr lang="en-US" smtClean="0"/>
              <a:t>10/5/26</a:t>
            </a:fld>
            <a:endParaRPr lang="en-US"/>
          </a:p>
        </p:txBody>
      </p:sp>
      <p:sp>
        <p:nvSpPr>
          <p:cNvPr id="5" name="Footer Placeholder 4">
            <a:extLst>
              <a:ext uri="{FF2B5EF4-FFF2-40B4-BE49-F238E27FC236}">
                <a16:creationId xmlns:a16="http://schemas.microsoft.com/office/drawing/2014/main" id="{0781A3B3-BBD6-4933-0966-D6529366AD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E0DB4D-78FD-4A79-7B42-5ADF7A547518}"/>
              </a:ext>
            </a:extLst>
          </p:cNvPr>
          <p:cNvSpPr>
            <a:spLocks noGrp="1"/>
          </p:cNvSpPr>
          <p:nvPr>
            <p:ph type="sldNum" sz="quarter" idx="12"/>
          </p:nvPr>
        </p:nvSpPr>
        <p:spPr/>
        <p:txBody>
          <a:bodyPr/>
          <a:lstStyle/>
          <a:p>
            <a:fld id="{1196EAD1-42CC-E149-B725-0EE6865D0105}" type="slidenum">
              <a:rPr lang="en-US" smtClean="0"/>
              <a:t>‹#›</a:t>
            </a:fld>
            <a:endParaRPr lang="en-US"/>
          </a:p>
        </p:txBody>
      </p:sp>
    </p:spTree>
    <p:extLst>
      <p:ext uri="{BB962C8B-B14F-4D97-AF65-F5344CB8AC3E}">
        <p14:creationId xmlns:p14="http://schemas.microsoft.com/office/powerpoint/2010/main" val="1139799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E6A3A5-77CB-D2A1-FBDD-3E5D2AC4E1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0C36C9-9014-2168-A6DE-E972582881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B4DE8A-8190-B500-6DA5-F3D3D6A83A68}"/>
              </a:ext>
            </a:extLst>
          </p:cNvPr>
          <p:cNvSpPr>
            <a:spLocks noGrp="1"/>
          </p:cNvSpPr>
          <p:nvPr>
            <p:ph type="dt" sz="half" idx="10"/>
          </p:nvPr>
        </p:nvSpPr>
        <p:spPr/>
        <p:txBody>
          <a:bodyPr/>
          <a:lstStyle/>
          <a:p>
            <a:fld id="{60AA41EB-F526-1B4C-8D0D-F403911830D9}" type="datetimeFigureOut">
              <a:rPr lang="en-US" smtClean="0"/>
              <a:t>10/5/26</a:t>
            </a:fld>
            <a:endParaRPr lang="en-US"/>
          </a:p>
        </p:txBody>
      </p:sp>
      <p:sp>
        <p:nvSpPr>
          <p:cNvPr id="5" name="Footer Placeholder 4">
            <a:extLst>
              <a:ext uri="{FF2B5EF4-FFF2-40B4-BE49-F238E27FC236}">
                <a16:creationId xmlns:a16="http://schemas.microsoft.com/office/drawing/2014/main" id="{E9ADA9E4-A6AF-045B-F9CB-A247807A0C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2157CB-88C5-4E32-5C83-DFAB1454ED37}"/>
              </a:ext>
            </a:extLst>
          </p:cNvPr>
          <p:cNvSpPr>
            <a:spLocks noGrp="1"/>
          </p:cNvSpPr>
          <p:nvPr>
            <p:ph type="sldNum" sz="quarter" idx="12"/>
          </p:nvPr>
        </p:nvSpPr>
        <p:spPr/>
        <p:txBody>
          <a:bodyPr/>
          <a:lstStyle/>
          <a:p>
            <a:fld id="{1196EAD1-42CC-E149-B725-0EE6865D0105}" type="slidenum">
              <a:rPr lang="en-US" smtClean="0"/>
              <a:t>‹#›</a:t>
            </a:fld>
            <a:endParaRPr lang="en-US"/>
          </a:p>
        </p:txBody>
      </p:sp>
    </p:spTree>
    <p:extLst>
      <p:ext uri="{BB962C8B-B14F-4D97-AF65-F5344CB8AC3E}">
        <p14:creationId xmlns:p14="http://schemas.microsoft.com/office/powerpoint/2010/main" val="1073051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E19D1E-F005-630A-2D97-5E822259EB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83D141-978E-D93C-C310-EA32560F80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0D23AF-84AF-31EC-FF37-D19B585288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AA41EB-F526-1B4C-8D0D-F403911830D9}" type="datetimeFigureOut">
              <a:rPr lang="en-US" smtClean="0"/>
              <a:t>10/5/26</a:t>
            </a:fld>
            <a:endParaRPr lang="en-US"/>
          </a:p>
        </p:txBody>
      </p:sp>
      <p:sp>
        <p:nvSpPr>
          <p:cNvPr id="5" name="Footer Placeholder 4">
            <a:extLst>
              <a:ext uri="{FF2B5EF4-FFF2-40B4-BE49-F238E27FC236}">
                <a16:creationId xmlns:a16="http://schemas.microsoft.com/office/drawing/2014/main" id="{A286142B-8569-DB07-3A3F-1FB06D89F1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A8878F4-24B3-AEDF-9293-705508475D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96EAD1-42CC-E149-B725-0EE6865D0105}" type="slidenum">
              <a:rPr lang="en-US" smtClean="0"/>
              <a:t>‹#›</a:t>
            </a:fld>
            <a:endParaRPr lang="en-US"/>
          </a:p>
        </p:txBody>
      </p:sp>
    </p:spTree>
    <p:extLst>
      <p:ext uri="{BB962C8B-B14F-4D97-AF65-F5344CB8AC3E}">
        <p14:creationId xmlns:p14="http://schemas.microsoft.com/office/powerpoint/2010/main" val="534103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12648" y="228600"/>
            <a:ext cx="1554480" cy="228600"/>
          </a:xfrm>
          <a:prstGeom prst="rect">
            <a:avLst/>
          </a:prstGeom>
          <a:noFill/>
        </p:spPr>
        <p:txBody>
          <a:bodyPr wrap="square" lIns="0" tIns="0" rIns="0" bIns="0" anchor="t">
            <a:spAutoFit/>
          </a:bodyPr>
          <a:lstStyle/>
          <a:p>
            <a:pPr algn="l">
              <a:spcAft>
                <a:spcPts val="0"/>
              </a:spcAft>
            </a:pPr>
            <a:r>
              <a:rPr sz="1300" b="1">
                <a:solidFill>
                  <a:srgbClr val="061022"/>
                </a:solidFill>
                <a:latin typeface="Arial"/>
              </a:rPr>
              <a:t>TBC Explorers</a:t>
            </a:r>
          </a:p>
        </p:txBody>
      </p:sp>
      <p:sp>
        <p:nvSpPr>
          <p:cNvPr id="3" name="TextBox 2"/>
          <p:cNvSpPr txBox="1"/>
          <p:nvPr/>
        </p:nvSpPr>
        <p:spPr>
          <a:xfrm>
            <a:off x="11384280" y="219456"/>
            <a:ext cx="320040" cy="201168"/>
          </a:xfrm>
          <a:prstGeom prst="rect">
            <a:avLst/>
          </a:prstGeom>
          <a:noFill/>
        </p:spPr>
        <p:txBody>
          <a:bodyPr wrap="square" lIns="0" tIns="0" rIns="0" bIns="0" anchor="t">
            <a:spAutoFit/>
          </a:bodyPr>
          <a:lstStyle/>
          <a:p>
            <a:pPr algn="r">
              <a:spcAft>
                <a:spcPts val="0"/>
              </a:spcAft>
            </a:pPr>
            <a:fld id="{B6F15528-21DE-4FAA-801E-634DDDAF4B2B}" type="slidenum">
              <a:rPr sz="900" b="0">
                <a:solidFill>
                  <a:srgbClr val="061022"/>
                </a:solidFill>
                <a:latin typeface="Arial"/>
              </a:rPr>
              <a:t>1</a:t>
            </a:fld>
          </a:p>
        </p:txBody>
      </p:sp>
      <p:sp>
        <p:nvSpPr>
          <p:cNvPr id="4" name="TextBox 3"/>
          <p:cNvSpPr txBox="1"/>
          <p:nvPr/>
        </p:nvSpPr>
        <p:spPr>
          <a:xfrm>
            <a:off x="438912" y="987552"/>
            <a:ext cx="2834640" cy="685800"/>
          </a:xfrm>
          <a:prstGeom prst="rect">
            <a:avLst/>
          </a:prstGeom>
          <a:noFill/>
        </p:spPr>
        <p:txBody>
          <a:bodyPr wrap="square" lIns="0" tIns="0" rIns="0" bIns="0" anchor="t">
            <a:spAutoFit/>
          </a:bodyPr>
          <a:lstStyle/>
          <a:p>
            <a:pPr algn="l">
              <a:spcAft>
                <a:spcPts val="0"/>
              </a:spcAft>
            </a:pPr>
            <a:r>
              <a:rPr sz="4500" b="1">
                <a:solidFill>
                  <a:srgbClr val="061022"/>
                </a:solidFill>
                <a:latin typeface="Arial"/>
              </a:rPr>
              <a:t>SQL</a:t>
            </a:r>
          </a:p>
        </p:txBody>
      </p:sp>
      <p:sp>
        <p:nvSpPr>
          <p:cNvPr id="5" name="TextBox 4"/>
          <p:cNvSpPr txBox="1"/>
          <p:nvPr/>
        </p:nvSpPr>
        <p:spPr>
          <a:xfrm>
            <a:off x="438912" y="1664208"/>
            <a:ext cx="3474720" cy="658368"/>
          </a:xfrm>
          <a:prstGeom prst="rect">
            <a:avLst/>
          </a:prstGeom>
          <a:noFill/>
        </p:spPr>
        <p:txBody>
          <a:bodyPr wrap="square" lIns="0" tIns="0" rIns="0" bIns="0" anchor="t">
            <a:spAutoFit/>
          </a:bodyPr>
          <a:lstStyle/>
          <a:p>
            <a:pPr algn="l">
              <a:spcAft>
                <a:spcPts val="0"/>
              </a:spcAft>
            </a:pPr>
            <a:r>
              <a:rPr sz="4300" b="1">
                <a:solidFill>
                  <a:srgbClr val="10C6D3"/>
                </a:solidFill>
                <a:latin typeface="Arial"/>
              </a:rPr>
              <a:t>basics</a:t>
            </a:r>
          </a:p>
        </p:txBody>
      </p:sp>
      <p:sp>
        <p:nvSpPr>
          <p:cNvPr id="6" name="TextBox 5"/>
          <p:cNvSpPr txBox="1"/>
          <p:nvPr/>
        </p:nvSpPr>
        <p:spPr>
          <a:xfrm>
            <a:off x="475488" y="2487168"/>
            <a:ext cx="4892040" cy="475488"/>
          </a:xfrm>
          <a:prstGeom prst="rect">
            <a:avLst/>
          </a:prstGeom>
          <a:noFill/>
        </p:spPr>
        <p:txBody>
          <a:bodyPr wrap="square" lIns="0" tIns="0" rIns="0" bIns="0" anchor="t">
            <a:spAutoFit/>
          </a:bodyPr>
          <a:lstStyle/>
          <a:p>
            <a:pPr algn="l">
              <a:spcAft>
                <a:spcPts val="0"/>
              </a:spcAft>
            </a:pPr>
            <a:r>
              <a:rPr sz="1700" b="0">
                <a:solidFill>
                  <a:srgbClr val="636F84"/>
                </a:solidFill>
                <a:latin typeface="Arial"/>
              </a:rPr>
              <a:t>From basic queries to window functions and joins.</a:t>
            </a:r>
          </a:p>
        </p:txBody>
      </p:sp>
      <p:sp>
        <p:nvSpPr>
          <p:cNvPr id="7" name="TextBox 6"/>
          <p:cNvSpPr txBox="1"/>
          <p:nvPr/>
        </p:nvSpPr>
        <p:spPr>
          <a:xfrm>
            <a:off x="475488" y="5394960"/>
            <a:ext cx="2194560" cy="292608"/>
          </a:xfrm>
          <a:prstGeom prst="rect">
            <a:avLst/>
          </a:prstGeom>
          <a:noFill/>
        </p:spPr>
        <p:txBody>
          <a:bodyPr wrap="square" lIns="0" tIns="0" rIns="0" bIns="0" anchor="t">
            <a:spAutoFit/>
          </a:bodyPr>
          <a:lstStyle/>
          <a:p>
            <a:pPr algn="l">
              <a:spcAft>
                <a:spcPts val="0"/>
              </a:spcAft>
            </a:pPr>
            <a:r>
              <a:rPr sz="1500" b="1">
                <a:solidFill>
                  <a:srgbClr val="061022"/>
                </a:solidFill>
                <a:latin typeface="Arial"/>
              </a:rPr>
              <a:t>Denis Boldin</a:t>
            </a:r>
          </a:p>
        </p:txBody>
      </p:sp>
      <p:pic>
        <p:nvPicPr>
          <p:cNvPr id="8" name="Picture 7" descr="refcat_title3.png"/>
          <p:cNvPicPr>
            <a:picLocks noChangeAspect="1"/>
          </p:cNvPicPr>
          <p:nvPr/>
        </p:nvPicPr>
        <p:blipFill>
          <a:blip r:embed="rId2"/>
          <a:stretch>
            <a:fillRect/>
          </a:stretch>
        </p:blipFill>
        <p:spPr>
          <a:xfrm>
            <a:off x="7818120" y="932688"/>
            <a:ext cx="3337560" cy="61188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12648" y="228600"/>
            <a:ext cx="1554480" cy="228600"/>
          </a:xfrm>
          <a:prstGeom prst="rect">
            <a:avLst/>
          </a:prstGeom>
          <a:noFill/>
        </p:spPr>
        <p:txBody>
          <a:bodyPr wrap="square" lIns="0" tIns="0" rIns="0" bIns="0" anchor="t">
            <a:spAutoFit/>
          </a:bodyPr>
          <a:lstStyle/>
          <a:p>
            <a:pPr algn="l"/>
            <a:r>
              <a:rPr sz="1300" b="1">
                <a:solidFill>
                  <a:srgbClr val="071327"/>
                </a:solidFill>
                <a:latin typeface="Arial"/>
              </a:rPr>
              <a:t>TBC Explorers</a:t>
            </a:r>
          </a:p>
        </p:txBody>
      </p:sp>
      <p:sp>
        <p:nvSpPr>
          <p:cNvPr id="3" name="TextBox 2"/>
          <p:cNvSpPr txBox="1"/>
          <p:nvPr/>
        </p:nvSpPr>
        <p:spPr>
          <a:xfrm>
            <a:off x="11384280" y="219456"/>
            <a:ext cx="320040" cy="201168"/>
          </a:xfrm>
          <a:prstGeom prst="rect">
            <a:avLst/>
          </a:prstGeom>
          <a:noFill/>
        </p:spPr>
        <p:txBody>
          <a:bodyPr wrap="square" lIns="0" tIns="0" rIns="0" bIns="0" anchor="t">
            <a:spAutoFit/>
          </a:bodyPr>
          <a:lstStyle/>
          <a:p>
            <a:pPr algn="r"/>
            <a:fld id="{B6F15528-21DE-4FAA-801E-634DDDAF4B2B}" type="slidenum">
              <a:rPr sz="900" b="0">
                <a:solidFill>
                  <a:srgbClr val="071327"/>
                </a:solidFill>
                <a:latin typeface="Arial"/>
              </a:rPr>
              <a:t>2</a:t>
            </a:fld>
          </a:p>
        </p:txBody>
      </p:sp>
      <p:sp>
        <p:nvSpPr>
          <p:cNvPr id="4" name="TextBox 3"/>
          <p:cNvSpPr txBox="1"/>
          <p:nvPr/>
        </p:nvSpPr>
        <p:spPr>
          <a:xfrm>
            <a:off x="384048" y="6510528"/>
            <a:ext cx="3017520" cy="146304"/>
          </a:xfrm>
          <a:prstGeom prst="rect">
            <a:avLst/>
          </a:prstGeom>
          <a:noFill/>
        </p:spPr>
        <p:txBody>
          <a:bodyPr wrap="square" lIns="0" tIns="0" rIns="0" bIns="0" anchor="t">
            <a:spAutoFit/>
          </a:bodyPr>
          <a:lstStyle/>
          <a:p>
            <a:pPr algn="l"/>
            <a:r>
              <a:rPr sz="700" b="1">
                <a:solidFill>
                  <a:srgbClr val="636F84"/>
                </a:solidFill>
                <a:latin typeface="Arial"/>
              </a:rPr>
              <a:t>01 · INTRODUCTION</a:t>
            </a:r>
          </a:p>
        </p:txBody>
      </p:sp>
      <p:sp>
        <p:nvSpPr>
          <p:cNvPr id="5" name="TextBox 4"/>
          <p:cNvSpPr txBox="1"/>
          <p:nvPr/>
        </p:nvSpPr>
        <p:spPr>
          <a:xfrm>
            <a:off x="438912" y="749808"/>
            <a:ext cx="1554480" cy="507831"/>
          </a:xfrm>
          <a:prstGeom prst="rect">
            <a:avLst/>
          </a:prstGeom>
          <a:noFill/>
        </p:spPr>
        <p:txBody>
          <a:bodyPr wrap="square" lIns="0" tIns="0" rIns="0" bIns="0" anchor="t">
            <a:spAutoFit/>
          </a:bodyPr>
          <a:lstStyle/>
          <a:p>
            <a:pPr algn="l"/>
            <a:r>
              <a:rPr sz="3300" b="1">
                <a:solidFill>
                  <a:srgbClr val="071327"/>
                </a:solidFill>
                <a:latin typeface="Arial"/>
              </a:rPr>
              <a:t>What is </a:t>
            </a:r>
          </a:p>
        </p:txBody>
      </p:sp>
      <p:sp>
        <p:nvSpPr>
          <p:cNvPr id="6" name="TextBox 5"/>
          <p:cNvSpPr txBox="1"/>
          <p:nvPr/>
        </p:nvSpPr>
        <p:spPr>
          <a:xfrm>
            <a:off x="2167128" y="749808"/>
            <a:ext cx="1828800" cy="548640"/>
          </a:xfrm>
          <a:prstGeom prst="rect">
            <a:avLst/>
          </a:prstGeom>
          <a:noFill/>
        </p:spPr>
        <p:txBody>
          <a:bodyPr wrap="square" lIns="0" tIns="0" rIns="0" bIns="0" anchor="t">
            <a:spAutoFit/>
          </a:bodyPr>
          <a:lstStyle/>
          <a:p>
            <a:pPr algn="l"/>
            <a:r>
              <a:rPr sz="3300" b="1" dirty="0">
                <a:solidFill>
                  <a:srgbClr val="14C7D3"/>
                </a:solidFill>
                <a:latin typeface="Arial"/>
              </a:rPr>
              <a:t>SQL?</a:t>
            </a:r>
          </a:p>
        </p:txBody>
      </p:sp>
      <p:sp>
        <p:nvSpPr>
          <p:cNvPr id="7" name="TextBox 6"/>
          <p:cNvSpPr txBox="1"/>
          <p:nvPr/>
        </p:nvSpPr>
        <p:spPr>
          <a:xfrm>
            <a:off x="475488" y="1481328"/>
            <a:ext cx="6583680" cy="1143000"/>
          </a:xfrm>
          <a:prstGeom prst="rect">
            <a:avLst/>
          </a:prstGeom>
          <a:noFill/>
        </p:spPr>
        <p:txBody>
          <a:bodyPr wrap="square" lIns="0" tIns="0" rIns="0" bIns="0" anchor="t">
            <a:spAutoFit/>
          </a:bodyPr>
          <a:lstStyle/>
          <a:p>
            <a:pPr algn="l"/>
            <a:r>
              <a:rPr sz="1700" b="0" dirty="0">
                <a:solidFill>
                  <a:srgbClr val="636F84"/>
                </a:solidFill>
                <a:latin typeface="Arial"/>
              </a:rPr>
              <a:t>SQL is a language for working with data in relational databases. It lets you ask questions, filter, transform and combine data from different tables. You write a query, the database processes it and returns a result set.</a:t>
            </a:r>
          </a:p>
        </p:txBody>
      </p:sp>
      <p:sp>
        <p:nvSpPr>
          <p:cNvPr id="8" name="Rounded Rectangle 7"/>
          <p:cNvSpPr/>
          <p:nvPr/>
        </p:nvSpPr>
        <p:spPr>
          <a:xfrm>
            <a:off x="502920" y="2971800"/>
            <a:ext cx="3090672" cy="2057400"/>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31520" y="3227832"/>
            <a:ext cx="2514600" cy="475488"/>
          </a:xfrm>
          <a:prstGeom prst="rect">
            <a:avLst/>
          </a:prstGeom>
          <a:noFill/>
        </p:spPr>
        <p:txBody>
          <a:bodyPr wrap="square" lIns="0" tIns="0" rIns="0" bIns="0" anchor="t">
            <a:spAutoFit/>
          </a:bodyPr>
          <a:lstStyle/>
          <a:p>
            <a:pPr algn="l"/>
            <a:r>
              <a:rPr sz="1500" b="1">
                <a:solidFill>
                  <a:srgbClr val="071327"/>
                </a:solidFill>
                <a:latin typeface="Arial"/>
              </a:rPr>
              <a:t>Business
question</a:t>
            </a:r>
          </a:p>
        </p:txBody>
      </p:sp>
      <p:sp>
        <p:nvSpPr>
          <p:cNvPr id="10" name="TextBox 9"/>
          <p:cNvSpPr txBox="1"/>
          <p:nvPr/>
        </p:nvSpPr>
        <p:spPr>
          <a:xfrm>
            <a:off x="731520" y="3822191"/>
            <a:ext cx="2514600" cy="914400"/>
          </a:xfrm>
          <a:prstGeom prst="rect">
            <a:avLst/>
          </a:prstGeom>
          <a:noFill/>
        </p:spPr>
        <p:txBody>
          <a:bodyPr wrap="square" lIns="0" tIns="0" rIns="0" bIns="0" anchor="t">
            <a:spAutoFit/>
          </a:bodyPr>
          <a:lstStyle/>
          <a:p>
            <a:pPr algn="l"/>
            <a:r>
              <a:rPr sz="1100" b="0">
                <a:solidFill>
                  <a:srgbClr val="636F84"/>
                </a:solidFill>
                <a:latin typeface="Arial"/>
              </a:rPr>
              <a:t>Which artists
are most popular?</a:t>
            </a:r>
          </a:p>
        </p:txBody>
      </p:sp>
      <p:sp>
        <p:nvSpPr>
          <p:cNvPr id="11" name="Rounded Rectangle 10"/>
          <p:cNvSpPr/>
          <p:nvPr/>
        </p:nvSpPr>
        <p:spPr>
          <a:xfrm>
            <a:off x="4096512" y="2971800"/>
            <a:ext cx="3090672" cy="2057400"/>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4325112" y="3227832"/>
            <a:ext cx="2514600" cy="475488"/>
          </a:xfrm>
          <a:prstGeom prst="rect">
            <a:avLst/>
          </a:prstGeom>
          <a:noFill/>
        </p:spPr>
        <p:txBody>
          <a:bodyPr wrap="square" lIns="0" tIns="0" rIns="0" bIns="0" anchor="t">
            <a:spAutoFit/>
          </a:bodyPr>
          <a:lstStyle/>
          <a:p>
            <a:pPr algn="l"/>
            <a:r>
              <a:rPr sz="1500" b="1">
                <a:solidFill>
                  <a:srgbClr val="071327"/>
                </a:solidFill>
                <a:latin typeface="Arial"/>
              </a:rPr>
              <a:t>SQL query</a:t>
            </a:r>
          </a:p>
        </p:txBody>
      </p:sp>
      <p:sp>
        <p:nvSpPr>
          <p:cNvPr id="13" name="TextBox 12"/>
          <p:cNvSpPr txBox="1"/>
          <p:nvPr/>
        </p:nvSpPr>
        <p:spPr>
          <a:xfrm>
            <a:off x="4325112" y="3822191"/>
            <a:ext cx="2514600" cy="846386"/>
          </a:xfrm>
          <a:prstGeom prst="rect">
            <a:avLst/>
          </a:prstGeom>
          <a:noFill/>
        </p:spPr>
        <p:txBody>
          <a:bodyPr wrap="square" lIns="0" tIns="0" rIns="0" bIns="0" anchor="t">
            <a:spAutoFit/>
          </a:bodyPr>
          <a:lstStyle/>
          <a:p>
            <a:pPr algn="l"/>
            <a:r>
              <a:rPr sz="1100" b="0" dirty="0">
                <a:solidFill>
                  <a:srgbClr val="636F84"/>
                </a:solidFill>
                <a:latin typeface="Courier New"/>
              </a:rPr>
              <a:t>SELECT </a:t>
            </a:r>
            <a:r>
              <a:rPr sz="1100" b="0" dirty="0" err="1">
                <a:solidFill>
                  <a:srgbClr val="636F84"/>
                </a:solidFill>
                <a:latin typeface="Courier New"/>
              </a:rPr>
              <a:t>artist_name</a:t>
            </a:r>
            <a:r>
              <a:rPr sz="1100" b="0" dirty="0">
                <a:solidFill>
                  <a:srgbClr val="636F84"/>
                </a:solidFill>
                <a:latin typeface="Courier New"/>
              </a:rPr>
              <a:t>,
COUNT(</a:t>
            </a:r>
            <a:r>
              <a:rPr lang="en-US" sz="1100" b="0" dirty="0">
                <a:solidFill>
                  <a:srgbClr val="636F84"/>
                </a:solidFill>
                <a:latin typeface="Courier New"/>
              </a:rPr>
              <a:t>tracks</a:t>
            </a:r>
            <a:r>
              <a:rPr sz="1100" b="0" dirty="0">
                <a:solidFill>
                  <a:srgbClr val="636F84"/>
                </a:solidFill>
                <a:latin typeface="Courier New"/>
              </a:rPr>
              <a:t>) AS tracks
FROM tracks
GROUP BY </a:t>
            </a:r>
            <a:r>
              <a:rPr sz="1100" b="0" dirty="0" err="1">
                <a:solidFill>
                  <a:srgbClr val="636F84"/>
                </a:solidFill>
                <a:latin typeface="Courier New"/>
              </a:rPr>
              <a:t>artist_name</a:t>
            </a:r>
            <a:endParaRPr lang="en-US" sz="1100" b="0" dirty="0">
              <a:solidFill>
                <a:srgbClr val="636F84"/>
              </a:solidFill>
              <a:latin typeface="Courier New"/>
            </a:endParaRPr>
          </a:p>
          <a:p>
            <a:r>
              <a:rPr lang="en-US" sz="1100" dirty="0">
                <a:solidFill>
                  <a:srgbClr val="636F84"/>
                </a:solidFill>
                <a:latin typeface="Courier New"/>
              </a:rPr>
              <a:t>ORDER BY COUNT(tracks) desc</a:t>
            </a:r>
            <a:r>
              <a:rPr sz="1100" b="0" dirty="0">
                <a:solidFill>
                  <a:srgbClr val="636F84"/>
                </a:solidFill>
                <a:latin typeface="Courier New"/>
              </a:rPr>
              <a:t>;</a:t>
            </a:r>
          </a:p>
        </p:txBody>
      </p:sp>
      <p:sp>
        <p:nvSpPr>
          <p:cNvPr id="14" name="Rounded Rectangle 13"/>
          <p:cNvSpPr/>
          <p:nvPr/>
        </p:nvSpPr>
        <p:spPr>
          <a:xfrm>
            <a:off x="7699248" y="2971800"/>
            <a:ext cx="3090672" cy="2057400"/>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7927848" y="3227832"/>
            <a:ext cx="2514600" cy="475488"/>
          </a:xfrm>
          <a:prstGeom prst="rect">
            <a:avLst/>
          </a:prstGeom>
          <a:noFill/>
        </p:spPr>
        <p:txBody>
          <a:bodyPr wrap="square" lIns="0" tIns="0" rIns="0" bIns="0" anchor="t">
            <a:spAutoFit/>
          </a:bodyPr>
          <a:lstStyle/>
          <a:p>
            <a:pPr algn="l"/>
            <a:r>
              <a:rPr sz="1500" b="1">
                <a:solidFill>
                  <a:srgbClr val="071327"/>
                </a:solidFill>
                <a:latin typeface="Arial"/>
              </a:rPr>
              <a:t>Result set</a:t>
            </a:r>
          </a:p>
        </p:txBody>
      </p:sp>
      <p:sp>
        <p:nvSpPr>
          <p:cNvPr id="16" name="TextBox 15"/>
          <p:cNvSpPr txBox="1"/>
          <p:nvPr/>
        </p:nvSpPr>
        <p:spPr>
          <a:xfrm>
            <a:off x="7927848" y="3822191"/>
            <a:ext cx="2514600" cy="677108"/>
          </a:xfrm>
          <a:prstGeom prst="rect">
            <a:avLst/>
          </a:prstGeom>
          <a:noFill/>
        </p:spPr>
        <p:txBody>
          <a:bodyPr wrap="square" lIns="0" tIns="0" rIns="0" bIns="0" anchor="t">
            <a:spAutoFit/>
          </a:bodyPr>
          <a:lstStyle/>
          <a:p>
            <a:pPr algn="l"/>
            <a:r>
              <a:rPr sz="1100" b="0" dirty="0" err="1">
                <a:solidFill>
                  <a:srgbClr val="636F84"/>
                </a:solidFill>
                <a:latin typeface="Arial"/>
              </a:rPr>
              <a:t>artist_name</a:t>
            </a:r>
            <a:r>
              <a:rPr sz="1100" b="0" dirty="0">
                <a:solidFill>
                  <a:srgbClr val="636F84"/>
                </a:solidFill>
                <a:latin typeface="Arial"/>
              </a:rPr>
              <a:t>      </a:t>
            </a:r>
            <a:r>
              <a:rPr lang="en-US" sz="1100" b="0" dirty="0">
                <a:solidFill>
                  <a:srgbClr val="636F84"/>
                </a:solidFill>
                <a:latin typeface="Arial"/>
              </a:rPr>
              <a:t>    </a:t>
            </a:r>
            <a:r>
              <a:rPr sz="1100" b="0" dirty="0">
                <a:solidFill>
                  <a:srgbClr val="636F84"/>
                </a:solidFill>
                <a:latin typeface="Arial"/>
              </a:rPr>
              <a:t>tracks
Taylor Swift      </a:t>
            </a:r>
            <a:r>
              <a:rPr lang="en-US" sz="1100" b="0" dirty="0">
                <a:solidFill>
                  <a:srgbClr val="636F84"/>
                </a:solidFill>
                <a:latin typeface="Arial"/>
              </a:rPr>
              <a:t>    </a:t>
            </a:r>
            <a:r>
              <a:rPr sz="1100" b="0" dirty="0">
                <a:solidFill>
                  <a:srgbClr val="636F84"/>
                </a:solidFill>
                <a:latin typeface="Arial"/>
              </a:rPr>
              <a:t>120
Drake               </a:t>
            </a:r>
            <a:r>
              <a:rPr lang="en-US" sz="1100" b="0" dirty="0">
                <a:solidFill>
                  <a:srgbClr val="636F84"/>
                </a:solidFill>
                <a:latin typeface="Arial"/>
              </a:rPr>
              <a:t>     </a:t>
            </a:r>
            <a:r>
              <a:rPr sz="1100" b="0" dirty="0">
                <a:solidFill>
                  <a:srgbClr val="636F84"/>
                </a:solidFill>
                <a:latin typeface="Arial"/>
              </a:rPr>
              <a:t>95
The </a:t>
            </a:r>
            <a:r>
              <a:rPr sz="1100" b="0" dirty="0" err="1">
                <a:solidFill>
                  <a:srgbClr val="636F84"/>
                </a:solidFill>
                <a:latin typeface="Arial"/>
              </a:rPr>
              <a:t>Weeknd</a:t>
            </a:r>
            <a:r>
              <a:rPr sz="1100" b="0" dirty="0">
                <a:solidFill>
                  <a:srgbClr val="636F84"/>
                </a:solidFill>
                <a:latin typeface="Arial"/>
              </a:rPr>
              <a:t>         85</a:t>
            </a:r>
          </a:p>
        </p:txBody>
      </p:sp>
      <p:sp>
        <p:nvSpPr>
          <p:cNvPr id="17" name="TextBox 16"/>
          <p:cNvSpPr txBox="1"/>
          <p:nvPr/>
        </p:nvSpPr>
        <p:spPr>
          <a:xfrm>
            <a:off x="3611880" y="3703320"/>
            <a:ext cx="384048" cy="365760"/>
          </a:xfrm>
          <a:prstGeom prst="rect">
            <a:avLst/>
          </a:prstGeom>
          <a:noFill/>
        </p:spPr>
        <p:txBody>
          <a:bodyPr wrap="square" lIns="0" tIns="0" rIns="0" bIns="0" anchor="t">
            <a:spAutoFit/>
          </a:bodyPr>
          <a:lstStyle/>
          <a:p>
            <a:pPr algn="ctr"/>
            <a:r>
              <a:rPr sz="2400" b="1">
                <a:solidFill>
                  <a:srgbClr val="14C7D3"/>
                </a:solidFill>
                <a:latin typeface="Arial"/>
              </a:rPr>
              <a:t>→</a:t>
            </a:r>
          </a:p>
        </p:txBody>
      </p:sp>
      <p:sp>
        <p:nvSpPr>
          <p:cNvPr id="18" name="TextBox 17"/>
          <p:cNvSpPr txBox="1"/>
          <p:nvPr/>
        </p:nvSpPr>
        <p:spPr>
          <a:xfrm>
            <a:off x="7205472" y="3703320"/>
            <a:ext cx="384048" cy="365760"/>
          </a:xfrm>
          <a:prstGeom prst="rect">
            <a:avLst/>
          </a:prstGeom>
          <a:noFill/>
        </p:spPr>
        <p:txBody>
          <a:bodyPr wrap="square" lIns="0" tIns="0" rIns="0" bIns="0" anchor="t">
            <a:spAutoFit/>
          </a:bodyPr>
          <a:lstStyle/>
          <a:p>
            <a:pPr algn="ctr"/>
            <a:r>
              <a:rPr sz="2400" b="1">
                <a:solidFill>
                  <a:srgbClr val="14C7D3"/>
                </a:solidFill>
                <a:latin typeface="Aria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12648" y="228600"/>
            <a:ext cx="1554480" cy="228600"/>
          </a:xfrm>
          <a:prstGeom prst="rect">
            <a:avLst/>
          </a:prstGeom>
          <a:noFill/>
        </p:spPr>
        <p:txBody>
          <a:bodyPr wrap="square" lIns="0" tIns="0" rIns="0" bIns="0" anchor="t">
            <a:spAutoFit/>
          </a:bodyPr>
          <a:lstStyle/>
          <a:p>
            <a:pPr algn="l"/>
            <a:r>
              <a:rPr sz="1300" b="1">
                <a:solidFill>
                  <a:srgbClr val="071327"/>
                </a:solidFill>
                <a:latin typeface="Arial"/>
              </a:rPr>
              <a:t>TBC Explorers</a:t>
            </a:r>
          </a:p>
        </p:txBody>
      </p:sp>
      <p:sp>
        <p:nvSpPr>
          <p:cNvPr id="3" name="TextBox 2"/>
          <p:cNvSpPr txBox="1"/>
          <p:nvPr/>
        </p:nvSpPr>
        <p:spPr>
          <a:xfrm>
            <a:off x="11384280" y="219456"/>
            <a:ext cx="320040" cy="201168"/>
          </a:xfrm>
          <a:prstGeom prst="rect">
            <a:avLst/>
          </a:prstGeom>
          <a:noFill/>
        </p:spPr>
        <p:txBody>
          <a:bodyPr wrap="square" lIns="0" tIns="0" rIns="0" bIns="0" anchor="t">
            <a:spAutoFit/>
          </a:bodyPr>
          <a:lstStyle/>
          <a:p>
            <a:pPr algn="r"/>
            <a:fld id="{B6F15528-21DE-4FAA-801E-634DDDAF4B2B}" type="slidenum">
              <a:rPr sz="900" b="0">
                <a:solidFill>
                  <a:srgbClr val="071327"/>
                </a:solidFill>
                <a:latin typeface="Arial"/>
              </a:rPr>
              <a:t>3</a:t>
            </a:fld>
          </a:p>
        </p:txBody>
      </p:sp>
      <p:sp>
        <p:nvSpPr>
          <p:cNvPr id="4" name="TextBox 3"/>
          <p:cNvSpPr txBox="1"/>
          <p:nvPr/>
        </p:nvSpPr>
        <p:spPr>
          <a:xfrm>
            <a:off x="384048" y="6510528"/>
            <a:ext cx="3017520" cy="146304"/>
          </a:xfrm>
          <a:prstGeom prst="rect">
            <a:avLst/>
          </a:prstGeom>
          <a:noFill/>
        </p:spPr>
        <p:txBody>
          <a:bodyPr wrap="square" lIns="0" tIns="0" rIns="0" bIns="0" anchor="t">
            <a:spAutoFit/>
          </a:bodyPr>
          <a:lstStyle/>
          <a:p>
            <a:pPr algn="l"/>
            <a:r>
              <a:rPr sz="700" b="1">
                <a:solidFill>
                  <a:srgbClr val="636F84"/>
                </a:solidFill>
                <a:latin typeface="Arial"/>
              </a:rPr>
              <a:t>01 · INTRODUCTION</a:t>
            </a:r>
          </a:p>
        </p:txBody>
      </p:sp>
      <p:sp>
        <p:nvSpPr>
          <p:cNvPr id="5" name="TextBox 4"/>
          <p:cNvSpPr txBox="1"/>
          <p:nvPr/>
        </p:nvSpPr>
        <p:spPr>
          <a:xfrm>
            <a:off x="438912" y="749808"/>
            <a:ext cx="996483" cy="507831"/>
          </a:xfrm>
          <a:prstGeom prst="rect">
            <a:avLst/>
          </a:prstGeom>
          <a:noFill/>
        </p:spPr>
        <p:txBody>
          <a:bodyPr wrap="square" lIns="0" tIns="0" rIns="0" bIns="0" anchor="t">
            <a:spAutoFit/>
          </a:bodyPr>
          <a:lstStyle/>
          <a:p>
            <a:pPr algn="l"/>
            <a:r>
              <a:rPr sz="3300" b="1">
                <a:solidFill>
                  <a:srgbClr val="071327"/>
                </a:solidFill>
                <a:latin typeface="Arial"/>
              </a:rPr>
              <a:t>SQL </a:t>
            </a:r>
          </a:p>
        </p:txBody>
      </p:sp>
      <p:sp>
        <p:nvSpPr>
          <p:cNvPr id="6" name="TextBox 5"/>
          <p:cNvSpPr txBox="1"/>
          <p:nvPr/>
        </p:nvSpPr>
        <p:spPr>
          <a:xfrm>
            <a:off x="1587440" y="760015"/>
            <a:ext cx="2743200" cy="548640"/>
          </a:xfrm>
          <a:prstGeom prst="rect">
            <a:avLst/>
          </a:prstGeom>
          <a:noFill/>
        </p:spPr>
        <p:txBody>
          <a:bodyPr wrap="square" lIns="0" tIns="0" rIns="0" bIns="0" anchor="t">
            <a:spAutoFit/>
          </a:bodyPr>
          <a:lstStyle/>
          <a:p>
            <a:pPr algn="l"/>
            <a:r>
              <a:rPr sz="3300" b="1" dirty="0">
                <a:solidFill>
                  <a:srgbClr val="14C7D3"/>
                </a:solidFill>
                <a:latin typeface="Arial"/>
              </a:rPr>
              <a:t>dialects</a:t>
            </a:r>
          </a:p>
        </p:txBody>
      </p:sp>
      <p:sp>
        <p:nvSpPr>
          <p:cNvPr id="7" name="TextBox 6"/>
          <p:cNvSpPr txBox="1"/>
          <p:nvPr/>
        </p:nvSpPr>
        <p:spPr>
          <a:xfrm>
            <a:off x="475488" y="1481328"/>
            <a:ext cx="7498079" cy="502920"/>
          </a:xfrm>
          <a:prstGeom prst="rect">
            <a:avLst/>
          </a:prstGeom>
          <a:noFill/>
        </p:spPr>
        <p:txBody>
          <a:bodyPr wrap="square" lIns="0" tIns="0" rIns="0" bIns="0" anchor="t">
            <a:spAutoFit/>
          </a:bodyPr>
          <a:lstStyle/>
          <a:p>
            <a:pPr algn="l"/>
            <a:r>
              <a:rPr sz="1600" b="0" dirty="0">
                <a:solidFill>
                  <a:srgbClr val="636F84"/>
                </a:solidFill>
                <a:latin typeface="Arial"/>
              </a:rPr>
              <a:t>SQL has a common core, but database systems add their own syntax, functions and extensions.</a:t>
            </a:r>
          </a:p>
        </p:txBody>
      </p:sp>
      <p:sp>
        <p:nvSpPr>
          <p:cNvPr id="8" name="Rounded Rectangle 7"/>
          <p:cNvSpPr/>
          <p:nvPr/>
        </p:nvSpPr>
        <p:spPr>
          <a:xfrm>
            <a:off x="475488" y="2267712"/>
            <a:ext cx="11018520" cy="3401568"/>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13232" y="2487168"/>
            <a:ext cx="2743200" cy="274320"/>
          </a:xfrm>
          <a:prstGeom prst="rect">
            <a:avLst/>
          </a:prstGeom>
          <a:noFill/>
        </p:spPr>
        <p:txBody>
          <a:bodyPr wrap="square" lIns="0" tIns="0" rIns="0" bIns="0" anchor="t">
            <a:spAutoFit/>
          </a:bodyPr>
          <a:lstStyle/>
          <a:p>
            <a:pPr algn="l"/>
            <a:r>
              <a:rPr sz="1200" b="1">
                <a:solidFill>
                  <a:srgbClr val="071327"/>
                </a:solidFill>
                <a:latin typeface="Arial"/>
              </a:rPr>
              <a:t>Database system</a:t>
            </a:r>
          </a:p>
        </p:txBody>
      </p:sp>
      <p:sp>
        <p:nvSpPr>
          <p:cNvPr id="10" name="TextBox 9"/>
          <p:cNvSpPr txBox="1"/>
          <p:nvPr/>
        </p:nvSpPr>
        <p:spPr>
          <a:xfrm>
            <a:off x="3703320" y="2487168"/>
            <a:ext cx="2468880" cy="274320"/>
          </a:xfrm>
          <a:prstGeom prst="rect">
            <a:avLst/>
          </a:prstGeom>
          <a:noFill/>
        </p:spPr>
        <p:txBody>
          <a:bodyPr wrap="square" lIns="0" tIns="0" rIns="0" bIns="0" anchor="t">
            <a:spAutoFit/>
          </a:bodyPr>
          <a:lstStyle/>
          <a:p>
            <a:pPr algn="l"/>
            <a:r>
              <a:rPr sz="1200" b="1">
                <a:solidFill>
                  <a:srgbClr val="071327"/>
                </a:solidFill>
                <a:latin typeface="Arial"/>
              </a:rPr>
              <a:t>SQL dialect</a:t>
            </a:r>
          </a:p>
        </p:txBody>
      </p:sp>
      <p:sp>
        <p:nvSpPr>
          <p:cNvPr id="11" name="TextBox 10"/>
          <p:cNvSpPr txBox="1"/>
          <p:nvPr/>
        </p:nvSpPr>
        <p:spPr>
          <a:xfrm>
            <a:off x="6446520" y="2487168"/>
            <a:ext cx="4480560" cy="274320"/>
          </a:xfrm>
          <a:prstGeom prst="rect">
            <a:avLst/>
          </a:prstGeom>
          <a:noFill/>
        </p:spPr>
        <p:txBody>
          <a:bodyPr wrap="square" lIns="0" tIns="0" rIns="0" bIns="0" anchor="t">
            <a:spAutoFit/>
          </a:bodyPr>
          <a:lstStyle/>
          <a:p>
            <a:pPr algn="l"/>
            <a:r>
              <a:rPr sz="1200" b="1">
                <a:solidFill>
                  <a:srgbClr val="071327"/>
                </a:solidFill>
                <a:latin typeface="Arial"/>
              </a:rPr>
              <a:t>What to know</a:t>
            </a:r>
          </a:p>
        </p:txBody>
      </p:sp>
      <p:sp>
        <p:nvSpPr>
          <p:cNvPr id="12" name="Rectangle 11"/>
          <p:cNvSpPr/>
          <p:nvPr/>
        </p:nvSpPr>
        <p:spPr>
          <a:xfrm>
            <a:off x="603504" y="2834640"/>
            <a:ext cx="10744200" cy="420624"/>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713232" y="2907792"/>
            <a:ext cx="2743200" cy="256032"/>
          </a:xfrm>
          <a:prstGeom prst="rect">
            <a:avLst/>
          </a:prstGeom>
          <a:noFill/>
        </p:spPr>
        <p:txBody>
          <a:bodyPr wrap="square" lIns="0" tIns="0" rIns="0" bIns="0" anchor="t">
            <a:spAutoFit/>
          </a:bodyPr>
          <a:lstStyle/>
          <a:p>
            <a:pPr algn="l"/>
            <a:r>
              <a:rPr sz="1200" b="1">
                <a:solidFill>
                  <a:srgbClr val="071327"/>
                </a:solidFill>
                <a:latin typeface="Arial"/>
              </a:rPr>
              <a:t>PostgreSQL</a:t>
            </a:r>
          </a:p>
        </p:txBody>
      </p:sp>
      <p:sp>
        <p:nvSpPr>
          <p:cNvPr id="14" name="TextBox 13"/>
          <p:cNvSpPr txBox="1"/>
          <p:nvPr/>
        </p:nvSpPr>
        <p:spPr>
          <a:xfrm>
            <a:off x="3703320" y="2907792"/>
            <a:ext cx="2423160" cy="256032"/>
          </a:xfrm>
          <a:prstGeom prst="rect">
            <a:avLst/>
          </a:prstGeom>
          <a:noFill/>
        </p:spPr>
        <p:txBody>
          <a:bodyPr wrap="square" lIns="0" tIns="0" rIns="0" bIns="0" anchor="t">
            <a:spAutoFit/>
          </a:bodyPr>
          <a:lstStyle/>
          <a:p>
            <a:pPr algn="l"/>
            <a:r>
              <a:rPr sz="1200" b="0">
                <a:solidFill>
                  <a:srgbClr val="14C7D3"/>
                </a:solidFill>
                <a:latin typeface="Arial"/>
              </a:rPr>
              <a:t>PostgreSQL SQL</a:t>
            </a:r>
          </a:p>
        </p:txBody>
      </p:sp>
      <p:sp>
        <p:nvSpPr>
          <p:cNvPr id="15" name="TextBox 14"/>
          <p:cNvSpPr txBox="1"/>
          <p:nvPr/>
        </p:nvSpPr>
        <p:spPr>
          <a:xfrm>
            <a:off x="6446520" y="2907792"/>
            <a:ext cx="4480560" cy="274320"/>
          </a:xfrm>
          <a:prstGeom prst="rect">
            <a:avLst/>
          </a:prstGeom>
          <a:noFill/>
        </p:spPr>
        <p:txBody>
          <a:bodyPr wrap="square" lIns="0" tIns="0" rIns="0" bIns="0" anchor="t">
            <a:spAutoFit/>
          </a:bodyPr>
          <a:lstStyle/>
          <a:p>
            <a:pPr algn="l"/>
            <a:r>
              <a:rPr sz="1100" b="0">
                <a:solidFill>
                  <a:srgbClr val="636F84"/>
                </a:solidFill>
                <a:latin typeface="Arial"/>
              </a:rPr>
              <a:t>Reference dialect for this course</a:t>
            </a:r>
          </a:p>
        </p:txBody>
      </p:sp>
      <p:sp>
        <p:nvSpPr>
          <p:cNvPr id="16" name="TextBox 15"/>
          <p:cNvSpPr txBox="1"/>
          <p:nvPr/>
        </p:nvSpPr>
        <p:spPr>
          <a:xfrm>
            <a:off x="713232" y="3419856"/>
            <a:ext cx="2743200" cy="256032"/>
          </a:xfrm>
          <a:prstGeom prst="rect">
            <a:avLst/>
          </a:prstGeom>
          <a:noFill/>
        </p:spPr>
        <p:txBody>
          <a:bodyPr wrap="square" lIns="0" tIns="0" rIns="0" bIns="0" anchor="t">
            <a:spAutoFit/>
          </a:bodyPr>
          <a:lstStyle/>
          <a:p>
            <a:pPr algn="l"/>
            <a:r>
              <a:rPr sz="1200" b="1">
                <a:solidFill>
                  <a:srgbClr val="071327"/>
                </a:solidFill>
                <a:latin typeface="Arial"/>
              </a:rPr>
              <a:t>Greenplum</a:t>
            </a:r>
          </a:p>
        </p:txBody>
      </p:sp>
      <p:sp>
        <p:nvSpPr>
          <p:cNvPr id="17" name="TextBox 16"/>
          <p:cNvSpPr txBox="1"/>
          <p:nvPr/>
        </p:nvSpPr>
        <p:spPr>
          <a:xfrm>
            <a:off x="3703320" y="3419856"/>
            <a:ext cx="2423160" cy="256032"/>
          </a:xfrm>
          <a:prstGeom prst="rect">
            <a:avLst/>
          </a:prstGeom>
          <a:noFill/>
        </p:spPr>
        <p:txBody>
          <a:bodyPr wrap="square" lIns="0" tIns="0" rIns="0" bIns="0" anchor="t">
            <a:spAutoFit/>
          </a:bodyPr>
          <a:lstStyle/>
          <a:p>
            <a:pPr algn="l"/>
            <a:r>
              <a:rPr sz="1200" b="0">
                <a:solidFill>
                  <a:srgbClr val="14C7D3"/>
                </a:solidFill>
                <a:latin typeface="Arial"/>
              </a:rPr>
              <a:t>PostgreSQL dialect</a:t>
            </a:r>
          </a:p>
        </p:txBody>
      </p:sp>
      <p:sp>
        <p:nvSpPr>
          <p:cNvPr id="18" name="TextBox 17"/>
          <p:cNvSpPr txBox="1"/>
          <p:nvPr/>
        </p:nvSpPr>
        <p:spPr>
          <a:xfrm>
            <a:off x="6446520" y="3419856"/>
            <a:ext cx="4480560" cy="274320"/>
          </a:xfrm>
          <a:prstGeom prst="rect">
            <a:avLst/>
          </a:prstGeom>
          <a:noFill/>
        </p:spPr>
        <p:txBody>
          <a:bodyPr wrap="square" lIns="0" tIns="0" rIns="0" bIns="0" anchor="t">
            <a:spAutoFit/>
          </a:bodyPr>
          <a:lstStyle/>
          <a:p>
            <a:pPr algn="l"/>
            <a:r>
              <a:rPr sz="1100" b="0">
                <a:solidFill>
                  <a:srgbClr val="636F84"/>
                </a:solidFill>
                <a:latin typeface="Arial"/>
              </a:rPr>
              <a:t>PostgreSQL-based analytical DBMS</a:t>
            </a:r>
          </a:p>
        </p:txBody>
      </p:sp>
      <p:sp>
        <p:nvSpPr>
          <p:cNvPr id="19" name="Rectangle 18"/>
          <p:cNvSpPr/>
          <p:nvPr/>
        </p:nvSpPr>
        <p:spPr>
          <a:xfrm>
            <a:off x="603504" y="3858768"/>
            <a:ext cx="10744200" cy="420624"/>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713232" y="3931920"/>
            <a:ext cx="2743200" cy="256032"/>
          </a:xfrm>
          <a:prstGeom prst="rect">
            <a:avLst/>
          </a:prstGeom>
          <a:noFill/>
        </p:spPr>
        <p:txBody>
          <a:bodyPr wrap="square" lIns="0" tIns="0" rIns="0" bIns="0" anchor="t">
            <a:spAutoFit/>
          </a:bodyPr>
          <a:lstStyle/>
          <a:p>
            <a:pPr algn="l"/>
            <a:r>
              <a:rPr sz="1200" b="1">
                <a:solidFill>
                  <a:srgbClr val="071327"/>
                </a:solidFill>
                <a:latin typeface="Arial"/>
              </a:rPr>
              <a:t>Microsoft SQL Server</a:t>
            </a:r>
          </a:p>
        </p:txBody>
      </p:sp>
      <p:sp>
        <p:nvSpPr>
          <p:cNvPr id="21" name="TextBox 20"/>
          <p:cNvSpPr txBox="1"/>
          <p:nvPr/>
        </p:nvSpPr>
        <p:spPr>
          <a:xfrm>
            <a:off x="3703320" y="3931920"/>
            <a:ext cx="2423160" cy="256032"/>
          </a:xfrm>
          <a:prstGeom prst="rect">
            <a:avLst/>
          </a:prstGeom>
          <a:noFill/>
        </p:spPr>
        <p:txBody>
          <a:bodyPr wrap="square" lIns="0" tIns="0" rIns="0" bIns="0" anchor="t">
            <a:spAutoFit/>
          </a:bodyPr>
          <a:lstStyle/>
          <a:p>
            <a:pPr algn="l"/>
            <a:r>
              <a:rPr sz="1200" b="0">
                <a:solidFill>
                  <a:srgbClr val="14C7D3"/>
                </a:solidFill>
                <a:latin typeface="Arial"/>
              </a:rPr>
              <a:t>T-SQL</a:t>
            </a:r>
          </a:p>
        </p:txBody>
      </p:sp>
      <p:sp>
        <p:nvSpPr>
          <p:cNvPr id="22" name="TextBox 21"/>
          <p:cNvSpPr txBox="1"/>
          <p:nvPr/>
        </p:nvSpPr>
        <p:spPr>
          <a:xfrm>
            <a:off x="6446520" y="3931920"/>
            <a:ext cx="4480560" cy="274320"/>
          </a:xfrm>
          <a:prstGeom prst="rect">
            <a:avLst/>
          </a:prstGeom>
          <a:noFill/>
        </p:spPr>
        <p:txBody>
          <a:bodyPr wrap="square" lIns="0" tIns="0" rIns="0" bIns="0" anchor="t">
            <a:spAutoFit/>
          </a:bodyPr>
          <a:lstStyle/>
          <a:p>
            <a:pPr algn="l"/>
            <a:r>
              <a:rPr sz="1100" b="0">
                <a:solidFill>
                  <a:srgbClr val="636F84"/>
                </a:solidFill>
                <a:latin typeface="Arial"/>
              </a:rPr>
              <a:t>Microsoft SQL extensions</a:t>
            </a:r>
          </a:p>
        </p:txBody>
      </p:sp>
      <p:sp>
        <p:nvSpPr>
          <p:cNvPr id="23" name="TextBox 22"/>
          <p:cNvSpPr txBox="1"/>
          <p:nvPr/>
        </p:nvSpPr>
        <p:spPr>
          <a:xfrm>
            <a:off x="713232" y="4443984"/>
            <a:ext cx="2743200" cy="256032"/>
          </a:xfrm>
          <a:prstGeom prst="rect">
            <a:avLst/>
          </a:prstGeom>
          <a:noFill/>
        </p:spPr>
        <p:txBody>
          <a:bodyPr wrap="square" lIns="0" tIns="0" rIns="0" bIns="0" anchor="t">
            <a:spAutoFit/>
          </a:bodyPr>
          <a:lstStyle/>
          <a:p>
            <a:pPr algn="l"/>
            <a:r>
              <a:rPr sz="1200" b="1">
                <a:solidFill>
                  <a:srgbClr val="071327"/>
                </a:solidFill>
                <a:latin typeface="Arial"/>
              </a:rPr>
              <a:t>MySQL</a:t>
            </a:r>
          </a:p>
        </p:txBody>
      </p:sp>
      <p:sp>
        <p:nvSpPr>
          <p:cNvPr id="24" name="TextBox 23"/>
          <p:cNvSpPr txBox="1"/>
          <p:nvPr/>
        </p:nvSpPr>
        <p:spPr>
          <a:xfrm>
            <a:off x="3703320" y="4443984"/>
            <a:ext cx="2423160" cy="256032"/>
          </a:xfrm>
          <a:prstGeom prst="rect">
            <a:avLst/>
          </a:prstGeom>
          <a:noFill/>
        </p:spPr>
        <p:txBody>
          <a:bodyPr wrap="square" lIns="0" tIns="0" rIns="0" bIns="0" anchor="t">
            <a:spAutoFit/>
          </a:bodyPr>
          <a:lstStyle/>
          <a:p>
            <a:pPr algn="l"/>
            <a:r>
              <a:rPr sz="1200" b="0">
                <a:solidFill>
                  <a:srgbClr val="14C7D3"/>
                </a:solidFill>
                <a:latin typeface="Arial"/>
              </a:rPr>
              <a:t>MySQL SQL</a:t>
            </a:r>
          </a:p>
        </p:txBody>
      </p:sp>
      <p:sp>
        <p:nvSpPr>
          <p:cNvPr id="25" name="TextBox 24"/>
          <p:cNvSpPr txBox="1"/>
          <p:nvPr/>
        </p:nvSpPr>
        <p:spPr>
          <a:xfrm>
            <a:off x="6446520" y="4443984"/>
            <a:ext cx="4480560" cy="274320"/>
          </a:xfrm>
          <a:prstGeom prst="rect">
            <a:avLst/>
          </a:prstGeom>
          <a:noFill/>
        </p:spPr>
        <p:txBody>
          <a:bodyPr wrap="square" lIns="0" tIns="0" rIns="0" bIns="0" anchor="t">
            <a:spAutoFit/>
          </a:bodyPr>
          <a:lstStyle/>
          <a:p>
            <a:pPr algn="l"/>
            <a:r>
              <a:rPr sz="1100" b="0">
                <a:solidFill>
                  <a:srgbClr val="636F84"/>
                </a:solidFill>
                <a:latin typeface="Arial"/>
              </a:rPr>
              <a:t>MySQL-specific syntax and functions</a:t>
            </a:r>
          </a:p>
        </p:txBody>
      </p:sp>
      <p:sp>
        <p:nvSpPr>
          <p:cNvPr id="26" name="Rectangle 25"/>
          <p:cNvSpPr/>
          <p:nvPr/>
        </p:nvSpPr>
        <p:spPr>
          <a:xfrm>
            <a:off x="603504" y="4882896"/>
            <a:ext cx="10744200" cy="420624"/>
          </a:xfrm>
          <a:prstGeom prst="rect">
            <a:avLst/>
          </a:prstGeom>
          <a:solidFill>
            <a:srgbClr val="F7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713232" y="4956048"/>
            <a:ext cx="2743200" cy="256032"/>
          </a:xfrm>
          <a:prstGeom prst="rect">
            <a:avLst/>
          </a:prstGeom>
          <a:noFill/>
        </p:spPr>
        <p:txBody>
          <a:bodyPr wrap="square" lIns="0" tIns="0" rIns="0" bIns="0" anchor="t">
            <a:spAutoFit/>
          </a:bodyPr>
          <a:lstStyle/>
          <a:p>
            <a:pPr algn="l"/>
            <a:r>
              <a:rPr sz="1200" b="1">
                <a:solidFill>
                  <a:srgbClr val="071327"/>
                </a:solidFill>
                <a:latin typeface="Arial"/>
              </a:rPr>
              <a:t>Oracle Database</a:t>
            </a:r>
          </a:p>
        </p:txBody>
      </p:sp>
      <p:sp>
        <p:nvSpPr>
          <p:cNvPr id="28" name="TextBox 27"/>
          <p:cNvSpPr txBox="1"/>
          <p:nvPr/>
        </p:nvSpPr>
        <p:spPr>
          <a:xfrm>
            <a:off x="3703320" y="4956048"/>
            <a:ext cx="2423160" cy="256032"/>
          </a:xfrm>
          <a:prstGeom prst="rect">
            <a:avLst/>
          </a:prstGeom>
          <a:noFill/>
        </p:spPr>
        <p:txBody>
          <a:bodyPr wrap="square" lIns="0" tIns="0" rIns="0" bIns="0" anchor="t">
            <a:spAutoFit/>
          </a:bodyPr>
          <a:lstStyle/>
          <a:p>
            <a:pPr algn="l"/>
            <a:r>
              <a:rPr sz="1200" b="0">
                <a:solidFill>
                  <a:srgbClr val="14C7D3"/>
                </a:solidFill>
                <a:latin typeface="Arial"/>
              </a:rPr>
              <a:t>Oracle SQL / PL/SQL</a:t>
            </a:r>
          </a:p>
        </p:txBody>
      </p:sp>
      <p:sp>
        <p:nvSpPr>
          <p:cNvPr id="29" name="TextBox 28"/>
          <p:cNvSpPr txBox="1"/>
          <p:nvPr/>
        </p:nvSpPr>
        <p:spPr>
          <a:xfrm>
            <a:off x="6446520" y="4956048"/>
            <a:ext cx="4480560" cy="274320"/>
          </a:xfrm>
          <a:prstGeom prst="rect">
            <a:avLst/>
          </a:prstGeom>
          <a:noFill/>
        </p:spPr>
        <p:txBody>
          <a:bodyPr wrap="square" lIns="0" tIns="0" rIns="0" bIns="0" anchor="t">
            <a:spAutoFit/>
          </a:bodyPr>
          <a:lstStyle/>
          <a:p>
            <a:pPr algn="l"/>
            <a:r>
              <a:rPr sz="1100" b="0">
                <a:solidFill>
                  <a:srgbClr val="636F84"/>
                </a:solidFill>
                <a:latin typeface="Arial"/>
              </a:rPr>
              <a:t>Oracle SQL + procedural PL/SQL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12648" y="228600"/>
            <a:ext cx="1554480" cy="228600"/>
          </a:xfrm>
          <a:prstGeom prst="rect">
            <a:avLst/>
          </a:prstGeom>
          <a:noFill/>
        </p:spPr>
        <p:txBody>
          <a:bodyPr wrap="square" lIns="0" tIns="0" rIns="0" bIns="0" anchor="t">
            <a:spAutoFit/>
          </a:bodyPr>
          <a:lstStyle/>
          <a:p>
            <a:pPr algn="l"/>
            <a:r>
              <a:rPr sz="1300" b="1">
                <a:solidFill>
                  <a:srgbClr val="071327"/>
                </a:solidFill>
                <a:latin typeface="Arial"/>
              </a:rPr>
              <a:t>TBC Explorers</a:t>
            </a:r>
          </a:p>
        </p:txBody>
      </p:sp>
      <p:sp>
        <p:nvSpPr>
          <p:cNvPr id="3" name="TextBox 2"/>
          <p:cNvSpPr txBox="1"/>
          <p:nvPr/>
        </p:nvSpPr>
        <p:spPr>
          <a:xfrm>
            <a:off x="11384280" y="219456"/>
            <a:ext cx="320040" cy="201168"/>
          </a:xfrm>
          <a:prstGeom prst="rect">
            <a:avLst/>
          </a:prstGeom>
          <a:noFill/>
        </p:spPr>
        <p:txBody>
          <a:bodyPr wrap="square" lIns="0" tIns="0" rIns="0" bIns="0" anchor="t">
            <a:spAutoFit/>
          </a:bodyPr>
          <a:lstStyle/>
          <a:p>
            <a:pPr algn="r"/>
            <a:fld id="{B6F15528-21DE-4FAA-801E-634DDDAF4B2B}" type="slidenum">
              <a:rPr sz="900" b="0">
                <a:solidFill>
                  <a:srgbClr val="071327"/>
                </a:solidFill>
                <a:latin typeface="Arial"/>
              </a:rPr>
              <a:t>4</a:t>
            </a:fld>
          </a:p>
        </p:txBody>
      </p:sp>
      <p:sp>
        <p:nvSpPr>
          <p:cNvPr id="4" name="TextBox 3"/>
          <p:cNvSpPr txBox="1"/>
          <p:nvPr/>
        </p:nvSpPr>
        <p:spPr>
          <a:xfrm>
            <a:off x="384048" y="6510528"/>
            <a:ext cx="3017520" cy="146304"/>
          </a:xfrm>
          <a:prstGeom prst="rect">
            <a:avLst/>
          </a:prstGeom>
          <a:noFill/>
        </p:spPr>
        <p:txBody>
          <a:bodyPr wrap="square" lIns="0" tIns="0" rIns="0" bIns="0" anchor="t">
            <a:spAutoFit/>
          </a:bodyPr>
          <a:lstStyle/>
          <a:p>
            <a:pPr algn="l"/>
            <a:r>
              <a:rPr sz="700" b="1">
                <a:solidFill>
                  <a:srgbClr val="636F84"/>
                </a:solidFill>
                <a:latin typeface="Arial"/>
              </a:rPr>
              <a:t>ROADMAP</a:t>
            </a:r>
          </a:p>
        </p:txBody>
      </p:sp>
      <p:sp>
        <p:nvSpPr>
          <p:cNvPr id="5" name="TextBox 4"/>
          <p:cNvSpPr txBox="1"/>
          <p:nvPr/>
        </p:nvSpPr>
        <p:spPr>
          <a:xfrm>
            <a:off x="384048" y="685800"/>
            <a:ext cx="4206240" cy="502920"/>
          </a:xfrm>
          <a:prstGeom prst="rect">
            <a:avLst/>
          </a:prstGeom>
          <a:noFill/>
        </p:spPr>
        <p:txBody>
          <a:bodyPr wrap="square" lIns="0" tIns="0" rIns="0" bIns="0" anchor="t">
            <a:spAutoFit/>
          </a:bodyPr>
          <a:lstStyle/>
          <a:p>
            <a:pPr algn="l"/>
            <a:r>
              <a:rPr sz="3100" b="1">
                <a:solidFill>
                  <a:srgbClr val="071327"/>
                </a:solidFill>
                <a:latin typeface="Arial"/>
              </a:rPr>
              <a:t>What we'll</a:t>
            </a:r>
          </a:p>
        </p:txBody>
      </p:sp>
      <p:sp>
        <p:nvSpPr>
          <p:cNvPr id="6" name="TextBox 5"/>
          <p:cNvSpPr txBox="1"/>
          <p:nvPr/>
        </p:nvSpPr>
        <p:spPr>
          <a:xfrm>
            <a:off x="384048" y="1170432"/>
            <a:ext cx="4572000" cy="548640"/>
          </a:xfrm>
          <a:prstGeom prst="rect">
            <a:avLst/>
          </a:prstGeom>
          <a:noFill/>
        </p:spPr>
        <p:txBody>
          <a:bodyPr wrap="square" lIns="0" tIns="0" rIns="0" bIns="0" anchor="t">
            <a:spAutoFit/>
          </a:bodyPr>
          <a:lstStyle/>
          <a:p>
            <a:pPr algn="l"/>
            <a:r>
              <a:rPr sz="3100" b="1">
                <a:solidFill>
                  <a:srgbClr val="14C7D3"/>
                </a:solidFill>
                <a:latin typeface="Arial"/>
              </a:rPr>
              <a:t>cover today</a:t>
            </a:r>
          </a:p>
        </p:txBody>
      </p:sp>
      <p:sp>
        <p:nvSpPr>
          <p:cNvPr id="7" name="TextBox 6"/>
          <p:cNvSpPr txBox="1"/>
          <p:nvPr/>
        </p:nvSpPr>
        <p:spPr>
          <a:xfrm>
            <a:off x="384048" y="1810512"/>
            <a:ext cx="5303520" cy="594360"/>
          </a:xfrm>
          <a:prstGeom prst="rect">
            <a:avLst/>
          </a:prstGeom>
          <a:noFill/>
        </p:spPr>
        <p:txBody>
          <a:bodyPr wrap="square" lIns="0" tIns="0" rIns="0" bIns="0" anchor="t">
            <a:spAutoFit/>
          </a:bodyPr>
          <a:lstStyle/>
          <a:p>
            <a:pPr algn="l"/>
            <a:r>
              <a:rPr sz="1600" b="0">
                <a:solidFill>
                  <a:srgbClr val="636F84"/>
                </a:solidFill>
                <a:latin typeface="Arial"/>
              </a:rPr>
              <a:t>From basic queries to window functions and joins. With real examples.</a:t>
            </a:r>
          </a:p>
        </p:txBody>
      </p:sp>
      <p:sp>
        <p:nvSpPr>
          <p:cNvPr id="8" name="Rounded Rectangle 7"/>
          <p:cNvSpPr/>
          <p:nvPr/>
        </p:nvSpPr>
        <p:spPr>
          <a:xfrm>
            <a:off x="347472" y="2514600"/>
            <a:ext cx="1444752" cy="2971800"/>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Oval 8"/>
          <p:cNvSpPr/>
          <p:nvPr/>
        </p:nvSpPr>
        <p:spPr>
          <a:xfrm>
            <a:off x="466344" y="2670048"/>
            <a:ext cx="347472" cy="347472"/>
          </a:xfrm>
          <a:prstGeom prst="ellipse">
            <a:avLst/>
          </a:prstGeom>
          <a:solidFill>
            <a:srgbClr val="14C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466344" y="2724912"/>
            <a:ext cx="347472" cy="164592"/>
          </a:xfrm>
          <a:prstGeom prst="rect">
            <a:avLst/>
          </a:prstGeom>
          <a:noFill/>
        </p:spPr>
        <p:txBody>
          <a:bodyPr wrap="square" lIns="0" tIns="0" rIns="0" bIns="0" anchor="t">
            <a:spAutoFit/>
          </a:bodyPr>
          <a:lstStyle/>
          <a:p>
            <a:pPr algn="ctr"/>
            <a:r>
              <a:rPr sz="1000" b="1">
                <a:solidFill>
                  <a:srgbClr val="FFFFFF"/>
                </a:solidFill>
                <a:latin typeface="Arial"/>
              </a:rPr>
              <a:t>1</a:t>
            </a:r>
          </a:p>
        </p:txBody>
      </p:sp>
      <p:sp>
        <p:nvSpPr>
          <p:cNvPr id="11" name="TextBox 10"/>
          <p:cNvSpPr txBox="1"/>
          <p:nvPr/>
        </p:nvSpPr>
        <p:spPr>
          <a:xfrm>
            <a:off x="466344" y="3182112"/>
            <a:ext cx="1207008" cy="566928"/>
          </a:xfrm>
          <a:prstGeom prst="rect">
            <a:avLst/>
          </a:prstGeom>
          <a:noFill/>
        </p:spPr>
        <p:txBody>
          <a:bodyPr wrap="square" lIns="0" tIns="0" rIns="0" bIns="0" anchor="t">
            <a:spAutoFit/>
          </a:bodyPr>
          <a:lstStyle/>
          <a:p>
            <a:pPr algn="l"/>
            <a:r>
              <a:rPr sz="1200" b="1">
                <a:solidFill>
                  <a:srgbClr val="071327"/>
                </a:solidFill>
                <a:latin typeface="Arial"/>
              </a:rPr>
              <a:t>Working
with data</a:t>
            </a:r>
          </a:p>
        </p:txBody>
      </p:sp>
      <p:sp>
        <p:nvSpPr>
          <p:cNvPr id="12" name="TextBox 11"/>
          <p:cNvSpPr txBox="1"/>
          <p:nvPr/>
        </p:nvSpPr>
        <p:spPr>
          <a:xfrm>
            <a:off x="466344" y="4041648"/>
            <a:ext cx="1188720" cy="615553"/>
          </a:xfrm>
          <a:prstGeom prst="rect">
            <a:avLst/>
          </a:prstGeom>
          <a:noFill/>
        </p:spPr>
        <p:txBody>
          <a:bodyPr wrap="square" lIns="0" tIns="0" rIns="0" bIns="0" anchor="t">
            <a:spAutoFit/>
          </a:bodyPr>
          <a:lstStyle/>
          <a:p>
            <a:pPr algn="l"/>
            <a:r>
              <a:rPr sz="1000" b="0" dirty="0">
                <a:solidFill>
                  <a:srgbClr val="636F84"/>
                </a:solidFill>
                <a:latin typeface="Arial"/>
              </a:rPr>
              <a:t>Dataset
Data types
</a:t>
            </a:r>
            <a:r>
              <a:rPr lang="en-US" sz="1000" dirty="0">
                <a:solidFill>
                  <a:srgbClr val="636F84"/>
                </a:solidFill>
                <a:latin typeface="Arial"/>
              </a:rPr>
              <a:t>Operators and functions</a:t>
            </a:r>
            <a:endParaRPr sz="1000" b="0" dirty="0">
              <a:solidFill>
                <a:srgbClr val="636F84"/>
              </a:solidFill>
              <a:latin typeface="Arial"/>
            </a:endParaRPr>
          </a:p>
        </p:txBody>
      </p:sp>
      <p:sp>
        <p:nvSpPr>
          <p:cNvPr id="13" name="Rounded Rectangle 12"/>
          <p:cNvSpPr/>
          <p:nvPr/>
        </p:nvSpPr>
        <p:spPr>
          <a:xfrm>
            <a:off x="1975104" y="2514600"/>
            <a:ext cx="1444752" cy="2971800"/>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Oval 13"/>
          <p:cNvSpPr/>
          <p:nvPr/>
        </p:nvSpPr>
        <p:spPr>
          <a:xfrm>
            <a:off x="2093976" y="2670048"/>
            <a:ext cx="347472" cy="347472"/>
          </a:xfrm>
          <a:prstGeom prst="ellipse">
            <a:avLst/>
          </a:prstGeom>
          <a:solidFill>
            <a:srgbClr val="14C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2093976" y="2724912"/>
            <a:ext cx="347472" cy="164592"/>
          </a:xfrm>
          <a:prstGeom prst="rect">
            <a:avLst/>
          </a:prstGeom>
          <a:noFill/>
        </p:spPr>
        <p:txBody>
          <a:bodyPr wrap="square" lIns="0" tIns="0" rIns="0" bIns="0" anchor="t">
            <a:spAutoFit/>
          </a:bodyPr>
          <a:lstStyle/>
          <a:p>
            <a:pPr algn="ctr"/>
            <a:r>
              <a:rPr sz="1000" b="1">
                <a:solidFill>
                  <a:srgbClr val="FFFFFF"/>
                </a:solidFill>
                <a:latin typeface="Arial"/>
              </a:rPr>
              <a:t>2</a:t>
            </a:r>
          </a:p>
        </p:txBody>
      </p:sp>
      <p:sp>
        <p:nvSpPr>
          <p:cNvPr id="16" name="TextBox 15"/>
          <p:cNvSpPr txBox="1"/>
          <p:nvPr/>
        </p:nvSpPr>
        <p:spPr>
          <a:xfrm>
            <a:off x="2093976" y="3182112"/>
            <a:ext cx="1207008" cy="566928"/>
          </a:xfrm>
          <a:prstGeom prst="rect">
            <a:avLst/>
          </a:prstGeom>
          <a:noFill/>
        </p:spPr>
        <p:txBody>
          <a:bodyPr wrap="square" lIns="0" tIns="0" rIns="0" bIns="0" anchor="t">
            <a:spAutoFit/>
          </a:bodyPr>
          <a:lstStyle/>
          <a:p>
            <a:pPr algn="l"/>
            <a:r>
              <a:rPr sz="1200" b="1">
                <a:solidFill>
                  <a:srgbClr val="071327"/>
                </a:solidFill>
                <a:latin typeface="Arial"/>
              </a:rPr>
              <a:t>Filtering
and sorting</a:t>
            </a:r>
          </a:p>
        </p:txBody>
      </p:sp>
      <p:sp>
        <p:nvSpPr>
          <p:cNvPr id="17" name="TextBox 16"/>
          <p:cNvSpPr txBox="1"/>
          <p:nvPr/>
        </p:nvSpPr>
        <p:spPr>
          <a:xfrm>
            <a:off x="2093976" y="4041648"/>
            <a:ext cx="1188720" cy="1005840"/>
          </a:xfrm>
          <a:prstGeom prst="rect">
            <a:avLst/>
          </a:prstGeom>
          <a:noFill/>
        </p:spPr>
        <p:txBody>
          <a:bodyPr wrap="square" lIns="0" tIns="0" rIns="0" bIns="0" anchor="t">
            <a:spAutoFit/>
          </a:bodyPr>
          <a:lstStyle/>
          <a:p>
            <a:pPr algn="l"/>
            <a:r>
              <a:rPr sz="1000" b="0">
                <a:solidFill>
                  <a:srgbClr val="636F84"/>
                </a:solidFill>
                <a:latin typeface="Arial"/>
              </a:rPr>
              <a:t>WHERE
ORDER BY
LIMIT</a:t>
            </a:r>
          </a:p>
        </p:txBody>
      </p:sp>
      <p:sp>
        <p:nvSpPr>
          <p:cNvPr id="18" name="Rounded Rectangle 17"/>
          <p:cNvSpPr/>
          <p:nvPr/>
        </p:nvSpPr>
        <p:spPr>
          <a:xfrm>
            <a:off x="3602736" y="2514600"/>
            <a:ext cx="1444752" cy="2971800"/>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Oval 18"/>
          <p:cNvSpPr/>
          <p:nvPr/>
        </p:nvSpPr>
        <p:spPr>
          <a:xfrm>
            <a:off x="3721608" y="2670048"/>
            <a:ext cx="347472" cy="347472"/>
          </a:xfrm>
          <a:prstGeom prst="ellipse">
            <a:avLst/>
          </a:prstGeom>
          <a:solidFill>
            <a:srgbClr val="14C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3721608" y="2724912"/>
            <a:ext cx="347472" cy="164592"/>
          </a:xfrm>
          <a:prstGeom prst="rect">
            <a:avLst/>
          </a:prstGeom>
          <a:noFill/>
        </p:spPr>
        <p:txBody>
          <a:bodyPr wrap="square" lIns="0" tIns="0" rIns="0" bIns="0" anchor="t">
            <a:spAutoFit/>
          </a:bodyPr>
          <a:lstStyle/>
          <a:p>
            <a:pPr algn="ctr"/>
            <a:r>
              <a:rPr sz="1000" b="1">
                <a:solidFill>
                  <a:srgbClr val="FFFFFF"/>
                </a:solidFill>
                <a:latin typeface="Arial"/>
              </a:rPr>
              <a:t>3</a:t>
            </a:r>
          </a:p>
        </p:txBody>
      </p:sp>
      <p:sp>
        <p:nvSpPr>
          <p:cNvPr id="21" name="TextBox 20"/>
          <p:cNvSpPr txBox="1"/>
          <p:nvPr/>
        </p:nvSpPr>
        <p:spPr>
          <a:xfrm>
            <a:off x="3721608" y="3182112"/>
            <a:ext cx="1207008" cy="566928"/>
          </a:xfrm>
          <a:prstGeom prst="rect">
            <a:avLst/>
          </a:prstGeom>
          <a:noFill/>
        </p:spPr>
        <p:txBody>
          <a:bodyPr wrap="square" lIns="0" tIns="0" rIns="0" bIns="0" anchor="t">
            <a:spAutoFit/>
          </a:bodyPr>
          <a:lstStyle/>
          <a:p>
            <a:pPr algn="l"/>
            <a:r>
              <a:rPr sz="1200" b="1">
                <a:solidFill>
                  <a:srgbClr val="071327"/>
                </a:solidFill>
                <a:latin typeface="Arial"/>
              </a:rPr>
              <a:t>Aggregates
and groups</a:t>
            </a:r>
          </a:p>
        </p:txBody>
      </p:sp>
      <p:sp>
        <p:nvSpPr>
          <p:cNvPr id="22" name="TextBox 21"/>
          <p:cNvSpPr txBox="1"/>
          <p:nvPr/>
        </p:nvSpPr>
        <p:spPr>
          <a:xfrm>
            <a:off x="3721608" y="4041648"/>
            <a:ext cx="1188720" cy="1005840"/>
          </a:xfrm>
          <a:prstGeom prst="rect">
            <a:avLst/>
          </a:prstGeom>
          <a:noFill/>
        </p:spPr>
        <p:txBody>
          <a:bodyPr wrap="square" lIns="0" tIns="0" rIns="0" bIns="0" anchor="t">
            <a:spAutoFit/>
          </a:bodyPr>
          <a:lstStyle/>
          <a:p>
            <a:pPr algn="l"/>
            <a:r>
              <a:rPr sz="1000" b="0">
                <a:solidFill>
                  <a:srgbClr val="636F84"/>
                </a:solidFill>
                <a:latin typeface="Arial"/>
              </a:rPr>
              <a:t>Aggregate functions
GROUP BY</a:t>
            </a:r>
          </a:p>
        </p:txBody>
      </p:sp>
      <p:sp>
        <p:nvSpPr>
          <p:cNvPr id="23" name="Rounded Rectangle 22"/>
          <p:cNvSpPr/>
          <p:nvPr/>
        </p:nvSpPr>
        <p:spPr>
          <a:xfrm>
            <a:off x="5230368" y="2514600"/>
            <a:ext cx="1444752" cy="2971800"/>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Oval 23"/>
          <p:cNvSpPr/>
          <p:nvPr/>
        </p:nvSpPr>
        <p:spPr>
          <a:xfrm>
            <a:off x="5349240" y="2670048"/>
            <a:ext cx="347472" cy="347472"/>
          </a:xfrm>
          <a:prstGeom prst="ellipse">
            <a:avLst/>
          </a:prstGeom>
          <a:solidFill>
            <a:srgbClr val="14C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5349240" y="2724912"/>
            <a:ext cx="347472" cy="164592"/>
          </a:xfrm>
          <a:prstGeom prst="rect">
            <a:avLst/>
          </a:prstGeom>
          <a:noFill/>
        </p:spPr>
        <p:txBody>
          <a:bodyPr wrap="square" lIns="0" tIns="0" rIns="0" bIns="0" anchor="t">
            <a:spAutoFit/>
          </a:bodyPr>
          <a:lstStyle/>
          <a:p>
            <a:pPr algn="ctr"/>
            <a:r>
              <a:rPr sz="1000" b="1">
                <a:solidFill>
                  <a:srgbClr val="FFFFFF"/>
                </a:solidFill>
                <a:latin typeface="Arial"/>
              </a:rPr>
              <a:t>4</a:t>
            </a:r>
          </a:p>
        </p:txBody>
      </p:sp>
      <p:sp>
        <p:nvSpPr>
          <p:cNvPr id="26" name="TextBox 25"/>
          <p:cNvSpPr txBox="1"/>
          <p:nvPr/>
        </p:nvSpPr>
        <p:spPr>
          <a:xfrm>
            <a:off x="5349240" y="3182112"/>
            <a:ext cx="1207008" cy="566928"/>
          </a:xfrm>
          <a:prstGeom prst="rect">
            <a:avLst/>
          </a:prstGeom>
          <a:noFill/>
        </p:spPr>
        <p:txBody>
          <a:bodyPr wrap="square" lIns="0" tIns="0" rIns="0" bIns="0" anchor="t">
            <a:spAutoFit/>
          </a:bodyPr>
          <a:lstStyle/>
          <a:p>
            <a:pPr algn="l"/>
            <a:r>
              <a:rPr sz="1200" b="1">
                <a:solidFill>
                  <a:srgbClr val="071327"/>
                </a:solidFill>
                <a:latin typeface="Arial"/>
              </a:rPr>
              <a:t>Window
functions</a:t>
            </a:r>
          </a:p>
        </p:txBody>
      </p:sp>
      <p:sp>
        <p:nvSpPr>
          <p:cNvPr id="27" name="TextBox 26"/>
          <p:cNvSpPr txBox="1"/>
          <p:nvPr/>
        </p:nvSpPr>
        <p:spPr>
          <a:xfrm>
            <a:off x="5349240" y="4041648"/>
            <a:ext cx="1188720" cy="1005840"/>
          </a:xfrm>
          <a:prstGeom prst="rect">
            <a:avLst/>
          </a:prstGeom>
          <a:noFill/>
        </p:spPr>
        <p:txBody>
          <a:bodyPr wrap="square" lIns="0" tIns="0" rIns="0" bIns="0" anchor="t">
            <a:spAutoFit/>
          </a:bodyPr>
          <a:lstStyle/>
          <a:p>
            <a:pPr algn="l"/>
            <a:r>
              <a:rPr sz="1000" b="0">
                <a:solidFill>
                  <a:srgbClr val="636F84"/>
                </a:solidFill>
                <a:latin typeface="Arial"/>
              </a:rPr>
              <a:t>Running total
Ranking
Moving average</a:t>
            </a:r>
          </a:p>
        </p:txBody>
      </p:sp>
      <p:sp>
        <p:nvSpPr>
          <p:cNvPr id="28" name="Rounded Rectangle 27"/>
          <p:cNvSpPr/>
          <p:nvPr/>
        </p:nvSpPr>
        <p:spPr>
          <a:xfrm>
            <a:off x="6858000" y="2514600"/>
            <a:ext cx="1444752" cy="2971800"/>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Oval 28"/>
          <p:cNvSpPr/>
          <p:nvPr/>
        </p:nvSpPr>
        <p:spPr>
          <a:xfrm>
            <a:off x="6976872" y="2670048"/>
            <a:ext cx="347472" cy="347472"/>
          </a:xfrm>
          <a:prstGeom prst="ellipse">
            <a:avLst/>
          </a:prstGeom>
          <a:solidFill>
            <a:srgbClr val="14C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6976872" y="2724912"/>
            <a:ext cx="347472" cy="164592"/>
          </a:xfrm>
          <a:prstGeom prst="rect">
            <a:avLst/>
          </a:prstGeom>
          <a:noFill/>
        </p:spPr>
        <p:txBody>
          <a:bodyPr wrap="square" lIns="0" tIns="0" rIns="0" bIns="0" anchor="t">
            <a:spAutoFit/>
          </a:bodyPr>
          <a:lstStyle/>
          <a:p>
            <a:pPr algn="ctr"/>
            <a:r>
              <a:rPr sz="1000" b="1">
                <a:solidFill>
                  <a:srgbClr val="FFFFFF"/>
                </a:solidFill>
                <a:latin typeface="Arial"/>
              </a:rPr>
              <a:t>5</a:t>
            </a:r>
          </a:p>
        </p:txBody>
      </p:sp>
      <p:sp>
        <p:nvSpPr>
          <p:cNvPr id="31" name="TextBox 30"/>
          <p:cNvSpPr txBox="1"/>
          <p:nvPr/>
        </p:nvSpPr>
        <p:spPr>
          <a:xfrm>
            <a:off x="6976872" y="3182112"/>
            <a:ext cx="1207008" cy="566928"/>
          </a:xfrm>
          <a:prstGeom prst="rect">
            <a:avLst/>
          </a:prstGeom>
          <a:noFill/>
        </p:spPr>
        <p:txBody>
          <a:bodyPr wrap="square" lIns="0" tIns="0" rIns="0" bIns="0" anchor="t">
            <a:spAutoFit/>
          </a:bodyPr>
          <a:lstStyle/>
          <a:p>
            <a:pPr algn="l"/>
            <a:r>
              <a:rPr sz="1200" b="1">
                <a:solidFill>
                  <a:srgbClr val="071327"/>
                </a:solidFill>
                <a:latin typeface="Arial"/>
              </a:rPr>
              <a:t>Subqueries
and CTEs</a:t>
            </a:r>
          </a:p>
        </p:txBody>
      </p:sp>
      <p:sp>
        <p:nvSpPr>
          <p:cNvPr id="32" name="TextBox 31"/>
          <p:cNvSpPr txBox="1"/>
          <p:nvPr/>
        </p:nvSpPr>
        <p:spPr>
          <a:xfrm>
            <a:off x="6976872" y="4041648"/>
            <a:ext cx="1188720" cy="1005840"/>
          </a:xfrm>
          <a:prstGeom prst="rect">
            <a:avLst/>
          </a:prstGeom>
          <a:noFill/>
        </p:spPr>
        <p:txBody>
          <a:bodyPr wrap="square" lIns="0" tIns="0" rIns="0" bIns="0" anchor="t">
            <a:spAutoFit/>
          </a:bodyPr>
          <a:lstStyle/>
          <a:p>
            <a:pPr algn="l"/>
            <a:r>
              <a:rPr sz="1000" b="0">
                <a:solidFill>
                  <a:srgbClr val="636F84"/>
                </a:solidFill>
                <a:latin typeface="Arial"/>
              </a:rPr>
              <a:t>Subqueries
CTEs
Real examples</a:t>
            </a:r>
          </a:p>
        </p:txBody>
      </p:sp>
      <p:sp>
        <p:nvSpPr>
          <p:cNvPr id="33" name="Rounded Rectangle 32"/>
          <p:cNvSpPr/>
          <p:nvPr/>
        </p:nvSpPr>
        <p:spPr>
          <a:xfrm>
            <a:off x="8485632" y="2514600"/>
            <a:ext cx="1444752" cy="2971800"/>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Oval 33"/>
          <p:cNvSpPr/>
          <p:nvPr/>
        </p:nvSpPr>
        <p:spPr>
          <a:xfrm>
            <a:off x="8604504" y="2670048"/>
            <a:ext cx="347472" cy="347472"/>
          </a:xfrm>
          <a:prstGeom prst="ellipse">
            <a:avLst/>
          </a:prstGeom>
          <a:solidFill>
            <a:srgbClr val="14C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8604504" y="2724912"/>
            <a:ext cx="347472" cy="164592"/>
          </a:xfrm>
          <a:prstGeom prst="rect">
            <a:avLst/>
          </a:prstGeom>
          <a:noFill/>
        </p:spPr>
        <p:txBody>
          <a:bodyPr wrap="square" lIns="0" tIns="0" rIns="0" bIns="0" anchor="t">
            <a:spAutoFit/>
          </a:bodyPr>
          <a:lstStyle/>
          <a:p>
            <a:pPr algn="ctr"/>
            <a:r>
              <a:rPr sz="1000" b="1">
                <a:solidFill>
                  <a:srgbClr val="FFFFFF"/>
                </a:solidFill>
                <a:latin typeface="Arial"/>
              </a:rPr>
              <a:t>6</a:t>
            </a:r>
          </a:p>
        </p:txBody>
      </p:sp>
      <p:sp>
        <p:nvSpPr>
          <p:cNvPr id="36" name="TextBox 35"/>
          <p:cNvSpPr txBox="1"/>
          <p:nvPr/>
        </p:nvSpPr>
        <p:spPr>
          <a:xfrm>
            <a:off x="8604504" y="3182112"/>
            <a:ext cx="1207008" cy="566928"/>
          </a:xfrm>
          <a:prstGeom prst="rect">
            <a:avLst/>
          </a:prstGeom>
          <a:noFill/>
        </p:spPr>
        <p:txBody>
          <a:bodyPr wrap="square" lIns="0" tIns="0" rIns="0" bIns="0" anchor="t">
            <a:spAutoFit/>
          </a:bodyPr>
          <a:lstStyle/>
          <a:p>
            <a:pPr algn="l"/>
            <a:r>
              <a:rPr sz="1200" b="1">
                <a:solidFill>
                  <a:srgbClr val="071327"/>
                </a:solidFill>
                <a:latin typeface="Arial"/>
              </a:rPr>
              <a:t>Joins, unions
and other stuff</a:t>
            </a:r>
          </a:p>
        </p:txBody>
      </p:sp>
      <p:sp>
        <p:nvSpPr>
          <p:cNvPr id="37" name="TextBox 36"/>
          <p:cNvSpPr txBox="1"/>
          <p:nvPr/>
        </p:nvSpPr>
        <p:spPr>
          <a:xfrm>
            <a:off x="8604504" y="4041648"/>
            <a:ext cx="1188720" cy="1005840"/>
          </a:xfrm>
          <a:prstGeom prst="rect">
            <a:avLst/>
          </a:prstGeom>
          <a:noFill/>
        </p:spPr>
        <p:txBody>
          <a:bodyPr wrap="square" lIns="0" tIns="0" rIns="0" bIns="0" anchor="t">
            <a:spAutoFit/>
          </a:bodyPr>
          <a:lstStyle/>
          <a:p>
            <a:pPr algn="l"/>
            <a:r>
              <a:rPr sz="1000" b="0">
                <a:solidFill>
                  <a:srgbClr val="636F84"/>
                </a:solidFill>
                <a:latin typeface="Arial"/>
              </a:rPr>
              <a:t>JOINS
UNION
Transactions</a:t>
            </a:r>
          </a:p>
        </p:txBody>
      </p:sp>
      <p:sp>
        <p:nvSpPr>
          <p:cNvPr id="38" name="Rounded Rectangle 37"/>
          <p:cNvSpPr/>
          <p:nvPr/>
        </p:nvSpPr>
        <p:spPr>
          <a:xfrm>
            <a:off x="10113264" y="2514600"/>
            <a:ext cx="1444752" cy="2971800"/>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Oval 38"/>
          <p:cNvSpPr/>
          <p:nvPr/>
        </p:nvSpPr>
        <p:spPr>
          <a:xfrm>
            <a:off x="10232136" y="2670048"/>
            <a:ext cx="347472" cy="347472"/>
          </a:xfrm>
          <a:prstGeom prst="ellipse">
            <a:avLst/>
          </a:prstGeom>
          <a:solidFill>
            <a:srgbClr val="14C7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39"/>
          <p:cNvSpPr txBox="1"/>
          <p:nvPr/>
        </p:nvSpPr>
        <p:spPr>
          <a:xfrm>
            <a:off x="10232136" y="2724912"/>
            <a:ext cx="347472" cy="164592"/>
          </a:xfrm>
          <a:prstGeom prst="rect">
            <a:avLst/>
          </a:prstGeom>
          <a:noFill/>
        </p:spPr>
        <p:txBody>
          <a:bodyPr wrap="square" lIns="0" tIns="0" rIns="0" bIns="0" anchor="t">
            <a:spAutoFit/>
          </a:bodyPr>
          <a:lstStyle/>
          <a:p>
            <a:pPr algn="ctr"/>
            <a:r>
              <a:rPr sz="1000" b="1">
                <a:solidFill>
                  <a:srgbClr val="FFFFFF"/>
                </a:solidFill>
                <a:latin typeface="Arial"/>
              </a:rPr>
              <a:t>7</a:t>
            </a:r>
          </a:p>
        </p:txBody>
      </p:sp>
      <p:sp>
        <p:nvSpPr>
          <p:cNvPr id="41" name="TextBox 40"/>
          <p:cNvSpPr txBox="1"/>
          <p:nvPr/>
        </p:nvSpPr>
        <p:spPr>
          <a:xfrm>
            <a:off x="10232136" y="3182112"/>
            <a:ext cx="1207008" cy="566928"/>
          </a:xfrm>
          <a:prstGeom prst="rect">
            <a:avLst/>
          </a:prstGeom>
          <a:noFill/>
        </p:spPr>
        <p:txBody>
          <a:bodyPr wrap="square" lIns="0" tIns="0" rIns="0" bIns="0" anchor="t">
            <a:spAutoFit/>
          </a:bodyPr>
          <a:lstStyle/>
          <a:p>
            <a:pPr algn="l"/>
            <a:r>
              <a:rPr sz="1200" b="1">
                <a:solidFill>
                  <a:srgbClr val="071327"/>
                </a:solidFill>
                <a:latin typeface="Arial"/>
              </a:rPr>
              <a:t>Wrap-up
and Q&amp;A</a:t>
            </a:r>
          </a:p>
        </p:txBody>
      </p:sp>
      <p:sp>
        <p:nvSpPr>
          <p:cNvPr id="42" name="TextBox 41"/>
          <p:cNvSpPr txBox="1"/>
          <p:nvPr/>
        </p:nvSpPr>
        <p:spPr>
          <a:xfrm>
            <a:off x="10232136" y="4041648"/>
            <a:ext cx="1188720" cy="1005840"/>
          </a:xfrm>
          <a:prstGeom prst="rect">
            <a:avLst/>
          </a:prstGeom>
          <a:noFill/>
        </p:spPr>
        <p:txBody>
          <a:bodyPr wrap="square" lIns="0" tIns="0" rIns="0" bIns="0" anchor="t">
            <a:spAutoFit/>
          </a:bodyPr>
          <a:lstStyle/>
          <a:p>
            <a:pPr algn="l"/>
            <a:r>
              <a:rPr sz="1000" b="0">
                <a:solidFill>
                  <a:srgbClr val="636F84"/>
                </a:solidFill>
                <a:latin typeface="Arial"/>
              </a:rPr>
              <a:t>Key takeaways
Practice ideas
Your questions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5.png"/>
          <p:cNvPicPr>
            <a:picLocks noChangeAspect="1"/>
          </p:cNvPicPr>
          <p:nvPr/>
        </p:nvPicPr>
        <p:blipFill>
          <a:blip r:embed="rId2"/>
          <a:stretch>
            <a:fillRect/>
          </a:stretch>
        </p:blipFill>
        <p:spPr>
          <a:xfrm>
            <a:off x="9646920" y="0"/>
            <a:ext cx="2542032" cy="1344168"/>
          </a:xfrm>
          <a:prstGeom prst="rect">
            <a:avLst/>
          </a:prstGeom>
        </p:spPr>
      </p:pic>
      <p:pic>
        <p:nvPicPr>
          <p:cNvPr id="3" name="Picture 2" descr="image2.png"/>
          <p:cNvPicPr>
            <a:picLocks noChangeAspect="1"/>
          </p:cNvPicPr>
          <p:nvPr/>
        </p:nvPicPr>
        <p:blipFill>
          <a:blip r:embed="rId3"/>
          <a:stretch>
            <a:fillRect/>
          </a:stretch>
        </p:blipFill>
        <p:spPr>
          <a:xfrm>
            <a:off x="256032" y="201168"/>
            <a:ext cx="201168" cy="201168"/>
          </a:xfrm>
          <a:prstGeom prst="rect">
            <a:avLst/>
          </a:prstGeom>
        </p:spPr>
      </p:pic>
      <p:sp>
        <p:nvSpPr>
          <p:cNvPr id="4" name="TextBox 3"/>
          <p:cNvSpPr txBox="1"/>
          <p:nvPr/>
        </p:nvSpPr>
        <p:spPr>
          <a:xfrm>
            <a:off x="566928" y="384048"/>
            <a:ext cx="10241280" cy="658368"/>
          </a:xfrm>
          <a:prstGeom prst="rect">
            <a:avLst/>
          </a:prstGeom>
          <a:noFill/>
        </p:spPr>
        <p:txBody>
          <a:bodyPr wrap="square" anchor="t">
            <a:spAutoFit/>
          </a:bodyPr>
          <a:lstStyle/>
          <a:p>
            <a:pPr algn="l"/>
            <a:r>
              <a:rPr sz="3000" b="1">
                <a:solidFill>
                  <a:srgbClr val="080808"/>
                </a:solidFill>
                <a:latin typeface="Arial"/>
              </a:rPr>
              <a:t>The database we’ll use</a:t>
            </a:r>
          </a:p>
        </p:txBody>
      </p:sp>
      <p:sp>
        <p:nvSpPr>
          <p:cNvPr id="5" name="TextBox 4"/>
          <p:cNvSpPr txBox="1"/>
          <p:nvPr/>
        </p:nvSpPr>
        <p:spPr>
          <a:xfrm>
            <a:off x="594360" y="1033271"/>
            <a:ext cx="10058400" cy="347472"/>
          </a:xfrm>
          <a:prstGeom prst="rect">
            <a:avLst/>
          </a:prstGeom>
          <a:noFill/>
        </p:spPr>
        <p:txBody>
          <a:bodyPr wrap="square" anchor="t">
            <a:spAutoFit/>
          </a:bodyPr>
          <a:lstStyle/>
          <a:p>
            <a:pPr algn="l"/>
            <a:r>
              <a:rPr sz="1300" b="0">
                <a:solidFill>
                  <a:srgbClr val="697076"/>
                </a:solidFill>
                <a:latin typeface="Arial"/>
              </a:rPr>
              <a:t>A Spotify catalogue sample, 1922–2021. We’ll work with four related tables.</a:t>
            </a:r>
          </a:p>
        </p:txBody>
      </p:sp>
      <p:sp>
        <p:nvSpPr>
          <p:cNvPr id="6" name="TextBox 5"/>
          <p:cNvSpPr txBox="1"/>
          <p:nvPr/>
        </p:nvSpPr>
        <p:spPr>
          <a:xfrm>
            <a:off x="566928" y="6510528"/>
            <a:ext cx="4114800" cy="201168"/>
          </a:xfrm>
          <a:prstGeom prst="rect">
            <a:avLst/>
          </a:prstGeom>
          <a:noFill/>
        </p:spPr>
        <p:txBody>
          <a:bodyPr wrap="square" anchor="t">
            <a:spAutoFit/>
          </a:bodyPr>
          <a:lstStyle/>
          <a:p>
            <a:pPr algn="l"/>
            <a:r>
              <a:rPr sz="850" b="1">
                <a:solidFill>
                  <a:srgbClr val="697076"/>
                </a:solidFill>
                <a:latin typeface="Arial"/>
              </a:rPr>
              <a:t>0 · PRELIMINARIES</a:t>
            </a:r>
          </a:p>
        </p:txBody>
      </p:sp>
      <p:sp>
        <p:nvSpPr>
          <p:cNvPr id="7" name="TextBox 6"/>
          <p:cNvSpPr txBox="1"/>
          <p:nvPr/>
        </p:nvSpPr>
        <p:spPr>
          <a:xfrm>
            <a:off x="11018520" y="6473952"/>
            <a:ext cx="502920" cy="219456"/>
          </a:xfrm>
          <a:prstGeom prst="rect">
            <a:avLst/>
          </a:prstGeom>
          <a:noFill/>
        </p:spPr>
        <p:txBody>
          <a:bodyPr wrap="square" anchor="t">
            <a:spAutoFit/>
          </a:bodyPr>
          <a:lstStyle/>
          <a:p>
            <a:pPr algn="r"/>
            <a:fld id="{B6F15528-21DE-4FAA-801E-634DDDAF4B2B}" type="slidenum">
              <a:rPr sz="900" b="1">
                <a:solidFill>
                  <a:srgbClr val="697076"/>
                </a:solidFill>
                <a:latin typeface="Arial"/>
              </a:rPr>
              <a:t>5</a:t>
            </a:fld>
          </a:p>
        </p:txBody>
      </p:sp>
      <p:sp>
        <p:nvSpPr>
          <p:cNvPr id="8" name="Rounded Rectangle 7"/>
          <p:cNvSpPr/>
          <p:nvPr/>
        </p:nvSpPr>
        <p:spPr>
          <a:xfrm>
            <a:off x="685800" y="1828800"/>
            <a:ext cx="2743200" cy="1051560"/>
          </a:xfrm>
          <a:prstGeom prst="roundRect">
            <a:avLst/>
          </a:prstGeom>
          <a:solidFill>
            <a:srgbClr val="FFFFFF"/>
          </a:solidFill>
          <a:ln>
            <a:solidFill>
              <a:srgbClr val="08080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850392" y="1993392"/>
            <a:ext cx="2414016" cy="274320"/>
          </a:xfrm>
          <a:prstGeom prst="rect">
            <a:avLst/>
          </a:prstGeom>
          <a:noFill/>
        </p:spPr>
        <p:txBody>
          <a:bodyPr wrap="square" anchor="t">
            <a:spAutoFit/>
          </a:bodyPr>
          <a:lstStyle/>
          <a:p>
            <a:pPr algn="l"/>
            <a:r>
              <a:rPr sz="1800" b="1">
                <a:solidFill>
                  <a:srgbClr val="080808"/>
                </a:solidFill>
                <a:latin typeface="Arial"/>
              </a:rPr>
              <a:t>artists</a:t>
            </a:r>
          </a:p>
        </p:txBody>
      </p:sp>
      <p:sp>
        <p:nvSpPr>
          <p:cNvPr id="10" name="TextBox 9"/>
          <p:cNvSpPr txBox="1"/>
          <p:nvPr/>
        </p:nvSpPr>
        <p:spPr>
          <a:xfrm>
            <a:off x="850392" y="2359152"/>
            <a:ext cx="2414016" cy="219456"/>
          </a:xfrm>
          <a:prstGeom prst="rect">
            <a:avLst/>
          </a:prstGeom>
          <a:noFill/>
        </p:spPr>
        <p:txBody>
          <a:bodyPr wrap="square" anchor="t">
            <a:spAutoFit/>
          </a:bodyPr>
          <a:lstStyle/>
          <a:p>
            <a:pPr algn="l"/>
            <a:r>
              <a:rPr sz="1100" b="0">
                <a:solidFill>
                  <a:srgbClr val="697076"/>
                </a:solidFill>
                <a:latin typeface="Arial"/>
              </a:rPr>
              <a:t>27,385 rows</a:t>
            </a:r>
          </a:p>
        </p:txBody>
      </p:sp>
      <p:sp>
        <p:nvSpPr>
          <p:cNvPr id="11" name="Rounded Rectangle 10"/>
          <p:cNvSpPr/>
          <p:nvPr/>
        </p:nvSpPr>
        <p:spPr>
          <a:xfrm>
            <a:off x="8138160" y="1828800"/>
            <a:ext cx="2743200" cy="1051560"/>
          </a:xfrm>
          <a:prstGeom prst="roundRect">
            <a:avLst/>
          </a:prstGeom>
          <a:solidFill>
            <a:srgbClr val="FFFFFF"/>
          </a:solidFill>
          <a:ln>
            <a:solidFill>
              <a:srgbClr val="08080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8302752" y="1993392"/>
            <a:ext cx="2414016" cy="274320"/>
          </a:xfrm>
          <a:prstGeom prst="rect">
            <a:avLst/>
          </a:prstGeom>
          <a:noFill/>
        </p:spPr>
        <p:txBody>
          <a:bodyPr wrap="square" anchor="t">
            <a:spAutoFit/>
          </a:bodyPr>
          <a:lstStyle/>
          <a:p>
            <a:pPr algn="l"/>
            <a:r>
              <a:rPr sz="1800" b="1">
                <a:solidFill>
                  <a:srgbClr val="080808"/>
                </a:solidFill>
                <a:latin typeface="Arial"/>
              </a:rPr>
              <a:t>tracks</a:t>
            </a:r>
          </a:p>
        </p:txBody>
      </p:sp>
      <p:sp>
        <p:nvSpPr>
          <p:cNvPr id="13" name="TextBox 12"/>
          <p:cNvSpPr txBox="1"/>
          <p:nvPr/>
        </p:nvSpPr>
        <p:spPr>
          <a:xfrm>
            <a:off x="8302752" y="2359152"/>
            <a:ext cx="2414016" cy="219456"/>
          </a:xfrm>
          <a:prstGeom prst="rect">
            <a:avLst/>
          </a:prstGeom>
          <a:noFill/>
        </p:spPr>
        <p:txBody>
          <a:bodyPr wrap="square" anchor="t">
            <a:spAutoFit/>
          </a:bodyPr>
          <a:lstStyle/>
          <a:p>
            <a:pPr algn="l"/>
            <a:r>
              <a:rPr sz="1100" b="0">
                <a:solidFill>
                  <a:srgbClr val="697076"/>
                </a:solidFill>
                <a:latin typeface="Arial"/>
              </a:rPr>
              <a:t>60,000 rows</a:t>
            </a:r>
          </a:p>
        </p:txBody>
      </p:sp>
      <p:sp>
        <p:nvSpPr>
          <p:cNvPr id="14" name="Rounded Rectangle 13"/>
          <p:cNvSpPr/>
          <p:nvPr/>
        </p:nvSpPr>
        <p:spPr>
          <a:xfrm>
            <a:off x="4434840" y="1463040"/>
            <a:ext cx="2743200" cy="914400"/>
          </a:xfrm>
          <a:prstGeom prst="roundRect">
            <a:avLst/>
          </a:prstGeom>
          <a:solidFill>
            <a:srgbClr val="FFFFFF"/>
          </a:solidFill>
          <a:ln>
            <a:solidFill>
              <a:srgbClr val="08080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4599431" y="1627632"/>
            <a:ext cx="2414016" cy="274320"/>
          </a:xfrm>
          <a:prstGeom prst="rect">
            <a:avLst/>
          </a:prstGeom>
          <a:noFill/>
        </p:spPr>
        <p:txBody>
          <a:bodyPr wrap="square" anchor="t">
            <a:spAutoFit/>
          </a:bodyPr>
          <a:lstStyle/>
          <a:p>
            <a:pPr algn="l"/>
            <a:r>
              <a:rPr sz="1800" b="1">
                <a:solidFill>
                  <a:srgbClr val="080808"/>
                </a:solidFill>
                <a:latin typeface="Arial"/>
              </a:rPr>
              <a:t>track_artists</a:t>
            </a:r>
          </a:p>
        </p:txBody>
      </p:sp>
      <p:sp>
        <p:nvSpPr>
          <p:cNvPr id="16" name="TextBox 15"/>
          <p:cNvSpPr txBox="1"/>
          <p:nvPr/>
        </p:nvSpPr>
        <p:spPr>
          <a:xfrm>
            <a:off x="4599431" y="1993392"/>
            <a:ext cx="2414016" cy="219456"/>
          </a:xfrm>
          <a:prstGeom prst="rect">
            <a:avLst/>
          </a:prstGeom>
          <a:noFill/>
        </p:spPr>
        <p:txBody>
          <a:bodyPr wrap="square" anchor="t">
            <a:spAutoFit/>
          </a:bodyPr>
          <a:lstStyle/>
          <a:p>
            <a:pPr algn="l"/>
            <a:r>
              <a:rPr sz="1100" b="0">
                <a:solidFill>
                  <a:srgbClr val="697076"/>
                </a:solidFill>
                <a:latin typeface="Arial"/>
              </a:rPr>
              <a:t>74,624 rows</a:t>
            </a:r>
          </a:p>
        </p:txBody>
      </p:sp>
      <p:sp>
        <p:nvSpPr>
          <p:cNvPr id="17" name="Rounded Rectangle 16"/>
          <p:cNvSpPr/>
          <p:nvPr/>
        </p:nvSpPr>
        <p:spPr>
          <a:xfrm>
            <a:off x="685800" y="4069080"/>
            <a:ext cx="2743200" cy="914400"/>
          </a:xfrm>
          <a:prstGeom prst="roundRect">
            <a:avLst/>
          </a:prstGeom>
          <a:solidFill>
            <a:srgbClr val="FFFFFF"/>
          </a:solidFill>
          <a:ln>
            <a:solidFill>
              <a:srgbClr val="08080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850392" y="4233672"/>
            <a:ext cx="2414016" cy="274320"/>
          </a:xfrm>
          <a:prstGeom prst="rect">
            <a:avLst/>
          </a:prstGeom>
          <a:noFill/>
        </p:spPr>
        <p:txBody>
          <a:bodyPr wrap="square" anchor="t">
            <a:spAutoFit/>
          </a:bodyPr>
          <a:lstStyle/>
          <a:p>
            <a:pPr algn="l"/>
            <a:r>
              <a:rPr sz="1800" b="1">
                <a:solidFill>
                  <a:srgbClr val="080808"/>
                </a:solidFill>
                <a:latin typeface="Arial"/>
              </a:rPr>
              <a:t>artist_related</a:t>
            </a:r>
          </a:p>
        </p:txBody>
      </p:sp>
      <p:sp>
        <p:nvSpPr>
          <p:cNvPr id="19" name="TextBox 18"/>
          <p:cNvSpPr txBox="1"/>
          <p:nvPr/>
        </p:nvSpPr>
        <p:spPr>
          <a:xfrm>
            <a:off x="850392" y="4599432"/>
            <a:ext cx="2414016" cy="219456"/>
          </a:xfrm>
          <a:prstGeom prst="rect">
            <a:avLst/>
          </a:prstGeom>
          <a:noFill/>
        </p:spPr>
        <p:txBody>
          <a:bodyPr wrap="square" anchor="t">
            <a:spAutoFit/>
          </a:bodyPr>
          <a:lstStyle/>
          <a:p>
            <a:pPr algn="l"/>
            <a:r>
              <a:rPr sz="1100" b="0">
                <a:solidFill>
                  <a:srgbClr val="697076"/>
                </a:solidFill>
                <a:latin typeface="Arial"/>
              </a:rPr>
              <a:t>210,844 rows</a:t>
            </a:r>
          </a:p>
        </p:txBody>
      </p:sp>
      <p:sp>
        <p:nvSpPr>
          <p:cNvPr id="23" name="TextBox 22"/>
          <p:cNvSpPr txBox="1"/>
          <p:nvPr/>
        </p:nvSpPr>
        <p:spPr>
          <a:xfrm>
            <a:off x="3889390" y="3822191"/>
            <a:ext cx="4754880" cy="365760"/>
          </a:xfrm>
          <a:prstGeom prst="rect">
            <a:avLst/>
          </a:prstGeom>
          <a:noFill/>
        </p:spPr>
        <p:txBody>
          <a:bodyPr wrap="square" anchor="t">
            <a:spAutoFit/>
          </a:bodyPr>
          <a:lstStyle/>
          <a:p>
            <a:pPr algn="l"/>
            <a:r>
              <a:rPr sz="1600" b="1" dirty="0">
                <a:solidFill>
                  <a:srgbClr val="080808"/>
                </a:solidFill>
                <a:latin typeface="Courier New"/>
              </a:rPr>
              <a:t>artists  ──&lt;  </a:t>
            </a:r>
            <a:r>
              <a:rPr sz="1600" b="1" dirty="0" err="1">
                <a:solidFill>
                  <a:srgbClr val="080808"/>
                </a:solidFill>
                <a:latin typeface="Courier New"/>
              </a:rPr>
              <a:t>track_artists</a:t>
            </a:r>
            <a:r>
              <a:rPr sz="1600" b="1" dirty="0">
                <a:solidFill>
                  <a:srgbClr val="080808"/>
                </a:solidFill>
                <a:latin typeface="Courier New"/>
              </a:rPr>
              <a:t>  &gt;──  tracks</a:t>
            </a:r>
          </a:p>
        </p:txBody>
      </p:sp>
      <p:sp>
        <p:nvSpPr>
          <p:cNvPr id="24" name="TextBox 23"/>
          <p:cNvSpPr txBox="1"/>
          <p:nvPr/>
        </p:nvSpPr>
        <p:spPr>
          <a:xfrm>
            <a:off x="3889390" y="4462271"/>
            <a:ext cx="5943600" cy="457200"/>
          </a:xfrm>
          <a:prstGeom prst="rect">
            <a:avLst/>
          </a:prstGeom>
          <a:noFill/>
        </p:spPr>
        <p:txBody>
          <a:bodyPr wrap="square" anchor="t">
            <a:spAutoFit/>
          </a:bodyPr>
          <a:lstStyle/>
          <a:p>
            <a:pPr algn="l"/>
            <a:r>
              <a:rPr sz="1600" b="0" dirty="0">
                <a:solidFill>
                  <a:srgbClr val="697076"/>
                </a:solidFill>
                <a:latin typeface="Arial"/>
              </a:rPr>
              <a:t>Each table has its own grain. Bridge tables store relationships between entities.</a:t>
            </a:r>
          </a:p>
        </p:txBody>
      </p:sp>
      <p:cxnSp>
        <p:nvCxnSpPr>
          <p:cNvPr id="28" name="Connector 27"/>
          <p:cNvCxnSpPr/>
          <p:nvPr/>
        </p:nvCxnSpPr>
        <p:spPr>
          <a:xfrm flipV="1">
            <a:off x="3429000" y="1938528"/>
            <a:ext cx="1005840" cy="420624"/>
          </a:xfrm>
          <a:prstGeom prst="line">
            <a:avLst/>
          </a:prstGeom>
          <a:ln w="22860">
            <a:solidFill>
              <a:srgbClr val="13C5C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178040" y="1938528"/>
            <a:ext cx="960120" cy="420624"/>
          </a:xfrm>
          <a:prstGeom prst="line">
            <a:avLst/>
          </a:prstGeom>
          <a:ln w="22860">
            <a:solidFill>
              <a:srgbClr val="13C5C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057400" y="2880360"/>
            <a:ext cx="0" cy="1188720"/>
          </a:xfrm>
          <a:prstGeom prst="line">
            <a:avLst/>
          </a:prstGeom>
          <a:ln w="22860">
            <a:solidFill>
              <a:srgbClr val="13C5C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5.png"/>
          <p:cNvPicPr>
            <a:picLocks noChangeAspect="1"/>
          </p:cNvPicPr>
          <p:nvPr/>
        </p:nvPicPr>
        <p:blipFill>
          <a:blip r:embed="rId2"/>
          <a:stretch>
            <a:fillRect/>
          </a:stretch>
        </p:blipFill>
        <p:spPr>
          <a:xfrm>
            <a:off x="9646920" y="0"/>
            <a:ext cx="2542032" cy="1344168"/>
          </a:xfrm>
          <a:prstGeom prst="rect">
            <a:avLst/>
          </a:prstGeom>
        </p:spPr>
      </p:pic>
      <p:pic>
        <p:nvPicPr>
          <p:cNvPr id="3" name="Picture 2" descr="image2.png"/>
          <p:cNvPicPr>
            <a:picLocks noChangeAspect="1"/>
          </p:cNvPicPr>
          <p:nvPr/>
        </p:nvPicPr>
        <p:blipFill>
          <a:blip r:embed="rId3"/>
          <a:stretch>
            <a:fillRect/>
          </a:stretch>
        </p:blipFill>
        <p:spPr>
          <a:xfrm>
            <a:off x="256032" y="201168"/>
            <a:ext cx="201168" cy="201168"/>
          </a:xfrm>
          <a:prstGeom prst="rect">
            <a:avLst/>
          </a:prstGeom>
        </p:spPr>
      </p:pic>
      <p:sp>
        <p:nvSpPr>
          <p:cNvPr id="4" name="TextBox 3"/>
          <p:cNvSpPr txBox="1"/>
          <p:nvPr/>
        </p:nvSpPr>
        <p:spPr>
          <a:xfrm>
            <a:off x="566928" y="384048"/>
            <a:ext cx="10241280" cy="658368"/>
          </a:xfrm>
          <a:prstGeom prst="rect">
            <a:avLst/>
          </a:prstGeom>
          <a:noFill/>
        </p:spPr>
        <p:txBody>
          <a:bodyPr wrap="square" anchor="t">
            <a:spAutoFit/>
          </a:bodyPr>
          <a:lstStyle/>
          <a:p>
            <a:pPr algn="l"/>
            <a:r>
              <a:rPr sz="3000" b="1">
                <a:solidFill>
                  <a:srgbClr val="080808"/>
                </a:solidFill>
                <a:latin typeface="Arial"/>
              </a:rPr>
              <a:t>Data types affect query results</a:t>
            </a:r>
          </a:p>
        </p:txBody>
      </p:sp>
      <p:sp>
        <p:nvSpPr>
          <p:cNvPr id="5" name="TextBox 4"/>
          <p:cNvSpPr txBox="1"/>
          <p:nvPr/>
        </p:nvSpPr>
        <p:spPr>
          <a:xfrm>
            <a:off x="566928" y="6510528"/>
            <a:ext cx="4114800" cy="201168"/>
          </a:xfrm>
          <a:prstGeom prst="rect">
            <a:avLst/>
          </a:prstGeom>
          <a:noFill/>
        </p:spPr>
        <p:txBody>
          <a:bodyPr wrap="square" anchor="t">
            <a:spAutoFit/>
          </a:bodyPr>
          <a:lstStyle/>
          <a:p>
            <a:pPr algn="l"/>
            <a:r>
              <a:rPr sz="850" b="1">
                <a:solidFill>
                  <a:srgbClr val="697076"/>
                </a:solidFill>
                <a:latin typeface="Arial"/>
              </a:rPr>
              <a:t>0 · PRELIMINARIES</a:t>
            </a:r>
          </a:p>
        </p:txBody>
      </p:sp>
      <p:sp>
        <p:nvSpPr>
          <p:cNvPr id="6" name="TextBox 5"/>
          <p:cNvSpPr txBox="1"/>
          <p:nvPr/>
        </p:nvSpPr>
        <p:spPr>
          <a:xfrm>
            <a:off x="11018520" y="6473952"/>
            <a:ext cx="502920" cy="219456"/>
          </a:xfrm>
          <a:prstGeom prst="rect">
            <a:avLst/>
          </a:prstGeom>
          <a:noFill/>
        </p:spPr>
        <p:txBody>
          <a:bodyPr wrap="square" anchor="t">
            <a:spAutoFit/>
          </a:bodyPr>
          <a:lstStyle/>
          <a:p>
            <a:pPr algn="r"/>
            <a:fld id="{B6F15528-21DE-4FAA-801E-634DDDAF4B2B}" type="slidenum">
              <a:rPr sz="900" b="1">
                <a:solidFill>
                  <a:srgbClr val="697076"/>
                </a:solidFill>
                <a:latin typeface="Arial"/>
              </a:rPr>
              <a:t>6</a:t>
            </a:fld>
          </a:p>
        </p:txBody>
      </p:sp>
      <p:sp>
        <p:nvSpPr>
          <p:cNvPr id="7" name="Rounded Rectangle 6"/>
          <p:cNvSpPr/>
          <p:nvPr/>
        </p:nvSpPr>
        <p:spPr>
          <a:xfrm>
            <a:off x="685800" y="1645920"/>
            <a:ext cx="2487168" cy="960120"/>
          </a:xfrm>
          <a:prstGeom prst="round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32104" y="1847088"/>
            <a:ext cx="2194560" cy="228600"/>
          </a:xfrm>
          <a:prstGeom prst="rect">
            <a:avLst/>
          </a:prstGeom>
          <a:noFill/>
        </p:spPr>
        <p:txBody>
          <a:bodyPr wrap="square" anchor="t">
            <a:spAutoFit/>
          </a:bodyPr>
          <a:lstStyle/>
          <a:p>
            <a:pPr algn="l"/>
            <a:r>
              <a:rPr sz="1300" b="1">
                <a:solidFill>
                  <a:srgbClr val="13C5CF"/>
                </a:solidFill>
                <a:latin typeface="Arial"/>
              </a:rPr>
              <a:t>NUMERIC</a:t>
            </a:r>
          </a:p>
        </p:txBody>
      </p:sp>
      <p:sp>
        <p:nvSpPr>
          <p:cNvPr id="9" name="TextBox 8"/>
          <p:cNvSpPr txBox="1"/>
          <p:nvPr/>
        </p:nvSpPr>
        <p:spPr>
          <a:xfrm>
            <a:off x="832104" y="2176272"/>
            <a:ext cx="2194560" cy="228600"/>
          </a:xfrm>
          <a:prstGeom prst="rect">
            <a:avLst/>
          </a:prstGeom>
          <a:noFill/>
        </p:spPr>
        <p:txBody>
          <a:bodyPr wrap="square" anchor="t">
            <a:spAutoFit/>
          </a:bodyPr>
          <a:lstStyle/>
          <a:p>
            <a:pPr algn="l"/>
            <a:r>
              <a:rPr sz="1100" b="0">
                <a:solidFill>
                  <a:srgbClr val="080808"/>
                </a:solidFill>
                <a:latin typeface="Arial"/>
              </a:rPr>
              <a:t>INTEGER · BIGINT · REAL</a:t>
            </a:r>
          </a:p>
        </p:txBody>
      </p:sp>
      <p:sp>
        <p:nvSpPr>
          <p:cNvPr id="10" name="Rounded Rectangle 9"/>
          <p:cNvSpPr/>
          <p:nvPr/>
        </p:nvSpPr>
        <p:spPr>
          <a:xfrm>
            <a:off x="3474720" y="1645920"/>
            <a:ext cx="2487168" cy="960120"/>
          </a:xfrm>
          <a:prstGeom prst="round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621024" y="1847088"/>
            <a:ext cx="2194560" cy="228600"/>
          </a:xfrm>
          <a:prstGeom prst="rect">
            <a:avLst/>
          </a:prstGeom>
          <a:noFill/>
        </p:spPr>
        <p:txBody>
          <a:bodyPr wrap="square" anchor="t">
            <a:spAutoFit/>
          </a:bodyPr>
          <a:lstStyle/>
          <a:p>
            <a:pPr algn="l"/>
            <a:r>
              <a:rPr sz="1300" b="1">
                <a:solidFill>
                  <a:srgbClr val="13C5CF"/>
                </a:solidFill>
                <a:latin typeface="Arial"/>
              </a:rPr>
              <a:t>TEXT</a:t>
            </a:r>
          </a:p>
        </p:txBody>
      </p:sp>
      <p:sp>
        <p:nvSpPr>
          <p:cNvPr id="12" name="TextBox 11"/>
          <p:cNvSpPr txBox="1"/>
          <p:nvPr/>
        </p:nvSpPr>
        <p:spPr>
          <a:xfrm>
            <a:off x="3621024" y="2176272"/>
            <a:ext cx="2194560" cy="228600"/>
          </a:xfrm>
          <a:prstGeom prst="rect">
            <a:avLst/>
          </a:prstGeom>
          <a:noFill/>
        </p:spPr>
        <p:txBody>
          <a:bodyPr wrap="square" anchor="t">
            <a:spAutoFit/>
          </a:bodyPr>
          <a:lstStyle/>
          <a:p>
            <a:pPr algn="l"/>
            <a:r>
              <a:rPr sz="1100" b="0">
                <a:solidFill>
                  <a:srgbClr val="080808"/>
                </a:solidFill>
                <a:latin typeface="Arial"/>
              </a:rPr>
              <a:t>VARCHAR · TEXT</a:t>
            </a:r>
          </a:p>
        </p:txBody>
      </p:sp>
      <p:sp>
        <p:nvSpPr>
          <p:cNvPr id="13" name="Rounded Rectangle 12"/>
          <p:cNvSpPr/>
          <p:nvPr/>
        </p:nvSpPr>
        <p:spPr>
          <a:xfrm>
            <a:off x="6263640" y="1645920"/>
            <a:ext cx="2487168" cy="960120"/>
          </a:xfrm>
          <a:prstGeom prst="round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409944" y="1847088"/>
            <a:ext cx="2194560" cy="228600"/>
          </a:xfrm>
          <a:prstGeom prst="rect">
            <a:avLst/>
          </a:prstGeom>
          <a:noFill/>
        </p:spPr>
        <p:txBody>
          <a:bodyPr wrap="square" anchor="t">
            <a:spAutoFit/>
          </a:bodyPr>
          <a:lstStyle/>
          <a:p>
            <a:pPr algn="l"/>
            <a:r>
              <a:rPr sz="1300" b="1">
                <a:solidFill>
                  <a:srgbClr val="13C5CF"/>
                </a:solidFill>
                <a:latin typeface="Arial"/>
              </a:rPr>
              <a:t>TIME</a:t>
            </a:r>
          </a:p>
        </p:txBody>
      </p:sp>
      <p:sp>
        <p:nvSpPr>
          <p:cNvPr id="15" name="TextBox 14"/>
          <p:cNvSpPr txBox="1"/>
          <p:nvPr/>
        </p:nvSpPr>
        <p:spPr>
          <a:xfrm>
            <a:off x="6409944" y="2176272"/>
            <a:ext cx="2194560" cy="228600"/>
          </a:xfrm>
          <a:prstGeom prst="rect">
            <a:avLst/>
          </a:prstGeom>
          <a:noFill/>
        </p:spPr>
        <p:txBody>
          <a:bodyPr wrap="square" anchor="t">
            <a:spAutoFit/>
          </a:bodyPr>
          <a:lstStyle/>
          <a:p>
            <a:pPr algn="l"/>
            <a:r>
              <a:rPr sz="1100" b="0">
                <a:solidFill>
                  <a:srgbClr val="080808"/>
                </a:solidFill>
                <a:latin typeface="Arial"/>
              </a:rPr>
              <a:t>DATE · TIMESTAMP · INTERVAL</a:t>
            </a:r>
          </a:p>
        </p:txBody>
      </p:sp>
      <p:sp>
        <p:nvSpPr>
          <p:cNvPr id="16" name="Rounded Rectangle 15"/>
          <p:cNvSpPr/>
          <p:nvPr/>
        </p:nvSpPr>
        <p:spPr>
          <a:xfrm>
            <a:off x="9052559" y="1645920"/>
            <a:ext cx="2487168" cy="960120"/>
          </a:xfrm>
          <a:prstGeom prst="round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9198863" y="1847088"/>
            <a:ext cx="2194560" cy="228600"/>
          </a:xfrm>
          <a:prstGeom prst="rect">
            <a:avLst/>
          </a:prstGeom>
          <a:noFill/>
        </p:spPr>
        <p:txBody>
          <a:bodyPr wrap="square" anchor="t">
            <a:spAutoFit/>
          </a:bodyPr>
          <a:lstStyle/>
          <a:p>
            <a:pPr algn="l"/>
            <a:r>
              <a:rPr sz="1300" b="1">
                <a:solidFill>
                  <a:srgbClr val="13C5CF"/>
                </a:solidFill>
                <a:latin typeface="Arial"/>
              </a:rPr>
              <a:t>FLAG</a:t>
            </a:r>
          </a:p>
        </p:txBody>
      </p:sp>
      <p:sp>
        <p:nvSpPr>
          <p:cNvPr id="18" name="TextBox 17"/>
          <p:cNvSpPr txBox="1"/>
          <p:nvPr/>
        </p:nvSpPr>
        <p:spPr>
          <a:xfrm>
            <a:off x="9198863" y="2176272"/>
            <a:ext cx="2194560" cy="228600"/>
          </a:xfrm>
          <a:prstGeom prst="rect">
            <a:avLst/>
          </a:prstGeom>
          <a:noFill/>
        </p:spPr>
        <p:txBody>
          <a:bodyPr wrap="square" anchor="t">
            <a:spAutoFit/>
          </a:bodyPr>
          <a:lstStyle/>
          <a:p>
            <a:pPr algn="l"/>
            <a:r>
              <a:rPr sz="1100" b="0">
                <a:solidFill>
                  <a:srgbClr val="080808"/>
                </a:solidFill>
                <a:latin typeface="Arial"/>
              </a:rPr>
              <a:t>BOOLEAN</a:t>
            </a:r>
          </a:p>
        </p:txBody>
      </p:sp>
      <p:sp>
        <p:nvSpPr>
          <p:cNvPr id="19" name="Rounded Rectangle 18"/>
          <p:cNvSpPr/>
          <p:nvPr/>
        </p:nvSpPr>
        <p:spPr>
          <a:xfrm>
            <a:off x="685800" y="3063240"/>
            <a:ext cx="5166360" cy="1691640"/>
          </a:xfrm>
          <a:prstGeom prst="roundRect">
            <a:avLst/>
          </a:prstGeom>
          <a:solidFill>
            <a:srgbClr val="12141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685800" y="3063240"/>
            <a:ext cx="73152" cy="1691640"/>
          </a:xfrm>
          <a:prstGeom prst="rect">
            <a:avLst/>
          </a:prstGeom>
          <a:solidFill>
            <a:srgbClr val="13C5C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941832" y="3264408"/>
            <a:ext cx="4709160" cy="1371600"/>
          </a:xfrm>
          <a:prstGeom prst="rect">
            <a:avLst/>
          </a:prstGeom>
          <a:noFill/>
        </p:spPr>
        <p:txBody>
          <a:bodyPr wrap="square" lIns="0" rIns="0" anchor="t">
            <a:spAutoFit/>
          </a:bodyPr>
          <a:lstStyle/>
          <a:p>
            <a:pPr algn="l"/>
            <a:r>
              <a:rPr sz="1500" b="0">
                <a:solidFill>
                  <a:srgbClr val="FFFFFF"/>
                </a:solidFill>
                <a:latin typeface="Courier New"/>
              </a:rPr>
              <a:t>duration_ms / 60000     -- 4
duration_ms / 60000.0   -- 4.175...
explicit::int            -- true → 1</a:t>
            </a:r>
          </a:p>
        </p:txBody>
      </p:sp>
      <p:sp>
        <p:nvSpPr>
          <p:cNvPr id="23" name="Rounded Rectangle 22"/>
          <p:cNvSpPr/>
          <p:nvPr/>
        </p:nvSpPr>
        <p:spPr>
          <a:xfrm>
            <a:off x="6446520" y="3566160"/>
            <a:ext cx="4709160" cy="1645920"/>
          </a:xfrm>
          <a:prstGeom prst="roundRect">
            <a:avLst/>
          </a:prstGeom>
          <a:solidFill>
            <a:srgbClr val="12141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6446520" y="3566160"/>
            <a:ext cx="73152" cy="1645920"/>
          </a:xfrm>
          <a:prstGeom prst="rect">
            <a:avLst/>
          </a:prstGeom>
          <a:solidFill>
            <a:srgbClr val="13C5C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6702552" y="3767328"/>
            <a:ext cx="4251960" cy="1092607"/>
          </a:xfrm>
          <a:prstGeom prst="rect">
            <a:avLst/>
          </a:prstGeom>
          <a:noFill/>
        </p:spPr>
        <p:txBody>
          <a:bodyPr wrap="square" lIns="0" rIns="0" anchor="t">
            <a:spAutoFit/>
          </a:bodyPr>
          <a:lstStyle/>
          <a:p>
            <a:pPr algn="l"/>
            <a:r>
              <a:rPr lang="en-US" sz="1300" b="0" dirty="0">
                <a:solidFill>
                  <a:srgbClr val="FFFFFF"/>
                </a:solidFill>
                <a:latin typeface="Courier New"/>
              </a:rPr>
              <a:t>CAST(</a:t>
            </a:r>
            <a:r>
              <a:rPr lang="en-US" sz="1300" b="0" dirty="0" err="1">
                <a:solidFill>
                  <a:srgbClr val="FFFFFF"/>
                </a:solidFill>
                <a:latin typeface="Courier New"/>
              </a:rPr>
              <a:t>duration_ms</a:t>
            </a:r>
            <a:r>
              <a:rPr lang="en-US" sz="1300" b="0" dirty="0">
                <a:solidFill>
                  <a:srgbClr val="FFFFFF"/>
                </a:solidFill>
                <a:latin typeface="Courier New"/>
              </a:rPr>
              <a:t>) as int</a:t>
            </a:r>
          </a:p>
          <a:p>
            <a:r>
              <a:rPr lang="en-US" sz="1300" dirty="0">
                <a:solidFill>
                  <a:srgbClr val="FFFFFF"/>
                </a:solidFill>
                <a:latin typeface="Courier New"/>
              </a:rPr>
              <a:t>CAST(</a:t>
            </a:r>
            <a:r>
              <a:rPr lang="en-US" sz="1300" dirty="0" err="1">
                <a:solidFill>
                  <a:srgbClr val="FFFFFF"/>
                </a:solidFill>
                <a:latin typeface="Courier New"/>
              </a:rPr>
              <a:t>duration_ms</a:t>
            </a:r>
            <a:r>
              <a:rPr lang="en-US" sz="1300" dirty="0">
                <a:solidFill>
                  <a:srgbClr val="FFFFFF"/>
                </a:solidFill>
                <a:latin typeface="Courier New"/>
              </a:rPr>
              <a:t>) as varchar(100)</a:t>
            </a:r>
          </a:p>
          <a:p>
            <a:endParaRPr lang="en-US" sz="1300" dirty="0">
              <a:solidFill>
                <a:srgbClr val="FFFFFF"/>
              </a:solidFill>
              <a:latin typeface="Courier New"/>
            </a:endParaRPr>
          </a:p>
          <a:p>
            <a:r>
              <a:rPr lang="en-US" sz="1300" dirty="0" err="1">
                <a:solidFill>
                  <a:srgbClr val="FFFFFF"/>
                </a:solidFill>
                <a:latin typeface="Courier New"/>
              </a:rPr>
              <a:t>duration_ms</a:t>
            </a:r>
            <a:r>
              <a:rPr lang="en-US" sz="1300" dirty="0">
                <a:solidFill>
                  <a:srgbClr val="FFFFFF"/>
                </a:solidFill>
                <a:latin typeface="Courier New"/>
              </a:rPr>
              <a:t> :: int</a:t>
            </a:r>
          </a:p>
          <a:p>
            <a:pPr algn="l"/>
            <a:endParaRPr sz="1300" b="0" dirty="0">
              <a:solidFill>
                <a:srgbClr val="FFFFFF"/>
              </a:solidFill>
              <a:latin typeface="Courier New"/>
            </a:endParaRPr>
          </a:p>
        </p:txBody>
      </p:sp>
      <p:sp>
        <p:nvSpPr>
          <p:cNvPr id="26" name="TextBox 25"/>
          <p:cNvSpPr txBox="1"/>
          <p:nvPr/>
        </p:nvSpPr>
        <p:spPr>
          <a:xfrm>
            <a:off x="6339842" y="3003535"/>
            <a:ext cx="5486400" cy="365760"/>
          </a:xfrm>
          <a:prstGeom prst="rect">
            <a:avLst/>
          </a:prstGeom>
          <a:noFill/>
        </p:spPr>
        <p:txBody>
          <a:bodyPr wrap="square" anchor="t">
            <a:spAutoFit/>
          </a:bodyPr>
          <a:lstStyle/>
          <a:p>
            <a:pPr algn="l"/>
            <a:r>
              <a:rPr sz="1500" b="1" dirty="0">
                <a:solidFill>
                  <a:srgbClr val="080808"/>
                </a:solidFill>
                <a:latin typeface="Arial"/>
              </a:rPr>
              <a:t>Cast explicitly when the result depends on the data type.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close-up of a bunch of paint brushes&#10;&#10;AI-generated content may be incorrect.">
            <a:extLst>
              <a:ext uri="{FF2B5EF4-FFF2-40B4-BE49-F238E27FC236}">
                <a16:creationId xmlns:a16="http://schemas.microsoft.com/office/drawing/2014/main" id="{34B42168-D1AC-F5B4-26AE-D6D4372602E9}"/>
              </a:ext>
            </a:extLst>
          </p:cNvPr>
          <p:cNvPicPr>
            <a:picLocks noGrp="1" noChangeAspect="1"/>
          </p:cNvPicPr>
          <p:nvPr>
            <p:ph idx="1"/>
          </p:nvPr>
        </p:nvPicPr>
        <p:blipFill>
          <a:blip r:embed="rId2"/>
          <a:srcRect b="19"/>
          <a:stretch>
            <a:fillRect/>
          </a:stretch>
        </p:blipFill>
        <p:spPr>
          <a:xfrm>
            <a:off x="20" y="1282"/>
            <a:ext cx="12191980" cy="6856718"/>
          </a:xfrm>
          <a:prstGeom prst="rect">
            <a:avLst/>
          </a:prstGeom>
        </p:spPr>
      </p:pic>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6035040" cy="292608"/>
          </a:xfrm>
          <a:prstGeom prst="rect">
            <a:avLst/>
          </a:prstGeom>
          <a:noFill/>
        </p:spPr>
        <p:txBody>
          <a:bodyPr wrap="square" lIns="0" tIns="27432" rIns="0" bIns="27432" anchor="t">
            <a:spAutoFit/>
          </a:bodyPr>
          <a:lstStyle/>
          <a:p>
            <a:r>
              <a:rPr sz="1200" b="1" i="0">
                <a:solidFill>
                  <a:srgbClr val="007C85"/>
                </a:solidFill>
                <a:latin typeface="Arial"/>
              </a:rPr>
              <a:t>0. PRELIMINARIES</a:t>
            </a:r>
          </a:p>
        </p:txBody>
      </p:sp>
      <p:sp>
        <p:nvSpPr>
          <p:cNvPr id="13" name="Title"/>
          <p:cNvSpPr txBox="1"/>
          <p:nvPr/>
        </p:nvSpPr>
        <p:spPr>
          <a:xfrm>
            <a:off x="1005840" y="566928"/>
            <a:ext cx="6035040" cy="617219"/>
          </a:xfrm>
          <a:prstGeom prst="rect">
            <a:avLst/>
          </a:prstGeom>
          <a:noFill/>
        </p:spPr>
        <p:txBody>
          <a:bodyPr wrap="square" lIns="0" tIns="27432" rIns="0" bIns="27432" anchor="t">
            <a:spAutoFit/>
          </a:bodyPr>
          <a:lstStyle/>
          <a:p>
            <a:r>
              <a:rPr sz="3600" b="1" i="0">
                <a:solidFill>
                  <a:srgbClr val="000000"/>
                </a:solidFill>
                <a:latin typeface="Arial"/>
              </a:rPr>
              <a:t>Data types</a:t>
            </a:r>
          </a:p>
        </p:txBody>
      </p:sp>
      <p:sp>
        <p:nvSpPr>
          <p:cNvPr id="14" name="Body"/>
          <p:cNvSpPr txBox="1"/>
          <p:nvPr/>
        </p:nvSpPr>
        <p:spPr>
          <a:xfrm>
            <a:off x="1005840" y="2057400"/>
            <a:ext cx="6766560" cy="4297680"/>
          </a:xfrm>
          <a:prstGeom prst="rect">
            <a:avLst/>
          </a:prstGeom>
          <a:noFill/>
        </p:spPr>
        <p:txBody>
          <a:bodyPr wrap="square" lIns="0" tIns="27432" rIns="0" bIns="27432" anchor="t">
            <a:spAutoFit/>
          </a:bodyPr>
          <a:lstStyle/>
          <a:p>
            <a:pPr>
              <a:spcAft>
                <a:spcPts val="810"/>
              </a:spcAft>
            </a:pPr>
            <a:r>
              <a:rPr sz="1800" b="0" i="0">
                <a:solidFill>
                  <a:srgbClr val="000000"/>
                </a:solidFill>
                <a:latin typeface="Arial"/>
              </a:rPr>
              <a:t>Types matter because they:</a:t>
            </a:r>
          </a:p>
          <a:p>
            <a:pPr marL="292608" indent="-292608">
              <a:spcAft>
                <a:spcPts val="810"/>
              </a:spcAft>
              <a:buFont typeface="Arial"/>
              <a:buChar char="•"/>
            </a:pPr>
            <a:r>
              <a:rPr sz="1800" b="1" i="0">
                <a:solidFill>
                  <a:srgbClr val="000000"/>
                </a:solidFill>
                <a:latin typeface="Arial"/>
              </a:rPr>
              <a:t>ensure data integrity</a:t>
            </a:r>
            <a:r>
              <a:rPr sz="1800" b="0" i="0">
                <a:solidFill>
                  <a:srgbClr val="000000"/>
                </a:solidFill>
                <a:latin typeface="Arial"/>
              </a:rPr>
              <a:t> — a numeric column will not accept string values;</a:t>
            </a:r>
          </a:p>
          <a:p>
            <a:pPr marL="292608" indent="-292608">
              <a:spcAft>
                <a:spcPts val="810"/>
              </a:spcAft>
              <a:buFont typeface="Arial"/>
              <a:buChar char="•"/>
            </a:pPr>
            <a:r>
              <a:rPr sz="1800" b="1" i="0">
                <a:solidFill>
                  <a:srgbClr val="000000"/>
                </a:solidFill>
                <a:latin typeface="Arial"/>
              </a:rPr>
              <a:t>optimize storage</a:t>
            </a:r>
            <a:r>
              <a:rPr sz="1800" b="0" i="0">
                <a:solidFill>
                  <a:srgbClr val="000000"/>
                </a:solidFill>
                <a:latin typeface="Arial"/>
              </a:rPr>
              <a:t> — an integer takes less space than the same value as text;</a:t>
            </a:r>
          </a:p>
          <a:p>
            <a:pPr marL="292608" indent="-292608">
              <a:spcAft>
                <a:spcPts val="810"/>
              </a:spcAft>
              <a:buFont typeface="Arial"/>
              <a:buChar char="•"/>
            </a:pPr>
            <a:r>
              <a:rPr sz="1800" b="1" i="0">
                <a:solidFill>
                  <a:srgbClr val="000000"/>
                </a:solidFill>
                <a:latin typeface="Arial"/>
              </a:rPr>
              <a:t>optimize performance</a:t>
            </a:r>
            <a:r>
              <a:rPr sz="1800" b="0" i="0">
                <a:solidFill>
                  <a:srgbClr val="000000"/>
                </a:solidFill>
                <a:latin typeface="Arial"/>
              </a:rPr>
              <a:t> — comparison and sorting are faster on numeric types than on character ones;</a:t>
            </a:r>
          </a:p>
          <a:p>
            <a:pPr marL="292608" indent="-292608">
              <a:spcAft>
                <a:spcPts val="810"/>
              </a:spcAft>
              <a:buFont typeface="Arial"/>
              <a:buChar char="•"/>
            </a:pPr>
            <a:r>
              <a:rPr sz="1800" b="1" i="0">
                <a:solidFill>
                  <a:srgbClr val="000000"/>
                </a:solidFill>
                <a:latin typeface="Arial"/>
              </a:rPr>
              <a:t>simplify working with data</a:t>
            </a:r>
            <a:r>
              <a:rPr sz="1800" b="0" i="0">
                <a:solidFill>
                  <a:srgbClr val="000000"/>
                </a:solidFill>
                <a:latin typeface="Arial"/>
              </a:rPr>
              <a:t> — the schema becomes readable and self-documenting.</a:t>
            </a:r>
          </a:p>
          <a:p>
            <a:pPr>
              <a:spcAft>
                <a:spcPts val="810"/>
              </a:spcAft>
            </a:pPr>
            <a:r>
              <a:rPr sz="1800" b="0" i="0">
                <a:solidFill>
                  <a:srgbClr val="000000"/>
                </a:solidFill>
                <a:latin typeface="Arial"/>
              </a:rPr>
              <a:t>Types differ between DBMSs, so always check the documentation of the database you are working with.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2"/>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0. PRELIMINARIES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Operators and functions</a:t>
            </a:r>
          </a:p>
        </p:txBody>
      </p:sp>
      <p:sp>
        <p:nvSpPr>
          <p:cNvPr id="14" name="Lead"/>
          <p:cNvSpPr txBox="1"/>
          <p:nvPr/>
        </p:nvSpPr>
        <p:spPr>
          <a:xfrm>
            <a:off x="1005840" y="1367028"/>
            <a:ext cx="10332720" cy="100584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A </a:t>
            </a:r>
            <a:r>
              <a:rPr sz="1600" b="1" i="0">
                <a:solidFill>
                  <a:srgbClr val="000000"/>
                </a:solidFill>
                <a:latin typeface="Arial"/>
              </a:rPr>
              <a:t>function</a:t>
            </a:r>
            <a:r>
              <a:rPr sz="1600" b="0" i="0">
                <a:solidFill>
                  <a:srgbClr val="000000"/>
                </a:solidFill>
                <a:latin typeface="Arial"/>
              </a:rPr>
              <a:t> is a subroutine that takes arguments, performs an operation and returns a result. Functions can be nested — the result of one becomes the argument of the next.</a:t>
            </a:r>
          </a:p>
          <a:p>
            <a:pPr>
              <a:spcAft>
                <a:spcPts val="720"/>
              </a:spcAft>
            </a:pPr>
            <a:r>
              <a:rPr sz="1600" b="0" i="0">
                <a:solidFill>
                  <a:srgbClr val="000000"/>
                </a:solidFill>
                <a:latin typeface="Arial"/>
              </a:rPr>
              <a:t>Numeric operators and functions:</a:t>
            </a:r>
          </a:p>
        </p:txBody>
      </p:sp>
      <p:graphicFrame>
        <p:nvGraphicFramePr>
          <p:cNvPr id="15" name="Table"/>
          <p:cNvGraphicFramePr>
            <a:graphicFrameLocks noGrp="1"/>
          </p:cNvGraphicFramePr>
          <p:nvPr/>
        </p:nvGraphicFramePr>
        <p:xfrm>
          <a:off x="1005840" y="2464308"/>
          <a:ext cx="10332720" cy="2438400"/>
        </p:xfrm>
        <a:graphic>
          <a:graphicData uri="http://schemas.openxmlformats.org/drawingml/2006/table">
            <a:tbl>
              <a:tblPr firstRow="1">
                <a:tableStyleId>{5C22544A-7EE6-4342-B048-85BDC9FD1C3A}</a:tableStyleId>
              </a:tblPr>
              <a:tblGrid>
                <a:gridCol w="3013710">
                  <a:extLst>
                    <a:ext uri="{9D8B030D-6E8A-4147-A177-3AD203B41FA5}">
                      <a16:colId xmlns:a16="http://schemas.microsoft.com/office/drawing/2014/main" val="20000"/>
                    </a:ext>
                  </a:extLst>
                </a:gridCol>
                <a:gridCol w="1722120">
                  <a:extLst>
                    <a:ext uri="{9D8B030D-6E8A-4147-A177-3AD203B41FA5}">
                      <a16:colId xmlns:a16="http://schemas.microsoft.com/office/drawing/2014/main" val="20001"/>
                    </a:ext>
                  </a:extLst>
                </a:gridCol>
                <a:gridCol w="5596890">
                  <a:extLst>
                    <a:ext uri="{9D8B030D-6E8A-4147-A177-3AD203B41FA5}">
                      <a16:colId xmlns:a16="http://schemas.microsoft.com/office/drawing/2014/main" val="20002"/>
                    </a:ext>
                  </a:extLst>
                </a:gridCol>
              </a:tblGrid>
              <a:tr h="304800">
                <a:tc>
                  <a:txBody>
                    <a:bodyPr/>
                    <a:lstStyle/>
                    <a:p>
                      <a:r>
                        <a:rPr sz="1400" b="1" i="0">
                          <a:solidFill>
                            <a:srgbClr val="000000"/>
                          </a:solidFill>
                          <a:latin typeface="Arial"/>
                        </a:rPr>
                        <a:t>Operation</a:t>
                      </a:r>
                    </a:p>
                  </a:txBody>
                  <a:tcPr>
                    <a:solidFill>
                      <a:srgbClr val="03CDD8"/>
                    </a:solidFill>
                  </a:tcPr>
                </a:tc>
                <a:tc>
                  <a:txBody>
                    <a:bodyPr/>
                    <a:lstStyle/>
                    <a:p>
                      <a:r>
                        <a:rPr sz="1400" b="1" i="0">
                          <a:solidFill>
                            <a:srgbClr val="000000"/>
                          </a:solidFill>
                          <a:latin typeface="Arial"/>
                        </a:rPr>
                        <a:t>Operator</a:t>
                      </a:r>
                    </a:p>
                  </a:txBody>
                  <a:tcPr>
                    <a:solidFill>
                      <a:srgbClr val="03CDD8"/>
                    </a:solidFill>
                  </a:tcPr>
                </a:tc>
                <a:tc>
                  <a:txBody>
                    <a:bodyPr/>
                    <a:lstStyle/>
                    <a:p>
                      <a:r>
                        <a:rPr sz="1400" b="1" i="0">
                          <a:solidFill>
                            <a:srgbClr val="000000"/>
                          </a:solidFill>
                          <a:latin typeface="Arial"/>
                        </a:rPr>
                        <a:t>Examples</a:t>
                      </a:r>
                    </a:p>
                  </a:txBody>
                  <a:tcPr>
                    <a:solidFill>
                      <a:srgbClr val="03CDD8"/>
                    </a:solidFill>
                  </a:tcPr>
                </a:tc>
                <a:extLst>
                  <a:ext uri="{0D108BD9-81ED-4DB2-BD59-A6C34878D82A}">
                    <a16:rowId xmlns:a16="http://schemas.microsoft.com/office/drawing/2014/main" val="10000"/>
                  </a:ext>
                </a:extLst>
              </a:tr>
              <a:tr h="304800">
                <a:tc>
                  <a:txBody>
                    <a:bodyPr/>
                    <a:lstStyle/>
                    <a:p>
                      <a:r>
                        <a:rPr sz="1400" b="0" i="0">
                          <a:solidFill>
                            <a:srgbClr val="000000"/>
                          </a:solidFill>
                          <a:latin typeface="Arial"/>
                        </a:rPr>
                        <a:t>Addition</a:t>
                      </a:r>
                    </a:p>
                  </a:txBody>
                  <a:tcPr>
                    <a:solidFill>
                      <a:srgbClr val="FFFFFF"/>
                    </a:solidFill>
                  </a:tcPr>
                </a:tc>
                <a:tc>
                  <a:txBody>
                    <a:bodyPr/>
                    <a:lstStyle/>
                    <a:p>
                      <a:r>
                        <a:rPr sz="1330" b="0" i="0">
                          <a:solidFill>
                            <a:srgbClr val="007C85"/>
                          </a:solidFill>
                          <a:latin typeface="Consolas"/>
                        </a:rPr>
                        <a:t>+</a:t>
                      </a:r>
                    </a:p>
                  </a:txBody>
                  <a:tcPr>
                    <a:solidFill>
                      <a:srgbClr val="FFFFFF"/>
                    </a:solidFill>
                  </a:tcPr>
                </a:tc>
                <a:tc>
                  <a:txBody>
                    <a:bodyPr/>
                    <a:lstStyle/>
                    <a:p>
                      <a:r>
                        <a:rPr sz="1330" b="0" i="0">
                          <a:solidFill>
                            <a:srgbClr val="007C85"/>
                          </a:solidFill>
                          <a:latin typeface="Consolas"/>
                        </a:rPr>
                        <a:t>3 + 2 → 5</a:t>
                      </a:r>
                      <a:r>
                        <a:rPr sz="1400" b="0" i="0">
                          <a:solidFill>
                            <a:srgbClr val="000000"/>
                          </a:solidFill>
                          <a:latin typeface="Arial"/>
                        </a:rPr>
                        <a:t> · </a:t>
                      </a:r>
                      <a:r>
                        <a:rPr sz="1330" b="0" i="0">
                          <a:solidFill>
                            <a:srgbClr val="007C85"/>
                          </a:solidFill>
                          <a:latin typeface="Consolas"/>
                        </a:rPr>
                        <a:t>3 + 2.0 → 5.0</a:t>
                      </a:r>
                    </a:p>
                  </a:txBody>
                  <a:tcPr>
                    <a:solidFill>
                      <a:srgbClr val="FFFFFF"/>
                    </a:solidFill>
                  </a:tcPr>
                </a:tc>
                <a:extLst>
                  <a:ext uri="{0D108BD9-81ED-4DB2-BD59-A6C34878D82A}">
                    <a16:rowId xmlns:a16="http://schemas.microsoft.com/office/drawing/2014/main" val="10001"/>
                  </a:ext>
                </a:extLst>
              </a:tr>
              <a:tr h="304800">
                <a:tc>
                  <a:txBody>
                    <a:bodyPr/>
                    <a:lstStyle/>
                    <a:p>
                      <a:r>
                        <a:rPr sz="1400" b="0" i="0">
                          <a:solidFill>
                            <a:srgbClr val="000000"/>
                          </a:solidFill>
                          <a:latin typeface="Arial"/>
                        </a:rPr>
                        <a:t>Subtraction</a:t>
                      </a:r>
                    </a:p>
                  </a:txBody>
                  <a:tcPr>
                    <a:solidFill>
                      <a:srgbClr val="F3F6F7"/>
                    </a:solidFill>
                  </a:tcPr>
                </a:tc>
                <a:tc>
                  <a:txBody>
                    <a:bodyPr/>
                    <a:lstStyle/>
                    <a:p>
                      <a:r>
                        <a:rPr sz="1330" b="0" i="0">
                          <a:solidFill>
                            <a:srgbClr val="007C85"/>
                          </a:solidFill>
                          <a:latin typeface="Consolas"/>
                        </a:rPr>
                        <a:t>-</a:t>
                      </a:r>
                    </a:p>
                  </a:txBody>
                  <a:tcPr>
                    <a:solidFill>
                      <a:srgbClr val="F3F6F7"/>
                    </a:solidFill>
                  </a:tcPr>
                </a:tc>
                <a:tc>
                  <a:txBody>
                    <a:bodyPr/>
                    <a:lstStyle/>
                    <a:p>
                      <a:r>
                        <a:rPr sz="1330" b="0" i="0">
                          <a:solidFill>
                            <a:srgbClr val="007C85"/>
                          </a:solidFill>
                          <a:latin typeface="Consolas"/>
                        </a:rPr>
                        <a:t>3 - 2 → 1</a:t>
                      </a:r>
                    </a:p>
                  </a:txBody>
                  <a:tcPr>
                    <a:solidFill>
                      <a:srgbClr val="F3F6F7"/>
                    </a:solidFill>
                  </a:tcPr>
                </a:tc>
                <a:extLst>
                  <a:ext uri="{0D108BD9-81ED-4DB2-BD59-A6C34878D82A}">
                    <a16:rowId xmlns:a16="http://schemas.microsoft.com/office/drawing/2014/main" val="10002"/>
                  </a:ext>
                </a:extLst>
              </a:tr>
              <a:tr h="304800">
                <a:tc>
                  <a:txBody>
                    <a:bodyPr/>
                    <a:lstStyle/>
                    <a:p>
                      <a:r>
                        <a:rPr sz="1400" b="0" i="0">
                          <a:solidFill>
                            <a:srgbClr val="000000"/>
                          </a:solidFill>
                          <a:latin typeface="Arial"/>
                        </a:rPr>
                        <a:t>Multiplication</a:t>
                      </a:r>
                    </a:p>
                  </a:txBody>
                  <a:tcPr>
                    <a:solidFill>
                      <a:srgbClr val="FFFFFF"/>
                    </a:solidFill>
                  </a:tcPr>
                </a:tc>
                <a:tc>
                  <a:txBody>
                    <a:bodyPr/>
                    <a:lstStyle/>
                    <a:p>
                      <a:r>
                        <a:rPr sz="1330" b="0" i="0">
                          <a:solidFill>
                            <a:srgbClr val="007C85"/>
                          </a:solidFill>
                          <a:latin typeface="Consolas"/>
                        </a:rPr>
                        <a:t>*</a:t>
                      </a:r>
                    </a:p>
                  </a:txBody>
                  <a:tcPr>
                    <a:solidFill>
                      <a:srgbClr val="FFFFFF"/>
                    </a:solidFill>
                  </a:tcPr>
                </a:tc>
                <a:tc>
                  <a:txBody>
                    <a:bodyPr/>
                    <a:lstStyle/>
                    <a:p>
                      <a:r>
                        <a:rPr sz="1330" b="0" i="0">
                          <a:solidFill>
                            <a:srgbClr val="007C85"/>
                          </a:solidFill>
                          <a:latin typeface="Consolas"/>
                        </a:rPr>
                        <a:t>3 * 2 → 6</a:t>
                      </a:r>
                    </a:p>
                  </a:txBody>
                  <a:tcPr>
                    <a:solidFill>
                      <a:srgbClr val="FFFFFF"/>
                    </a:solidFill>
                  </a:tcPr>
                </a:tc>
                <a:extLst>
                  <a:ext uri="{0D108BD9-81ED-4DB2-BD59-A6C34878D82A}">
                    <a16:rowId xmlns:a16="http://schemas.microsoft.com/office/drawing/2014/main" val="10003"/>
                  </a:ext>
                </a:extLst>
              </a:tr>
              <a:tr h="304800">
                <a:tc>
                  <a:txBody>
                    <a:bodyPr/>
                    <a:lstStyle/>
                    <a:p>
                      <a:r>
                        <a:rPr sz="1400" b="0" i="0">
                          <a:solidFill>
                            <a:srgbClr val="000000"/>
                          </a:solidFill>
                          <a:latin typeface="Arial"/>
                        </a:rPr>
                        <a:t>Division</a:t>
                      </a:r>
                    </a:p>
                  </a:txBody>
                  <a:tcPr>
                    <a:solidFill>
                      <a:srgbClr val="F3F6F7"/>
                    </a:solidFill>
                  </a:tcPr>
                </a:tc>
                <a:tc>
                  <a:txBody>
                    <a:bodyPr/>
                    <a:lstStyle/>
                    <a:p>
                      <a:r>
                        <a:rPr sz="1330" b="0" i="0">
                          <a:solidFill>
                            <a:srgbClr val="007C85"/>
                          </a:solidFill>
                          <a:latin typeface="Consolas"/>
                        </a:rPr>
                        <a:t>/</a:t>
                      </a:r>
                    </a:p>
                  </a:txBody>
                  <a:tcPr>
                    <a:solidFill>
                      <a:srgbClr val="F3F6F7"/>
                    </a:solidFill>
                  </a:tcPr>
                </a:tc>
                <a:tc>
                  <a:txBody>
                    <a:bodyPr/>
                    <a:lstStyle/>
                    <a:p>
                      <a:r>
                        <a:rPr sz="1330" b="0" i="0">
                          <a:solidFill>
                            <a:srgbClr val="007C85"/>
                          </a:solidFill>
                          <a:latin typeface="Consolas"/>
                        </a:rPr>
                        <a:t>3 / 2 → 1</a:t>
                      </a:r>
                      <a:r>
                        <a:rPr sz="1400" b="0" i="0">
                          <a:solidFill>
                            <a:srgbClr val="000000"/>
                          </a:solidFill>
                          <a:latin typeface="Arial"/>
                        </a:rPr>
                        <a:t> · </a:t>
                      </a:r>
                      <a:r>
                        <a:rPr sz="1330" b="0" i="0">
                          <a:solidFill>
                            <a:srgbClr val="007C85"/>
                          </a:solidFill>
                          <a:latin typeface="Consolas"/>
                        </a:rPr>
                        <a:t>3 / 2.0 → 1.50</a:t>
                      </a:r>
                    </a:p>
                  </a:txBody>
                  <a:tcPr>
                    <a:solidFill>
                      <a:srgbClr val="F3F6F7"/>
                    </a:solidFill>
                  </a:tcPr>
                </a:tc>
                <a:extLst>
                  <a:ext uri="{0D108BD9-81ED-4DB2-BD59-A6C34878D82A}">
                    <a16:rowId xmlns:a16="http://schemas.microsoft.com/office/drawing/2014/main" val="10004"/>
                  </a:ext>
                </a:extLst>
              </a:tr>
              <a:tr h="304800">
                <a:tc>
                  <a:txBody>
                    <a:bodyPr/>
                    <a:lstStyle/>
                    <a:p>
                      <a:r>
                        <a:rPr sz="1400" b="0" i="0">
                          <a:solidFill>
                            <a:srgbClr val="000000"/>
                          </a:solidFill>
                          <a:latin typeface="Arial"/>
                        </a:rPr>
                        <a:t>Remainder</a:t>
                      </a:r>
                    </a:p>
                  </a:txBody>
                  <a:tcPr>
                    <a:solidFill>
                      <a:srgbClr val="FFFFFF"/>
                    </a:solidFill>
                  </a:tcPr>
                </a:tc>
                <a:tc>
                  <a:txBody>
                    <a:bodyPr/>
                    <a:lstStyle/>
                    <a:p>
                      <a:r>
                        <a:rPr sz="1330" b="0" i="0">
                          <a:solidFill>
                            <a:srgbClr val="007C85"/>
                          </a:solidFill>
                          <a:latin typeface="Consolas"/>
                        </a:rPr>
                        <a:t>%</a:t>
                      </a:r>
                    </a:p>
                  </a:txBody>
                  <a:tcPr>
                    <a:solidFill>
                      <a:srgbClr val="FFFFFF"/>
                    </a:solidFill>
                  </a:tcPr>
                </a:tc>
                <a:tc>
                  <a:txBody>
                    <a:bodyPr/>
                    <a:lstStyle/>
                    <a:p>
                      <a:r>
                        <a:rPr sz="1330" b="0" i="0">
                          <a:solidFill>
                            <a:srgbClr val="007C85"/>
                          </a:solidFill>
                          <a:latin typeface="Consolas"/>
                        </a:rPr>
                        <a:t>3 % 2 → 1</a:t>
                      </a:r>
                    </a:p>
                  </a:txBody>
                  <a:tcPr>
                    <a:solidFill>
                      <a:srgbClr val="FFFFFF"/>
                    </a:solidFill>
                  </a:tcPr>
                </a:tc>
                <a:extLst>
                  <a:ext uri="{0D108BD9-81ED-4DB2-BD59-A6C34878D82A}">
                    <a16:rowId xmlns:a16="http://schemas.microsoft.com/office/drawing/2014/main" val="10005"/>
                  </a:ext>
                </a:extLst>
              </a:tr>
              <a:tr h="304800">
                <a:tc>
                  <a:txBody>
                    <a:bodyPr/>
                    <a:lstStyle/>
                    <a:p>
                      <a:r>
                        <a:rPr sz="1400" b="0" i="0">
                          <a:solidFill>
                            <a:srgbClr val="000000"/>
                          </a:solidFill>
                          <a:latin typeface="Arial"/>
                        </a:rPr>
                        <a:t>Exponentiation</a:t>
                      </a:r>
                    </a:p>
                  </a:txBody>
                  <a:tcPr>
                    <a:solidFill>
                      <a:srgbClr val="F3F6F7"/>
                    </a:solidFill>
                  </a:tcPr>
                </a:tc>
                <a:tc>
                  <a:txBody>
                    <a:bodyPr/>
                    <a:lstStyle/>
                    <a:p>
                      <a:r>
                        <a:rPr sz="1330" b="0" i="0">
                          <a:solidFill>
                            <a:srgbClr val="007C85"/>
                          </a:solidFill>
                          <a:latin typeface="Consolas"/>
                        </a:rPr>
                        <a:t>^</a:t>
                      </a:r>
                    </a:p>
                  </a:txBody>
                  <a:tcPr>
                    <a:solidFill>
                      <a:srgbClr val="F3F6F7"/>
                    </a:solidFill>
                  </a:tcPr>
                </a:tc>
                <a:tc>
                  <a:txBody>
                    <a:bodyPr/>
                    <a:lstStyle/>
                    <a:p>
                      <a:r>
                        <a:rPr sz="1330" b="0" i="0">
                          <a:solidFill>
                            <a:srgbClr val="007C85"/>
                          </a:solidFill>
                          <a:latin typeface="Consolas"/>
                        </a:rPr>
                        <a:t>3 ^ 2 → 9</a:t>
                      </a:r>
                    </a:p>
                  </a:txBody>
                  <a:tcPr>
                    <a:solidFill>
                      <a:srgbClr val="F3F6F7"/>
                    </a:solidFill>
                  </a:tcPr>
                </a:tc>
                <a:extLst>
                  <a:ext uri="{0D108BD9-81ED-4DB2-BD59-A6C34878D82A}">
                    <a16:rowId xmlns:a16="http://schemas.microsoft.com/office/drawing/2014/main" val="10006"/>
                  </a:ext>
                </a:extLst>
              </a:tr>
              <a:tr h="304800">
                <a:tc>
                  <a:txBody>
                    <a:bodyPr/>
                    <a:lstStyle/>
                    <a:p>
                      <a:r>
                        <a:rPr sz="1400" b="0" i="0">
                          <a:solidFill>
                            <a:srgbClr val="000000"/>
                          </a:solidFill>
                          <a:latin typeface="Arial"/>
                        </a:rPr>
                        <a:t>Absolute value</a:t>
                      </a:r>
                    </a:p>
                  </a:txBody>
                  <a:tcPr>
                    <a:solidFill>
                      <a:srgbClr val="FFFFFF"/>
                    </a:solidFill>
                  </a:tcPr>
                </a:tc>
                <a:tc>
                  <a:txBody>
                    <a:bodyPr/>
                    <a:lstStyle/>
                    <a:p>
                      <a:r>
                        <a:rPr sz="1330" b="0" i="0">
                          <a:solidFill>
                            <a:srgbClr val="007C85"/>
                          </a:solidFill>
                          <a:latin typeface="Consolas"/>
                        </a:rPr>
                        <a:t>@</a:t>
                      </a:r>
                    </a:p>
                  </a:txBody>
                  <a:tcPr>
                    <a:solidFill>
                      <a:srgbClr val="FFFFFF"/>
                    </a:solidFill>
                  </a:tcPr>
                </a:tc>
                <a:tc>
                  <a:txBody>
                    <a:bodyPr/>
                    <a:lstStyle/>
                    <a:p>
                      <a:r>
                        <a:rPr sz="1330" b="0" i="0">
                          <a:solidFill>
                            <a:srgbClr val="007C85"/>
                          </a:solidFill>
                          <a:latin typeface="Consolas"/>
                        </a:rPr>
                        <a:t>@ -3 → 3</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2"/>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0. PRELIMINARIES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Operators and functions</a:t>
            </a:r>
          </a:p>
        </p:txBody>
      </p:sp>
      <p:graphicFrame>
        <p:nvGraphicFramePr>
          <p:cNvPr id="14" name="Table"/>
          <p:cNvGraphicFramePr>
            <a:graphicFrameLocks noGrp="1"/>
          </p:cNvGraphicFramePr>
          <p:nvPr/>
        </p:nvGraphicFramePr>
        <p:xfrm>
          <a:off x="1005840" y="1367028"/>
          <a:ext cx="10332718" cy="2133600"/>
        </p:xfrm>
        <a:graphic>
          <a:graphicData uri="http://schemas.openxmlformats.org/drawingml/2006/table">
            <a:tbl>
              <a:tblPr firstRow="1">
                <a:tableStyleId>{5C22544A-7EE6-4342-B048-85BDC9FD1C3A}</a:tableStyleId>
              </a:tblPr>
              <a:tblGrid>
                <a:gridCol w="3600796">
                  <a:extLst>
                    <a:ext uri="{9D8B030D-6E8A-4147-A177-3AD203B41FA5}">
                      <a16:colId xmlns:a16="http://schemas.microsoft.com/office/drawing/2014/main" val="20000"/>
                    </a:ext>
                  </a:extLst>
                </a:gridCol>
                <a:gridCol w="4227021">
                  <a:extLst>
                    <a:ext uri="{9D8B030D-6E8A-4147-A177-3AD203B41FA5}">
                      <a16:colId xmlns:a16="http://schemas.microsoft.com/office/drawing/2014/main" val="20001"/>
                    </a:ext>
                  </a:extLst>
                </a:gridCol>
                <a:gridCol w="2504901">
                  <a:extLst>
                    <a:ext uri="{9D8B030D-6E8A-4147-A177-3AD203B41FA5}">
                      <a16:colId xmlns:a16="http://schemas.microsoft.com/office/drawing/2014/main" val="20002"/>
                    </a:ext>
                  </a:extLst>
                </a:gridCol>
              </a:tblGrid>
              <a:tr h="304800">
                <a:tc>
                  <a:txBody>
                    <a:bodyPr/>
                    <a:lstStyle/>
                    <a:p>
                      <a:r>
                        <a:rPr sz="1400" b="1" i="0">
                          <a:solidFill>
                            <a:srgbClr val="000000"/>
                          </a:solidFill>
                          <a:latin typeface="Arial"/>
                        </a:rPr>
                        <a:t>Purpose</a:t>
                      </a:r>
                    </a:p>
                  </a:txBody>
                  <a:tcPr>
                    <a:solidFill>
                      <a:srgbClr val="03CDD8"/>
                    </a:solidFill>
                  </a:tcPr>
                </a:tc>
                <a:tc>
                  <a:txBody>
                    <a:bodyPr/>
                    <a:lstStyle/>
                    <a:p>
                      <a:r>
                        <a:rPr sz="1400" b="1" i="0">
                          <a:solidFill>
                            <a:srgbClr val="000000"/>
                          </a:solidFill>
                          <a:latin typeface="Arial"/>
                        </a:rPr>
                        <a:t>Function</a:t>
                      </a:r>
                    </a:p>
                  </a:txBody>
                  <a:tcPr>
                    <a:solidFill>
                      <a:srgbClr val="03CDD8"/>
                    </a:solidFill>
                  </a:tcPr>
                </a:tc>
                <a:tc>
                  <a:txBody>
                    <a:bodyPr/>
                    <a:lstStyle/>
                    <a:p>
                      <a:r>
                        <a:rPr sz="1400" b="1" i="0">
                          <a:solidFill>
                            <a:srgbClr val="000000"/>
                          </a:solidFill>
                          <a:latin typeface="Arial"/>
                        </a:rPr>
                        <a:t>Examples</a:t>
                      </a:r>
                    </a:p>
                  </a:txBody>
                  <a:tcPr>
                    <a:solidFill>
                      <a:srgbClr val="03CDD8"/>
                    </a:solidFill>
                  </a:tcPr>
                </a:tc>
                <a:extLst>
                  <a:ext uri="{0D108BD9-81ED-4DB2-BD59-A6C34878D82A}">
                    <a16:rowId xmlns:a16="http://schemas.microsoft.com/office/drawing/2014/main" val="10000"/>
                  </a:ext>
                </a:extLst>
              </a:tr>
              <a:tr h="304800">
                <a:tc>
                  <a:txBody>
                    <a:bodyPr/>
                    <a:lstStyle/>
                    <a:p>
                      <a:r>
                        <a:rPr sz="1400" b="0" i="0">
                          <a:solidFill>
                            <a:srgbClr val="000000"/>
                          </a:solidFill>
                          <a:latin typeface="Arial"/>
                        </a:rPr>
                        <a:t>Remainder of division</a:t>
                      </a:r>
                    </a:p>
                  </a:txBody>
                  <a:tcPr>
                    <a:solidFill>
                      <a:srgbClr val="FFFFFF"/>
                    </a:solidFill>
                  </a:tcPr>
                </a:tc>
                <a:tc>
                  <a:txBody>
                    <a:bodyPr/>
                    <a:lstStyle/>
                    <a:p>
                      <a:r>
                        <a:rPr sz="1330" b="0" i="0">
                          <a:solidFill>
                            <a:srgbClr val="007C85"/>
                          </a:solidFill>
                          <a:latin typeface="Consolas"/>
                        </a:rPr>
                        <a:t>mod(numerator, denominator)</a:t>
                      </a:r>
                    </a:p>
                  </a:txBody>
                  <a:tcPr>
                    <a:solidFill>
                      <a:srgbClr val="FFFFFF"/>
                    </a:solidFill>
                  </a:tcPr>
                </a:tc>
                <a:tc>
                  <a:txBody>
                    <a:bodyPr/>
                    <a:lstStyle/>
                    <a:p>
                      <a:r>
                        <a:rPr sz="1330" b="0" i="0">
                          <a:solidFill>
                            <a:srgbClr val="007C85"/>
                          </a:solidFill>
                          <a:latin typeface="Consolas"/>
                        </a:rPr>
                        <a:t>mod(5, 2) → 1</a:t>
                      </a:r>
                    </a:p>
                  </a:txBody>
                  <a:tcPr>
                    <a:solidFill>
                      <a:srgbClr val="FFFFFF"/>
                    </a:solidFill>
                  </a:tcPr>
                </a:tc>
                <a:extLst>
                  <a:ext uri="{0D108BD9-81ED-4DB2-BD59-A6C34878D82A}">
                    <a16:rowId xmlns:a16="http://schemas.microsoft.com/office/drawing/2014/main" val="10001"/>
                  </a:ext>
                </a:extLst>
              </a:tr>
              <a:tr h="304800">
                <a:tc>
                  <a:txBody>
                    <a:bodyPr/>
                    <a:lstStyle/>
                    <a:p>
                      <a:r>
                        <a:rPr sz="1400" b="0" i="0">
                          <a:solidFill>
                            <a:srgbClr val="000000"/>
                          </a:solidFill>
                          <a:latin typeface="Arial"/>
                        </a:rPr>
                        <a:t>Rounding</a:t>
                      </a:r>
                    </a:p>
                  </a:txBody>
                  <a:tcPr>
                    <a:solidFill>
                      <a:srgbClr val="F3F6F7"/>
                    </a:solidFill>
                  </a:tcPr>
                </a:tc>
                <a:tc>
                  <a:txBody>
                    <a:bodyPr/>
                    <a:lstStyle/>
                    <a:p>
                      <a:r>
                        <a:rPr sz="1330" b="0" i="0">
                          <a:solidFill>
                            <a:srgbClr val="007C85"/>
                          </a:solidFill>
                          <a:latin typeface="Consolas"/>
                        </a:rPr>
                        <a:t>round(number)</a:t>
                      </a:r>
                    </a:p>
                  </a:txBody>
                  <a:tcPr>
                    <a:solidFill>
                      <a:srgbClr val="F3F6F7"/>
                    </a:solidFill>
                  </a:tcPr>
                </a:tc>
                <a:tc>
                  <a:txBody>
                    <a:bodyPr/>
                    <a:lstStyle/>
                    <a:p>
                      <a:r>
                        <a:rPr sz="1330" b="0" i="0">
                          <a:solidFill>
                            <a:srgbClr val="007C85"/>
                          </a:solidFill>
                          <a:latin typeface="Consolas"/>
                        </a:rPr>
                        <a:t>round(1.54) → 2</a:t>
                      </a:r>
                    </a:p>
                  </a:txBody>
                  <a:tcPr>
                    <a:solidFill>
                      <a:srgbClr val="F3F6F7"/>
                    </a:solidFill>
                  </a:tcPr>
                </a:tc>
                <a:extLst>
                  <a:ext uri="{0D108BD9-81ED-4DB2-BD59-A6C34878D82A}">
                    <a16:rowId xmlns:a16="http://schemas.microsoft.com/office/drawing/2014/main" val="10002"/>
                  </a:ext>
                </a:extLst>
              </a:tr>
              <a:tr h="304800">
                <a:tc>
                  <a:txBody>
                    <a:bodyPr/>
                    <a:lstStyle/>
                    <a:p>
                      <a:r>
                        <a:rPr sz="1400" b="0" i="0">
                          <a:solidFill>
                            <a:srgbClr val="000000"/>
                          </a:solidFill>
                          <a:latin typeface="Arial"/>
                        </a:rPr>
                        <a:t>Nearest larger integer</a:t>
                      </a:r>
                    </a:p>
                  </a:txBody>
                  <a:tcPr>
                    <a:solidFill>
                      <a:srgbClr val="FFFFFF"/>
                    </a:solidFill>
                  </a:tcPr>
                </a:tc>
                <a:tc>
                  <a:txBody>
                    <a:bodyPr/>
                    <a:lstStyle/>
                    <a:p>
                      <a:r>
                        <a:rPr sz="1330" b="0" i="0">
                          <a:solidFill>
                            <a:srgbClr val="007C85"/>
                          </a:solidFill>
                          <a:latin typeface="Consolas"/>
                        </a:rPr>
                        <a:t>ceil(number)</a:t>
                      </a:r>
                    </a:p>
                  </a:txBody>
                  <a:tcPr>
                    <a:solidFill>
                      <a:srgbClr val="FFFFFF"/>
                    </a:solidFill>
                  </a:tcPr>
                </a:tc>
                <a:tc>
                  <a:txBody>
                    <a:bodyPr/>
                    <a:lstStyle/>
                    <a:p>
                      <a:r>
                        <a:rPr sz="1330" b="0" i="0">
                          <a:solidFill>
                            <a:srgbClr val="007C85"/>
                          </a:solidFill>
                          <a:latin typeface="Consolas"/>
                        </a:rPr>
                        <a:t>ceil(1.54) → 2</a:t>
                      </a:r>
                    </a:p>
                  </a:txBody>
                  <a:tcPr>
                    <a:solidFill>
                      <a:srgbClr val="FFFFFF"/>
                    </a:solidFill>
                  </a:tcPr>
                </a:tc>
                <a:extLst>
                  <a:ext uri="{0D108BD9-81ED-4DB2-BD59-A6C34878D82A}">
                    <a16:rowId xmlns:a16="http://schemas.microsoft.com/office/drawing/2014/main" val="10003"/>
                  </a:ext>
                </a:extLst>
              </a:tr>
              <a:tr h="304800">
                <a:tc>
                  <a:txBody>
                    <a:bodyPr/>
                    <a:lstStyle/>
                    <a:p>
                      <a:r>
                        <a:rPr sz="1400" b="0" i="0">
                          <a:solidFill>
                            <a:srgbClr val="000000"/>
                          </a:solidFill>
                          <a:latin typeface="Arial"/>
                        </a:rPr>
                        <a:t>Nearest smaller integer</a:t>
                      </a:r>
                    </a:p>
                  </a:txBody>
                  <a:tcPr>
                    <a:solidFill>
                      <a:srgbClr val="F3F6F7"/>
                    </a:solidFill>
                  </a:tcPr>
                </a:tc>
                <a:tc>
                  <a:txBody>
                    <a:bodyPr/>
                    <a:lstStyle/>
                    <a:p>
                      <a:r>
                        <a:rPr sz="1330" b="0" i="0">
                          <a:solidFill>
                            <a:srgbClr val="007C85"/>
                          </a:solidFill>
                          <a:latin typeface="Consolas"/>
                        </a:rPr>
                        <a:t>floor(number)</a:t>
                      </a:r>
                    </a:p>
                  </a:txBody>
                  <a:tcPr>
                    <a:solidFill>
                      <a:srgbClr val="F3F6F7"/>
                    </a:solidFill>
                  </a:tcPr>
                </a:tc>
                <a:tc>
                  <a:txBody>
                    <a:bodyPr/>
                    <a:lstStyle/>
                    <a:p>
                      <a:r>
                        <a:rPr sz="1330" b="0" i="0">
                          <a:solidFill>
                            <a:srgbClr val="007C85"/>
                          </a:solidFill>
                          <a:latin typeface="Consolas"/>
                        </a:rPr>
                        <a:t>floor(1.54) → 1</a:t>
                      </a:r>
                    </a:p>
                  </a:txBody>
                  <a:tcPr>
                    <a:solidFill>
                      <a:srgbClr val="F3F6F7"/>
                    </a:solidFill>
                  </a:tcPr>
                </a:tc>
                <a:extLst>
                  <a:ext uri="{0D108BD9-81ED-4DB2-BD59-A6C34878D82A}">
                    <a16:rowId xmlns:a16="http://schemas.microsoft.com/office/drawing/2014/main" val="10004"/>
                  </a:ext>
                </a:extLst>
              </a:tr>
              <a:tr h="304800">
                <a:tc>
                  <a:txBody>
                    <a:bodyPr/>
                    <a:lstStyle/>
                    <a:p>
                      <a:r>
                        <a:rPr sz="1400" b="0" i="0">
                          <a:solidFill>
                            <a:srgbClr val="000000"/>
                          </a:solidFill>
                          <a:latin typeface="Arial"/>
                        </a:rPr>
                        <a:t>Exponentiation</a:t>
                      </a:r>
                    </a:p>
                  </a:txBody>
                  <a:tcPr>
                    <a:solidFill>
                      <a:srgbClr val="FFFFFF"/>
                    </a:solidFill>
                  </a:tcPr>
                </a:tc>
                <a:tc>
                  <a:txBody>
                    <a:bodyPr/>
                    <a:lstStyle/>
                    <a:p>
                      <a:r>
                        <a:rPr sz="1330" b="0" i="0">
                          <a:solidFill>
                            <a:srgbClr val="007C85"/>
                          </a:solidFill>
                          <a:latin typeface="Consolas"/>
                        </a:rPr>
                        <a:t>power(number, power)</a:t>
                      </a:r>
                    </a:p>
                  </a:txBody>
                  <a:tcPr>
                    <a:solidFill>
                      <a:srgbClr val="FFFFFF"/>
                    </a:solidFill>
                  </a:tcPr>
                </a:tc>
                <a:tc>
                  <a:txBody>
                    <a:bodyPr/>
                    <a:lstStyle/>
                    <a:p>
                      <a:r>
                        <a:rPr sz="1330" b="0" i="0">
                          <a:solidFill>
                            <a:srgbClr val="007C85"/>
                          </a:solidFill>
                          <a:latin typeface="Consolas"/>
                        </a:rPr>
                        <a:t>power(3, 3) → 27</a:t>
                      </a:r>
                    </a:p>
                  </a:txBody>
                  <a:tcPr>
                    <a:solidFill>
                      <a:srgbClr val="FFFFFF"/>
                    </a:solidFill>
                  </a:tcPr>
                </a:tc>
                <a:extLst>
                  <a:ext uri="{0D108BD9-81ED-4DB2-BD59-A6C34878D82A}">
                    <a16:rowId xmlns:a16="http://schemas.microsoft.com/office/drawing/2014/main" val="10005"/>
                  </a:ext>
                </a:extLst>
              </a:tr>
              <a:tr h="304800">
                <a:tc>
                  <a:txBody>
                    <a:bodyPr/>
                    <a:lstStyle/>
                    <a:p>
                      <a:r>
                        <a:rPr sz="1400" b="0" i="0">
                          <a:solidFill>
                            <a:srgbClr val="000000"/>
                          </a:solidFill>
                          <a:latin typeface="Arial"/>
                        </a:rPr>
                        <a:t>Square root</a:t>
                      </a:r>
                    </a:p>
                  </a:txBody>
                  <a:tcPr>
                    <a:solidFill>
                      <a:srgbClr val="F3F6F7"/>
                    </a:solidFill>
                  </a:tcPr>
                </a:tc>
                <a:tc>
                  <a:txBody>
                    <a:bodyPr/>
                    <a:lstStyle/>
                    <a:p>
                      <a:r>
                        <a:rPr sz="1330" b="0" i="0">
                          <a:solidFill>
                            <a:srgbClr val="007C85"/>
                          </a:solidFill>
                          <a:latin typeface="Consolas"/>
                        </a:rPr>
                        <a:t>sqrt(number)</a:t>
                      </a:r>
                    </a:p>
                  </a:txBody>
                  <a:tcPr>
                    <a:solidFill>
                      <a:srgbClr val="F3F6F7"/>
                    </a:solidFill>
                  </a:tcPr>
                </a:tc>
                <a:tc>
                  <a:txBody>
                    <a:bodyPr/>
                    <a:lstStyle/>
                    <a:p>
                      <a:r>
                        <a:rPr sz="1330" b="0" i="0">
                          <a:solidFill>
                            <a:srgbClr val="007C85"/>
                          </a:solidFill>
                          <a:latin typeface="Consolas"/>
                        </a:rPr>
                        <a:t>sqrt(1.5) → 1.22</a:t>
                      </a:r>
                    </a:p>
                  </a:txBody>
                  <a:tcPr>
                    <a:solidFill>
                      <a:srgbClr val="F3F6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0. PRELIMINARIES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Operators and functions</a:t>
            </a:r>
          </a:p>
        </p:txBody>
      </p:sp>
      <p:sp>
        <p:nvSpPr>
          <p:cNvPr id="14" name="Lead"/>
          <p:cNvSpPr txBox="1"/>
          <p:nvPr/>
        </p:nvSpPr>
        <p:spPr>
          <a:xfrm>
            <a:off x="1005840" y="1367028"/>
            <a:ext cx="10332720" cy="1478280"/>
          </a:xfrm>
          <a:prstGeom prst="rect">
            <a:avLst/>
          </a:prstGeom>
          <a:noFill/>
        </p:spPr>
        <p:txBody>
          <a:bodyPr wrap="square" lIns="0" tIns="27432" rIns="0" bIns="27432" anchor="t">
            <a:spAutoFit/>
          </a:bodyPr>
          <a:lstStyle/>
          <a:p>
            <a:pPr marL="274320">
              <a:spcBef>
                <a:spcPts val="600"/>
              </a:spcBef>
              <a:spcAft>
                <a:spcPts val="720"/>
              </a:spcAft>
            </a:pPr>
            <a:r>
              <a:rPr sz="1500" b="0" i="0">
                <a:solidFill>
                  <a:srgbClr val="007C85"/>
                </a:solidFill>
                <a:latin typeface="Arial"/>
              </a:rPr>
              <a:t>If you use only integers, the result is an integer. If one argument is fractional, the result is fractional too.</a:t>
            </a:r>
          </a:p>
          <a:p>
            <a:pPr>
              <a:spcAft>
                <a:spcPts val="720"/>
              </a:spcAft>
            </a:pPr>
            <a:r>
              <a:rPr sz="1600" b="0" i="0">
                <a:solidFill>
                  <a:srgbClr val="000000"/>
                </a:solidFill>
                <a:latin typeface="Arial"/>
              </a:rPr>
              <a:t>That rule bites immediately on this data. </a:t>
            </a:r>
            <a:r>
              <a:rPr sz="1520" b="0" i="0">
                <a:solidFill>
                  <a:srgbClr val="007C85"/>
                </a:solidFill>
                <a:latin typeface="Consolas"/>
              </a:rPr>
              <a:t>duration_ms / 60000</a:t>
            </a:r>
            <a:r>
              <a:rPr sz="1600" b="0" i="0">
                <a:solidFill>
                  <a:srgbClr val="000000"/>
                </a:solidFill>
                <a:latin typeface="Arial"/>
              </a:rPr>
              <a:t> gives whole minutes and throws away the rest; </a:t>
            </a:r>
            <a:r>
              <a:rPr sz="1520" b="0" i="0">
                <a:solidFill>
                  <a:srgbClr val="007C85"/>
                </a:solidFill>
                <a:latin typeface="Consolas"/>
              </a:rPr>
              <a:t>duration_ms / 60000.0</a:t>
            </a:r>
            <a:r>
              <a:rPr sz="1600" b="0" i="0">
                <a:solidFill>
                  <a:srgbClr val="000000"/>
                </a:solidFill>
                <a:latin typeface="Arial"/>
              </a:rPr>
              <a:t> keeps the fraction:</a:t>
            </a:r>
          </a:p>
        </p:txBody>
      </p:sp>
      <p:pic>
        <p:nvPicPr>
          <p:cNvPr id="15" name="Picture 14" descr="SELECT name,&#10;       duration_ms,&#10;       duration_ms / 60000        AS minutes_int,&#10;       duration_ms / 60000.0      AS minutes_exact,&#10;       round(duration_ms / 60000.0, 2) AS minutes_rounded,&#10;       (duration_ms || 'milliseconds') :: interval as interval,&#10;       to_char((duration_ms || 'milliseconds') :: interval, 'MI:SS') as minutes_seconds_char&#10;FROM tracks&#10;where name = 'Everlong';"/>
          <p:cNvPicPr>
            <a:picLocks noChangeAspect="1"/>
          </p:cNvPicPr>
          <p:nvPr/>
        </p:nvPicPr>
        <p:blipFill>
          <a:blip r:embed="rId4"/>
          <a:stretch>
            <a:fillRect/>
          </a:stretch>
        </p:blipFill>
        <p:spPr>
          <a:xfrm>
            <a:off x="1005840" y="2936748"/>
            <a:ext cx="10073955" cy="2548258"/>
          </a:xfrm>
          <a:prstGeom prst="rect">
            <a:avLst/>
          </a:prstGeom>
        </p:spPr>
      </p:pic>
      <p:pic>
        <p:nvPicPr>
          <p:cNvPr id="16" name="Picture 15" descr="SELECT name,&#10;       duration_ms,&#10;       duration_ms / 60000        AS minutes_int,&#10;       duration_ms / 60000.0      AS minutes_exact,&#10;       round(duration_ms / 60000.0, 2) AS minutes_rounded,&#10;       (duration_ms || 'milliseconds') :: interval as interval,&#10;       to_char((duration_ms || 'milliseconds') :: interval, 'MI:SS') as minutes_seconds_char&#10;FROM tracks&#10;where name = 'Everlong';"/>
          <p:cNvPicPr>
            <a:picLocks noChangeAspect="1"/>
          </p:cNvPicPr>
          <p:nvPr/>
        </p:nvPicPr>
        <p:blipFill>
          <a:blip r:embed="rId5"/>
          <a:stretch>
            <a:fillRect/>
          </a:stretch>
        </p:blipFill>
        <p:spPr>
          <a:xfrm>
            <a:off x="1005840" y="5713606"/>
            <a:ext cx="8986380" cy="7938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2"/>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0. PRELIMINARIES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Operators and functions</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String functions:</a:t>
            </a:r>
          </a:p>
        </p:txBody>
      </p:sp>
      <p:graphicFrame>
        <p:nvGraphicFramePr>
          <p:cNvPr id="15" name="Table"/>
          <p:cNvGraphicFramePr>
            <a:graphicFrameLocks noGrp="1"/>
          </p:cNvGraphicFramePr>
          <p:nvPr/>
        </p:nvGraphicFramePr>
        <p:xfrm>
          <a:off x="1005840" y="1885187"/>
          <a:ext cx="10332718" cy="2020824"/>
        </p:xfrm>
        <a:graphic>
          <a:graphicData uri="http://schemas.openxmlformats.org/drawingml/2006/table">
            <a:tbl>
              <a:tblPr firstRow="1">
                <a:tableStyleId>{5C22544A-7EE6-4342-B048-85BDC9FD1C3A}</a:tableStyleId>
              </a:tblPr>
              <a:tblGrid>
                <a:gridCol w="1754612">
                  <a:extLst>
                    <a:ext uri="{9D8B030D-6E8A-4147-A177-3AD203B41FA5}">
                      <a16:colId xmlns:a16="http://schemas.microsoft.com/office/drawing/2014/main" val="20000"/>
                    </a:ext>
                  </a:extLst>
                </a:gridCol>
                <a:gridCol w="2826876">
                  <a:extLst>
                    <a:ext uri="{9D8B030D-6E8A-4147-A177-3AD203B41FA5}">
                      <a16:colId xmlns:a16="http://schemas.microsoft.com/office/drawing/2014/main" val="20001"/>
                    </a:ext>
                  </a:extLst>
                </a:gridCol>
                <a:gridCol w="5751230">
                  <a:extLst>
                    <a:ext uri="{9D8B030D-6E8A-4147-A177-3AD203B41FA5}">
                      <a16:colId xmlns:a16="http://schemas.microsoft.com/office/drawing/2014/main" val="20002"/>
                    </a:ext>
                  </a:extLst>
                </a:gridCol>
              </a:tblGrid>
              <a:tr h="304800">
                <a:tc>
                  <a:txBody>
                    <a:bodyPr/>
                    <a:lstStyle/>
                    <a:p>
                      <a:r>
                        <a:rPr sz="1400" b="1" i="0">
                          <a:solidFill>
                            <a:srgbClr val="000000"/>
                          </a:solidFill>
                          <a:latin typeface="Arial"/>
                        </a:rPr>
                        <a:t>Purpose</a:t>
                      </a:r>
                    </a:p>
                  </a:txBody>
                  <a:tcPr>
                    <a:solidFill>
                      <a:srgbClr val="03CDD8"/>
                    </a:solidFill>
                  </a:tcPr>
                </a:tc>
                <a:tc>
                  <a:txBody>
                    <a:bodyPr/>
                    <a:lstStyle/>
                    <a:p>
                      <a:r>
                        <a:rPr sz="1400" b="1" i="0">
                          <a:solidFill>
                            <a:srgbClr val="000000"/>
                          </a:solidFill>
                          <a:latin typeface="Arial"/>
                        </a:rPr>
                        <a:t>Function</a:t>
                      </a:r>
                    </a:p>
                  </a:txBody>
                  <a:tcPr>
                    <a:solidFill>
                      <a:srgbClr val="03CDD8"/>
                    </a:solidFill>
                  </a:tcPr>
                </a:tc>
                <a:tc>
                  <a:txBody>
                    <a:bodyPr/>
                    <a:lstStyle/>
                    <a:p>
                      <a:r>
                        <a:rPr sz="1400" b="1" i="0">
                          <a:solidFill>
                            <a:srgbClr val="000000"/>
                          </a:solidFill>
                          <a:latin typeface="Arial"/>
                        </a:rPr>
                        <a:t>Examples</a:t>
                      </a:r>
                    </a:p>
                  </a:txBody>
                  <a:tcPr>
                    <a:solidFill>
                      <a:srgbClr val="03CDD8"/>
                    </a:solidFill>
                  </a:tcPr>
                </a:tc>
                <a:extLst>
                  <a:ext uri="{0D108BD9-81ED-4DB2-BD59-A6C34878D82A}">
                    <a16:rowId xmlns:a16="http://schemas.microsoft.com/office/drawing/2014/main" val="10000"/>
                  </a:ext>
                </a:extLst>
              </a:tr>
              <a:tr h="304800">
                <a:tc>
                  <a:txBody>
                    <a:bodyPr/>
                    <a:lstStyle/>
                    <a:p>
                      <a:r>
                        <a:rPr sz="1400" b="0" i="0">
                          <a:solidFill>
                            <a:srgbClr val="000000"/>
                          </a:solidFill>
                          <a:latin typeface="Arial"/>
                        </a:rPr>
                        <a:t>Concatenation</a:t>
                      </a:r>
                    </a:p>
                  </a:txBody>
                  <a:tcPr>
                    <a:solidFill>
                      <a:srgbClr val="FFFFFF"/>
                    </a:solidFill>
                  </a:tcPr>
                </a:tc>
                <a:tc>
                  <a:txBody>
                    <a:bodyPr/>
                    <a:lstStyle/>
                    <a:p>
                      <a:r>
                        <a:rPr sz="1330" b="0" i="0">
                          <a:solidFill>
                            <a:srgbClr val="007C85"/>
                          </a:solidFill>
                          <a:latin typeface="Consolas"/>
                        </a:rPr>
                        <a:t>concat(a, b, c)</a:t>
                      </a:r>
                    </a:p>
                  </a:txBody>
                  <a:tcPr>
                    <a:solidFill>
                      <a:srgbClr val="FFFFFF"/>
                    </a:solidFill>
                  </a:tcPr>
                </a:tc>
                <a:tc>
                  <a:txBody>
                    <a:bodyPr/>
                    <a:lstStyle/>
                    <a:p>
                      <a:r>
                        <a:rPr sz="1330" b="0" i="0">
                          <a:solidFill>
                            <a:srgbClr val="007C85"/>
                          </a:solidFill>
                          <a:latin typeface="Consolas"/>
                        </a:rPr>
                        <a:t>concat('Valya had ', 2, ' oranges') → 'Valya had 2 oranges'</a:t>
                      </a:r>
                    </a:p>
                  </a:txBody>
                  <a:tcPr>
                    <a:solidFill>
                      <a:srgbClr val="FFFFFF"/>
                    </a:solidFill>
                  </a:tcPr>
                </a:tc>
                <a:extLst>
                  <a:ext uri="{0D108BD9-81ED-4DB2-BD59-A6C34878D82A}">
                    <a16:rowId xmlns:a16="http://schemas.microsoft.com/office/drawing/2014/main" val="10001"/>
                  </a:ext>
                </a:extLst>
              </a:tr>
              <a:tr h="304800">
                <a:tc>
                  <a:txBody>
                    <a:bodyPr/>
                    <a:lstStyle/>
                    <a:p>
                      <a:r>
                        <a:rPr sz="1400" b="0" i="0">
                          <a:solidFill>
                            <a:srgbClr val="000000"/>
                          </a:solidFill>
                          <a:latin typeface="Arial"/>
                        </a:rPr>
                        <a:t>String length</a:t>
                      </a:r>
                    </a:p>
                  </a:txBody>
                  <a:tcPr>
                    <a:solidFill>
                      <a:srgbClr val="F3F6F7"/>
                    </a:solidFill>
                  </a:tcPr>
                </a:tc>
                <a:tc>
                  <a:txBody>
                    <a:bodyPr/>
                    <a:lstStyle/>
                    <a:p>
                      <a:r>
                        <a:rPr sz="1330" b="0" i="0">
                          <a:solidFill>
                            <a:srgbClr val="007C85"/>
                          </a:solidFill>
                          <a:latin typeface="Consolas"/>
                        </a:rPr>
                        <a:t>length(string)</a:t>
                      </a:r>
                    </a:p>
                  </a:txBody>
                  <a:tcPr>
                    <a:solidFill>
                      <a:srgbClr val="F3F6F7"/>
                    </a:solidFill>
                  </a:tcPr>
                </a:tc>
                <a:tc>
                  <a:txBody>
                    <a:bodyPr/>
                    <a:lstStyle/>
                    <a:p>
                      <a:r>
                        <a:rPr sz="1330" b="0" i="0">
                          <a:solidFill>
                            <a:srgbClr val="007C85"/>
                          </a:solidFill>
                          <a:latin typeface="Consolas"/>
                        </a:rPr>
                        <a:t>length('123') → 3</a:t>
                      </a:r>
                    </a:p>
                  </a:txBody>
                  <a:tcPr>
                    <a:solidFill>
                      <a:srgbClr val="F3F6F7"/>
                    </a:solidFill>
                  </a:tcPr>
                </a:tc>
                <a:extLst>
                  <a:ext uri="{0D108BD9-81ED-4DB2-BD59-A6C34878D82A}">
                    <a16:rowId xmlns:a16="http://schemas.microsoft.com/office/drawing/2014/main" val="10002"/>
                  </a:ext>
                </a:extLst>
              </a:tr>
              <a:tr h="304800">
                <a:tc>
                  <a:txBody>
                    <a:bodyPr/>
                    <a:lstStyle/>
                    <a:p>
                      <a:r>
                        <a:rPr sz="1400" b="0" i="0">
                          <a:solidFill>
                            <a:srgbClr val="000000"/>
                          </a:solidFill>
                          <a:latin typeface="Arial"/>
                        </a:rPr>
                        <a:t>Trimming spaces</a:t>
                      </a:r>
                    </a:p>
                  </a:txBody>
                  <a:tcPr>
                    <a:solidFill>
                      <a:srgbClr val="FFFFFF"/>
                    </a:solidFill>
                  </a:tcPr>
                </a:tc>
                <a:tc>
                  <a:txBody>
                    <a:bodyPr/>
                    <a:lstStyle/>
                    <a:p>
                      <a:r>
                        <a:rPr sz="1330" b="0" i="0">
                          <a:solidFill>
                            <a:srgbClr val="007C85"/>
                          </a:solidFill>
                          <a:latin typeface="Consolas"/>
                        </a:rPr>
                        <a:t>trim(string)</a:t>
                      </a:r>
                    </a:p>
                  </a:txBody>
                  <a:tcPr>
                    <a:solidFill>
                      <a:srgbClr val="FFFFFF"/>
                    </a:solidFill>
                  </a:tcPr>
                </a:tc>
                <a:tc>
                  <a:txBody>
                    <a:bodyPr/>
                    <a:lstStyle/>
                    <a:p>
                      <a:r>
                        <a:rPr sz="1330" b="0" i="0">
                          <a:solidFill>
                            <a:srgbClr val="007C85"/>
                          </a:solidFill>
                          <a:latin typeface="Consolas"/>
                        </a:rPr>
                        <a:t>trim(' text ') → 'text'</a:t>
                      </a:r>
                    </a:p>
                  </a:txBody>
                  <a:tcPr>
                    <a:solidFill>
                      <a:srgbClr val="FFFFFF"/>
                    </a:solidFill>
                  </a:tcPr>
                </a:tc>
                <a:extLst>
                  <a:ext uri="{0D108BD9-81ED-4DB2-BD59-A6C34878D82A}">
                    <a16:rowId xmlns:a16="http://schemas.microsoft.com/office/drawing/2014/main" val="10003"/>
                  </a:ext>
                </a:extLst>
              </a:tr>
              <a:tr h="304800">
                <a:tc>
                  <a:txBody>
                    <a:bodyPr/>
                    <a:lstStyle/>
                    <a:p>
                      <a:r>
                        <a:rPr sz="1400" b="0" i="0">
                          <a:solidFill>
                            <a:srgbClr val="000000"/>
                          </a:solidFill>
                          <a:latin typeface="Arial"/>
                        </a:rPr>
                        <a:t>Substring search</a:t>
                      </a:r>
                    </a:p>
                  </a:txBody>
                  <a:tcPr>
                    <a:solidFill>
                      <a:srgbClr val="F3F6F7"/>
                    </a:solidFill>
                  </a:tcPr>
                </a:tc>
                <a:tc>
                  <a:txBody>
                    <a:bodyPr/>
                    <a:lstStyle/>
                    <a:p>
                      <a:r>
                        <a:rPr sz="1330" b="0" i="0">
                          <a:solidFill>
                            <a:srgbClr val="007C85"/>
                          </a:solidFill>
                          <a:latin typeface="Consolas"/>
                        </a:rPr>
                        <a:t>position(substring in string)</a:t>
                      </a:r>
                    </a:p>
                  </a:txBody>
                  <a:tcPr>
                    <a:solidFill>
                      <a:srgbClr val="F3F6F7"/>
                    </a:solidFill>
                  </a:tcPr>
                </a:tc>
                <a:tc>
                  <a:txBody>
                    <a:bodyPr/>
                    <a:lstStyle/>
                    <a:p>
                      <a:r>
                        <a:rPr sz="1330" b="0" i="0">
                          <a:solidFill>
                            <a:srgbClr val="007C85"/>
                          </a:solidFill>
                          <a:latin typeface="Consolas"/>
                        </a:rPr>
                        <a:t>position('4' in '123') → 0</a:t>
                      </a:r>
                    </a:p>
                  </a:txBody>
                  <a:tcPr>
                    <a:solidFill>
                      <a:srgbClr val="F3F6F7"/>
                    </a:solidFill>
                  </a:tcPr>
                </a:tc>
                <a:extLst>
                  <a:ext uri="{0D108BD9-81ED-4DB2-BD59-A6C34878D82A}">
                    <a16:rowId xmlns:a16="http://schemas.microsoft.com/office/drawing/2014/main" val="10004"/>
                  </a:ext>
                </a:extLst>
              </a:tr>
              <a:tr h="304800">
                <a:tc>
                  <a:txBody>
                    <a:bodyPr/>
                    <a:lstStyle/>
                    <a:p>
                      <a:r>
                        <a:rPr sz="1400" b="0" i="0">
                          <a:solidFill>
                            <a:srgbClr val="000000"/>
                          </a:solidFill>
                          <a:latin typeface="Arial"/>
                        </a:rPr>
                        <a:t>Upper / lower case</a:t>
                      </a:r>
                    </a:p>
                  </a:txBody>
                  <a:tcPr>
                    <a:solidFill>
                      <a:srgbClr val="FFFFFF"/>
                    </a:solidFill>
                  </a:tcPr>
                </a:tc>
                <a:tc>
                  <a:txBody>
                    <a:bodyPr/>
                    <a:lstStyle/>
                    <a:p>
                      <a:r>
                        <a:rPr sz="1330" b="0" i="0">
                          <a:solidFill>
                            <a:srgbClr val="007C85"/>
                          </a:solidFill>
                          <a:latin typeface="Consolas"/>
                        </a:rPr>
                        <a:t>upper(text)</a:t>
                      </a:r>
                      <a:r>
                        <a:rPr sz="1400" b="0" i="0">
                          <a:solidFill>
                            <a:srgbClr val="000000"/>
                          </a:solidFill>
                          <a:latin typeface="Arial"/>
                        </a:rPr>
                        <a:t>, </a:t>
                      </a:r>
                      <a:r>
                        <a:rPr sz="1330" b="0" i="0">
                          <a:solidFill>
                            <a:srgbClr val="007C85"/>
                          </a:solidFill>
                          <a:latin typeface="Consolas"/>
                        </a:rPr>
                        <a:t>lower(text)</a:t>
                      </a:r>
                    </a:p>
                  </a:txBody>
                  <a:tcPr>
                    <a:solidFill>
                      <a:srgbClr val="FFFFFF"/>
                    </a:solidFill>
                  </a:tcPr>
                </a:tc>
                <a:tc>
                  <a:txBody>
                    <a:bodyPr/>
                    <a:lstStyle/>
                    <a:p>
                      <a:r>
                        <a:rPr sz="1330" b="0" i="0">
                          <a:solidFill>
                            <a:srgbClr val="007C85"/>
                          </a:solidFill>
                          <a:latin typeface="Consolas"/>
                        </a:rPr>
                        <a:t>upper('text') → 'TEXT'</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2"/>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0. PRELIMINARIES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Operators and functions</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Date and time functions:</a:t>
            </a:r>
          </a:p>
        </p:txBody>
      </p:sp>
      <p:graphicFrame>
        <p:nvGraphicFramePr>
          <p:cNvPr id="15" name="Table"/>
          <p:cNvGraphicFramePr>
            <a:graphicFrameLocks noGrp="1"/>
          </p:cNvGraphicFramePr>
          <p:nvPr/>
        </p:nvGraphicFramePr>
        <p:xfrm>
          <a:off x="1005840" y="1885187"/>
          <a:ext cx="10332718" cy="1828800"/>
        </p:xfrm>
        <a:graphic>
          <a:graphicData uri="http://schemas.openxmlformats.org/drawingml/2006/table">
            <a:tbl>
              <a:tblPr firstRow="1">
                <a:tableStyleId>{5C22544A-7EE6-4342-B048-85BDC9FD1C3A}</a:tableStyleId>
              </a:tblPr>
              <a:tblGrid>
                <a:gridCol w="2494104">
                  <a:extLst>
                    <a:ext uri="{9D8B030D-6E8A-4147-A177-3AD203B41FA5}">
                      <a16:colId xmlns:a16="http://schemas.microsoft.com/office/drawing/2014/main" val="20000"/>
                    </a:ext>
                  </a:extLst>
                </a:gridCol>
                <a:gridCol w="2731638">
                  <a:extLst>
                    <a:ext uri="{9D8B030D-6E8A-4147-A177-3AD203B41FA5}">
                      <a16:colId xmlns:a16="http://schemas.microsoft.com/office/drawing/2014/main" val="20001"/>
                    </a:ext>
                  </a:extLst>
                </a:gridCol>
                <a:gridCol w="5106976">
                  <a:extLst>
                    <a:ext uri="{9D8B030D-6E8A-4147-A177-3AD203B41FA5}">
                      <a16:colId xmlns:a16="http://schemas.microsoft.com/office/drawing/2014/main" val="20002"/>
                    </a:ext>
                  </a:extLst>
                </a:gridCol>
              </a:tblGrid>
              <a:tr h="304800">
                <a:tc>
                  <a:txBody>
                    <a:bodyPr/>
                    <a:lstStyle/>
                    <a:p>
                      <a:r>
                        <a:rPr sz="1400" b="1" i="0">
                          <a:solidFill>
                            <a:srgbClr val="000000"/>
                          </a:solidFill>
                          <a:latin typeface="Arial"/>
                        </a:rPr>
                        <a:t>Purpose</a:t>
                      </a:r>
                    </a:p>
                  </a:txBody>
                  <a:tcPr>
                    <a:solidFill>
                      <a:srgbClr val="03CDD8"/>
                    </a:solidFill>
                  </a:tcPr>
                </a:tc>
                <a:tc>
                  <a:txBody>
                    <a:bodyPr/>
                    <a:lstStyle/>
                    <a:p>
                      <a:r>
                        <a:rPr sz="1400" b="1" i="0">
                          <a:solidFill>
                            <a:srgbClr val="000000"/>
                          </a:solidFill>
                          <a:latin typeface="Arial"/>
                        </a:rPr>
                        <a:t>Function</a:t>
                      </a:r>
                    </a:p>
                  </a:txBody>
                  <a:tcPr>
                    <a:solidFill>
                      <a:srgbClr val="03CDD8"/>
                    </a:solidFill>
                  </a:tcPr>
                </a:tc>
                <a:tc>
                  <a:txBody>
                    <a:bodyPr/>
                    <a:lstStyle/>
                    <a:p>
                      <a:r>
                        <a:rPr sz="1400" b="1" i="0">
                          <a:solidFill>
                            <a:srgbClr val="000000"/>
                          </a:solidFill>
                          <a:latin typeface="Arial"/>
                        </a:rPr>
                        <a:t>Examples</a:t>
                      </a:r>
                    </a:p>
                  </a:txBody>
                  <a:tcPr>
                    <a:solidFill>
                      <a:srgbClr val="03CDD8"/>
                    </a:solidFill>
                  </a:tcPr>
                </a:tc>
                <a:extLst>
                  <a:ext uri="{0D108BD9-81ED-4DB2-BD59-A6C34878D82A}">
                    <a16:rowId xmlns:a16="http://schemas.microsoft.com/office/drawing/2014/main" val="10000"/>
                  </a:ext>
                </a:extLst>
              </a:tr>
              <a:tr h="304800">
                <a:tc>
                  <a:txBody>
                    <a:bodyPr/>
                    <a:lstStyle/>
                    <a:p>
                      <a:r>
                        <a:rPr sz="1400" b="0" i="0">
                          <a:solidFill>
                            <a:srgbClr val="000000"/>
                          </a:solidFill>
                          <a:latin typeface="Arial"/>
                        </a:rPr>
                        <a:t>Current date and time</a:t>
                      </a:r>
                    </a:p>
                  </a:txBody>
                  <a:tcPr>
                    <a:solidFill>
                      <a:srgbClr val="FFFFFF"/>
                    </a:solidFill>
                  </a:tcPr>
                </a:tc>
                <a:tc>
                  <a:txBody>
                    <a:bodyPr/>
                    <a:lstStyle/>
                    <a:p>
                      <a:r>
                        <a:rPr sz="1330" b="0" i="0">
                          <a:solidFill>
                            <a:srgbClr val="007C85"/>
                          </a:solidFill>
                          <a:latin typeface="Consolas"/>
                        </a:rPr>
                        <a:t>now()</a:t>
                      </a:r>
                    </a:p>
                  </a:txBody>
                  <a:tcPr>
                    <a:solidFill>
                      <a:srgbClr val="FFFFFF"/>
                    </a:solidFill>
                  </a:tcPr>
                </a:tc>
                <a:tc>
                  <a:txBody>
                    <a:bodyPr/>
                    <a:lstStyle/>
                    <a:p>
                      <a:r>
                        <a:rPr sz="1330" b="0" i="0">
                          <a:solidFill>
                            <a:srgbClr val="007C85"/>
                          </a:solidFill>
                          <a:latin typeface="Consolas"/>
                        </a:rPr>
                        <a:t>now() → 2026-05-04 12:44:00</a:t>
                      </a:r>
                    </a:p>
                  </a:txBody>
                  <a:tcPr>
                    <a:solidFill>
                      <a:srgbClr val="FFFFFF"/>
                    </a:solidFill>
                  </a:tcPr>
                </a:tc>
                <a:extLst>
                  <a:ext uri="{0D108BD9-81ED-4DB2-BD59-A6C34878D82A}">
                    <a16:rowId xmlns:a16="http://schemas.microsoft.com/office/drawing/2014/main" val="10001"/>
                  </a:ext>
                </a:extLst>
              </a:tr>
              <a:tr h="304800">
                <a:tc>
                  <a:txBody>
                    <a:bodyPr/>
                    <a:lstStyle/>
                    <a:p>
                      <a:r>
                        <a:rPr sz="1400" b="0" i="0">
                          <a:solidFill>
                            <a:srgbClr val="000000"/>
                          </a:solidFill>
                          <a:latin typeface="Arial"/>
                        </a:rPr>
                        <a:t>Addition</a:t>
                      </a:r>
                    </a:p>
                  </a:txBody>
                  <a:tcPr>
                    <a:solidFill>
                      <a:srgbClr val="F3F6F7"/>
                    </a:solidFill>
                  </a:tcPr>
                </a:tc>
                <a:tc>
                  <a:txBody>
                    <a:bodyPr/>
                    <a:lstStyle/>
                    <a:p>
                      <a:r>
                        <a:rPr sz="1330" b="0" i="0">
                          <a:solidFill>
                            <a:srgbClr val="007C85"/>
                          </a:solidFill>
                          <a:latin typeface="Consolas"/>
                        </a:rPr>
                        <a:t>date + number</a:t>
                      </a:r>
                    </a:p>
                  </a:txBody>
                  <a:tcPr>
                    <a:solidFill>
                      <a:srgbClr val="F3F6F7"/>
                    </a:solidFill>
                  </a:tcPr>
                </a:tc>
                <a:tc>
                  <a:txBody>
                    <a:bodyPr/>
                    <a:lstStyle/>
                    <a:p>
                      <a:r>
                        <a:rPr sz="1330" b="0" i="0">
                          <a:solidFill>
                            <a:srgbClr val="007C85"/>
                          </a:solidFill>
                          <a:latin typeface="Consolas"/>
                        </a:rPr>
                        <a:t>date '2001-09-28' + 7 → date '2001-10-05'</a:t>
                      </a:r>
                    </a:p>
                  </a:txBody>
                  <a:tcPr>
                    <a:solidFill>
                      <a:srgbClr val="F3F6F7"/>
                    </a:solidFill>
                  </a:tcPr>
                </a:tc>
                <a:extLst>
                  <a:ext uri="{0D108BD9-81ED-4DB2-BD59-A6C34878D82A}">
                    <a16:rowId xmlns:a16="http://schemas.microsoft.com/office/drawing/2014/main" val="10002"/>
                  </a:ext>
                </a:extLst>
              </a:tr>
              <a:tr h="304800">
                <a:tc>
                  <a:txBody>
                    <a:bodyPr/>
                    <a:lstStyle/>
                    <a:p>
                      <a:r>
                        <a:rPr sz="1400" b="0" i="0">
                          <a:solidFill>
                            <a:srgbClr val="000000"/>
                          </a:solidFill>
                          <a:latin typeface="Arial"/>
                        </a:rPr>
                        <a:t>Subtraction</a:t>
                      </a:r>
                    </a:p>
                  </a:txBody>
                  <a:tcPr>
                    <a:solidFill>
                      <a:srgbClr val="FFFFFF"/>
                    </a:solidFill>
                  </a:tcPr>
                </a:tc>
                <a:tc>
                  <a:txBody>
                    <a:bodyPr/>
                    <a:lstStyle/>
                    <a:p>
                      <a:r>
                        <a:rPr sz="1330" b="0" i="0">
                          <a:solidFill>
                            <a:srgbClr val="007C85"/>
                          </a:solidFill>
                          <a:latin typeface="Consolas"/>
                        </a:rPr>
                        <a:t>date - number</a:t>
                      </a:r>
                    </a:p>
                  </a:txBody>
                  <a:tcPr>
                    <a:solidFill>
                      <a:srgbClr val="FFFFFF"/>
                    </a:solidFill>
                  </a:tcPr>
                </a:tc>
                <a:tc>
                  <a:txBody>
                    <a:bodyPr/>
                    <a:lstStyle/>
                    <a:p>
                      <a:r>
                        <a:rPr sz="1330" b="0" i="0">
                          <a:solidFill>
                            <a:srgbClr val="007C85"/>
                          </a:solidFill>
                          <a:latin typeface="Consolas"/>
                        </a:rPr>
                        <a:t>date '2001-09-28' - 7 → date '2001-09-21'</a:t>
                      </a:r>
                    </a:p>
                  </a:txBody>
                  <a:tcPr>
                    <a:solidFill>
                      <a:srgbClr val="FFFFFF"/>
                    </a:solidFill>
                  </a:tcPr>
                </a:tc>
                <a:extLst>
                  <a:ext uri="{0D108BD9-81ED-4DB2-BD59-A6C34878D82A}">
                    <a16:rowId xmlns:a16="http://schemas.microsoft.com/office/drawing/2014/main" val="10003"/>
                  </a:ext>
                </a:extLst>
              </a:tr>
              <a:tr h="304800">
                <a:tc>
                  <a:txBody>
                    <a:bodyPr/>
                    <a:lstStyle/>
                    <a:p>
                      <a:r>
                        <a:rPr sz="1400" b="0" i="0">
                          <a:solidFill>
                            <a:srgbClr val="000000"/>
                          </a:solidFill>
                          <a:latin typeface="Arial"/>
                        </a:rPr>
                        <a:t>Difference</a:t>
                      </a:r>
                    </a:p>
                  </a:txBody>
                  <a:tcPr>
                    <a:solidFill>
                      <a:srgbClr val="F3F6F7"/>
                    </a:solidFill>
                  </a:tcPr>
                </a:tc>
                <a:tc>
                  <a:txBody>
                    <a:bodyPr/>
                    <a:lstStyle/>
                    <a:p>
                      <a:r>
                        <a:rPr sz="1330" b="0" i="0">
                          <a:solidFill>
                            <a:srgbClr val="007C85"/>
                          </a:solidFill>
                          <a:latin typeface="Consolas"/>
                        </a:rPr>
                        <a:t>date - date</a:t>
                      </a:r>
                    </a:p>
                  </a:txBody>
                  <a:tcPr>
                    <a:solidFill>
                      <a:srgbClr val="F3F6F7"/>
                    </a:solidFill>
                  </a:tcPr>
                </a:tc>
                <a:tc>
                  <a:txBody>
                    <a:bodyPr/>
                    <a:lstStyle/>
                    <a:p>
                      <a:r>
                        <a:rPr sz="1330" b="0" i="0">
                          <a:solidFill>
                            <a:srgbClr val="007C85"/>
                          </a:solidFill>
                          <a:latin typeface="Consolas"/>
                        </a:rPr>
                        <a:t>date '2001-10-01' - date '2001-09-28' → 3</a:t>
                      </a:r>
                    </a:p>
                  </a:txBody>
                  <a:tcPr>
                    <a:solidFill>
                      <a:srgbClr val="F3F6F7"/>
                    </a:solidFill>
                  </a:tcPr>
                </a:tc>
                <a:extLst>
                  <a:ext uri="{0D108BD9-81ED-4DB2-BD59-A6C34878D82A}">
                    <a16:rowId xmlns:a16="http://schemas.microsoft.com/office/drawing/2014/main" val="10004"/>
                  </a:ext>
                </a:extLst>
              </a:tr>
              <a:tr h="304800">
                <a:tc>
                  <a:txBody>
                    <a:bodyPr/>
                    <a:lstStyle/>
                    <a:p>
                      <a:r>
                        <a:rPr sz="1400" b="0" i="0">
                          <a:solidFill>
                            <a:srgbClr val="000000"/>
                          </a:solidFill>
                          <a:latin typeface="Arial"/>
                        </a:rPr>
                        <a:t>Part of a date</a:t>
                      </a:r>
                    </a:p>
                  </a:txBody>
                  <a:tcPr>
                    <a:solidFill>
                      <a:srgbClr val="FFFFFF"/>
                    </a:solidFill>
                  </a:tcPr>
                </a:tc>
                <a:tc>
                  <a:txBody>
                    <a:bodyPr/>
                    <a:lstStyle/>
                    <a:p>
                      <a:r>
                        <a:rPr sz="1330" b="0" i="0">
                          <a:solidFill>
                            <a:srgbClr val="007C85"/>
                          </a:solidFill>
                          <a:latin typeface="Consolas"/>
                        </a:rPr>
                        <a:t>extract(part from date)</a:t>
                      </a:r>
                    </a:p>
                  </a:txBody>
                  <a:tcPr>
                    <a:solidFill>
                      <a:srgbClr val="FFFFFF"/>
                    </a:solidFill>
                  </a:tcPr>
                </a:tc>
                <a:tc>
                  <a:txBody>
                    <a:bodyPr/>
                    <a:lstStyle/>
                    <a:p>
                      <a:r>
                        <a:rPr sz="1330" b="0" i="0">
                          <a:solidFill>
                            <a:srgbClr val="007C85"/>
                          </a:solidFill>
                          <a:latin typeface="Consolas"/>
                        </a:rPr>
                        <a:t>extract(year from date '2001-10-01') → 2001</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0. PRELIMINARIES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Operators and functions</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520" b="0" i="0">
                <a:solidFill>
                  <a:srgbClr val="007C85"/>
                </a:solidFill>
                <a:latin typeface="Consolas"/>
              </a:rPr>
              <a:t>extract</a:t>
            </a:r>
            <a:r>
              <a:rPr sz="1600" b="0" i="0">
                <a:solidFill>
                  <a:srgbClr val="000000"/>
                </a:solidFill>
                <a:latin typeface="Arial"/>
              </a:rPr>
              <a:t> is the workhorse of this lecture — it is how we get a year or a decade out of </a:t>
            </a:r>
            <a:r>
              <a:rPr sz="1520" b="0" i="0">
                <a:solidFill>
                  <a:srgbClr val="007C85"/>
                </a:solidFill>
                <a:latin typeface="Consolas"/>
              </a:rPr>
              <a:t>release_date</a:t>
            </a:r>
            <a:r>
              <a:rPr sz="1600" b="0" i="0">
                <a:solidFill>
                  <a:srgbClr val="000000"/>
                </a:solidFill>
                <a:latin typeface="Arial"/>
              </a:rPr>
              <a:t>:</a:t>
            </a:r>
          </a:p>
        </p:txBody>
      </p:sp>
      <p:pic>
        <p:nvPicPr>
          <p:cNvPr id="15" name="Picture 14" descr="SELECT name,&#10;       release_date,&#10;       EXTRACT(YEAR FROM release_date)::int              AS year,&#10;       (EXTRACT(YEAR FROM release_date)::int / 10) * 10  AS decade&#10;  FROM tracks&#10; ORDER BY release_date&#10; LIMIT 5;"/>
          <p:cNvPicPr>
            <a:picLocks noChangeAspect="1"/>
          </p:cNvPicPr>
          <p:nvPr/>
        </p:nvPicPr>
        <p:blipFill>
          <a:blip r:embed="rId4"/>
          <a:stretch>
            <a:fillRect/>
          </a:stretch>
        </p:blipFill>
        <p:spPr>
          <a:xfrm>
            <a:off x="1005840" y="1885187"/>
            <a:ext cx="7962017" cy="2214543"/>
          </a:xfrm>
          <a:prstGeom prst="rect">
            <a:avLst/>
          </a:prstGeom>
        </p:spPr>
      </p:pic>
      <p:pic>
        <p:nvPicPr>
          <p:cNvPr id="16" name="Picture 15" descr="SELECT name,&#10;       release_date,&#10;       EXTRACT(YEAR FROM release_date)::int              AS year,&#10;       (EXTRACT(YEAR FROM release_date)::int / 10) * 10  AS decade&#10;  FROM tracks&#10; ORDER BY release_date&#10; LIMIT 5;"/>
          <p:cNvPicPr>
            <a:picLocks noChangeAspect="1"/>
          </p:cNvPicPr>
          <p:nvPr/>
        </p:nvPicPr>
        <p:blipFill>
          <a:blip r:embed="rId5"/>
          <a:stretch>
            <a:fillRect/>
          </a:stretch>
        </p:blipFill>
        <p:spPr>
          <a:xfrm>
            <a:off x="1005840" y="4328331"/>
            <a:ext cx="4678977" cy="21628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2"/>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0. PRELIMINARIES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Operators and functions</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Boolean and comparison operators:</a:t>
            </a:r>
          </a:p>
        </p:txBody>
      </p:sp>
      <p:graphicFrame>
        <p:nvGraphicFramePr>
          <p:cNvPr id="15" name="Table"/>
          <p:cNvGraphicFramePr>
            <a:graphicFrameLocks noGrp="1"/>
          </p:cNvGraphicFramePr>
          <p:nvPr/>
        </p:nvGraphicFramePr>
        <p:xfrm>
          <a:off x="1005840" y="1885187"/>
          <a:ext cx="10332719" cy="1219200"/>
        </p:xfrm>
        <a:graphic>
          <a:graphicData uri="http://schemas.openxmlformats.org/drawingml/2006/table">
            <a:tbl>
              <a:tblPr firstRow="1">
                <a:tableStyleId>{5C22544A-7EE6-4342-B048-85BDC9FD1C3A}</a:tableStyleId>
              </a:tblPr>
              <a:tblGrid>
                <a:gridCol w="3497228">
                  <a:extLst>
                    <a:ext uri="{9D8B030D-6E8A-4147-A177-3AD203B41FA5}">
                      <a16:colId xmlns:a16="http://schemas.microsoft.com/office/drawing/2014/main" val="20000"/>
                    </a:ext>
                  </a:extLst>
                </a:gridCol>
                <a:gridCol w="3020333">
                  <a:extLst>
                    <a:ext uri="{9D8B030D-6E8A-4147-A177-3AD203B41FA5}">
                      <a16:colId xmlns:a16="http://schemas.microsoft.com/office/drawing/2014/main" val="20001"/>
                    </a:ext>
                  </a:extLst>
                </a:gridCol>
                <a:gridCol w="3815158">
                  <a:extLst>
                    <a:ext uri="{9D8B030D-6E8A-4147-A177-3AD203B41FA5}">
                      <a16:colId xmlns:a16="http://schemas.microsoft.com/office/drawing/2014/main" val="20002"/>
                    </a:ext>
                  </a:extLst>
                </a:gridCol>
              </a:tblGrid>
              <a:tr h="304800">
                <a:tc>
                  <a:txBody>
                    <a:bodyPr/>
                    <a:lstStyle/>
                    <a:p>
                      <a:r>
                        <a:rPr sz="1400" b="1" i="0">
                          <a:solidFill>
                            <a:srgbClr val="000000"/>
                          </a:solidFill>
                          <a:latin typeface="Arial"/>
                        </a:rPr>
                        <a:t>Purpose</a:t>
                      </a:r>
                    </a:p>
                  </a:txBody>
                  <a:tcPr>
                    <a:solidFill>
                      <a:srgbClr val="03CDD8"/>
                    </a:solidFill>
                  </a:tcPr>
                </a:tc>
                <a:tc>
                  <a:txBody>
                    <a:bodyPr/>
                    <a:lstStyle/>
                    <a:p>
                      <a:r>
                        <a:rPr sz="1400" b="1" i="0">
                          <a:solidFill>
                            <a:srgbClr val="000000"/>
                          </a:solidFill>
                          <a:latin typeface="Arial"/>
                        </a:rPr>
                        <a:t>Operator</a:t>
                      </a:r>
                    </a:p>
                  </a:txBody>
                  <a:tcPr>
                    <a:solidFill>
                      <a:srgbClr val="03CDD8"/>
                    </a:solidFill>
                  </a:tcPr>
                </a:tc>
                <a:tc>
                  <a:txBody>
                    <a:bodyPr/>
                    <a:lstStyle/>
                    <a:p>
                      <a:r>
                        <a:rPr sz="1400" b="1" i="0">
                          <a:solidFill>
                            <a:srgbClr val="000000"/>
                          </a:solidFill>
                          <a:latin typeface="Arial"/>
                        </a:rPr>
                        <a:t>Examples</a:t>
                      </a:r>
                    </a:p>
                  </a:txBody>
                  <a:tcPr>
                    <a:solidFill>
                      <a:srgbClr val="03CDD8"/>
                    </a:solidFill>
                  </a:tcPr>
                </a:tc>
                <a:extLst>
                  <a:ext uri="{0D108BD9-81ED-4DB2-BD59-A6C34878D82A}">
                    <a16:rowId xmlns:a16="http://schemas.microsoft.com/office/drawing/2014/main" val="10000"/>
                  </a:ext>
                </a:extLst>
              </a:tr>
              <a:tr h="304800">
                <a:tc>
                  <a:txBody>
                    <a:bodyPr/>
                    <a:lstStyle/>
                    <a:p>
                      <a:r>
                        <a:rPr sz="1400" b="0" i="0">
                          <a:solidFill>
                            <a:srgbClr val="000000"/>
                          </a:solidFill>
                          <a:latin typeface="Arial"/>
                        </a:rPr>
                        <a:t>Logical NOT / AND / OR</a:t>
                      </a:r>
                    </a:p>
                  </a:txBody>
                  <a:tcPr>
                    <a:solidFill>
                      <a:srgbClr val="FFFFFF"/>
                    </a:solidFill>
                  </a:tcPr>
                </a:tc>
                <a:tc>
                  <a:txBody>
                    <a:bodyPr/>
                    <a:lstStyle/>
                    <a:p>
                      <a:r>
                        <a:rPr sz="1330" b="0" i="0">
                          <a:solidFill>
                            <a:srgbClr val="007C85"/>
                          </a:solidFill>
                          <a:latin typeface="Consolas"/>
                        </a:rPr>
                        <a:t>NOT</a:t>
                      </a:r>
                      <a:r>
                        <a:rPr sz="1400" b="0" i="0">
                          <a:solidFill>
                            <a:srgbClr val="000000"/>
                          </a:solidFill>
                          <a:latin typeface="Arial"/>
                        </a:rPr>
                        <a:t>, </a:t>
                      </a:r>
                      <a:r>
                        <a:rPr sz="1330" b="0" i="0">
                          <a:solidFill>
                            <a:srgbClr val="007C85"/>
                          </a:solidFill>
                          <a:latin typeface="Consolas"/>
                        </a:rPr>
                        <a:t>AND</a:t>
                      </a:r>
                      <a:r>
                        <a:rPr sz="1400" b="0" i="0">
                          <a:solidFill>
                            <a:srgbClr val="000000"/>
                          </a:solidFill>
                          <a:latin typeface="Arial"/>
                        </a:rPr>
                        <a:t>, </a:t>
                      </a:r>
                      <a:r>
                        <a:rPr sz="1330" b="0" i="0">
                          <a:solidFill>
                            <a:srgbClr val="007C85"/>
                          </a:solidFill>
                          <a:latin typeface="Consolas"/>
                        </a:rPr>
                        <a:t>OR</a:t>
                      </a:r>
                    </a:p>
                  </a:txBody>
                  <a:tcPr>
                    <a:solidFill>
                      <a:srgbClr val="FFFFFF"/>
                    </a:solidFill>
                  </a:tcPr>
                </a:tc>
                <a:tc>
                  <a:txBody>
                    <a:bodyPr/>
                    <a:lstStyle/>
                    <a:p>
                      <a:r>
                        <a:rPr sz="1330" b="0" i="0">
                          <a:solidFill>
                            <a:srgbClr val="007C85"/>
                          </a:solidFill>
                          <a:latin typeface="Consolas"/>
                        </a:rPr>
                        <a:t>true AND false → false</a:t>
                      </a:r>
                    </a:p>
                  </a:txBody>
                  <a:tcPr>
                    <a:solidFill>
                      <a:srgbClr val="FFFFFF"/>
                    </a:solidFill>
                  </a:tcPr>
                </a:tc>
                <a:extLst>
                  <a:ext uri="{0D108BD9-81ED-4DB2-BD59-A6C34878D82A}">
                    <a16:rowId xmlns:a16="http://schemas.microsoft.com/office/drawing/2014/main" val="10001"/>
                  </a:ext>
                </a:extLst>
              </a:tr>
              <a:tr h="304800">
                <a:tc>
                  <a:txBody>
                    <a:bodyPr/>
                    <a:lstStyle/>
                    <a:p>
                      <a:r>
                        <a:rPr sz="1400" b="0" i="0">
                          <a:solidFill>
                            <a:srgbClr val="000000"/>
                          </a:solidFill>
                          <a:latin typeface="Arial"/>
                        </a:rPr>
                        <a:t>Comparison</a:t>
                      </a:r>
                    </a:p>
                  </a:txBody>
                  <a:tcPr>
                    <a:solidFill>
                      <a:srgbClr val="F3F6F7"/>
                    </a:solidFill>
                  </a:tcPr>
                </a:tc>
                <a:tc>
                  <a:txBody>
                    <a:bodyPr/>
                    <a:lstStyle/>
                    <a:p>
                      <a:r>
                        <a:rPr sz="1330" b="0" i="0">
                          <a:solidFill>
                            <a:srgbClr val="007C85"/>
                          </a:solidFill>
                          <a:latin typeface="Consolas"/>
                        </a:rPr>
                        <a:t>=</a:t>
                      </a:r>
                      <a:r>
                        <a:rPr sz="1400" b="0" i="0">
                          <a:solidFill>
                            <a:srgbClr val="000000"/>
                          </a:solidFill>
                          <a:latin typeface="Arial"/>
                        </a:rPr>
                        <a:t>, </a:t>
                      </a:r>
                      <a:r>
                        <a:rPr sz="1330" b="0" i="0">
                          <a:solidFill>
                            <a:srgbClr val="007C85"/>
                          </a:solidFill>
                          <a:latin typeface="Consolas"/>
                        </a:rPr>
                        <a:t>&gt;</a:t>
                      </a:r>
                      <a:r>
                        <a:rPr sz="1400" b="0" i="0">
                          <a:solidFill>
                            <a:srgbClr val="000000"/>
                          </a:solidFill>
                          <a:latin typeface="Arial"/>
                        </a:rPr>
                        <a:t>, </a:t>
                      </a:r>
                      <a:r>
                        <a:rPr sz="1330" b="0" i="0">
                          <a:solidFill>
                            <a:srgbClr val="007C85"/>
                          </a:solidFill>
                          <a:latin typeface="Consolas"/>
                        </a:rPr>
                        <a:t>&gt;=</a:t>
                      </a:r>
                      <a:r>
                        <a:rPr sz="1400" b="0" i="0">
                          <a:solidFill>
                            <a:srgbClr val="000000"/>
                          </a:solidFill>
                          <a:latin typeface="Arial"/>
                        </a:rPr>
                        <a:t>, </a:t>
                      </a:r>
                      <a:r>
                        <a:rPr sz="1330" b="0" i="0">
                          <a:solidFill>
                            <a:srgbClr val="007C85"/>
                          </a:solidFill>
                          <a:latin typeface="Consolas"/>
                        </a:rPr>
                        <a:t>&lt;</a:t>
                      </a:r>
                      <a:r>
                        <a:rPr sz="1400" b="0" i="0">
                          <a:solidFill>
                            <a:srgbClr val="000000"/>
                          </a:solidFill>
                          <a:latin typeface="Arial"/>
                        </a:rPr>
                        <a:t>, </a:t>
                      </a:r>
                      <a:r>
                        <a:rPr sz="1330" b="0" i="0">
                          <a:solidFill>
                            <a:srgbClr val="007C85"/>
                          </a:solidFill>
                          <a:latin typeface="Consolas"/>
                        </a:rPr>
                        <a:t>&lt;=</a:t>
                      </a:r>
                      <a:r>
                        <a:rPr sz="1400" b="0" i="0">
                          <a:solidFill>
                            <a:srgbClr val="000000"/>
                          </a:solidFill>
                          <a:latin typeface="Arial"/>
                        </a:rPr>
                        <a:t>, </a:t>
                      </a:r>
                      <a:r>
                        <a:rPr sz="1330" b="0" i="0">
                          <a:solidFill>
                            <a:srgbClr val="007C85"/>
                          </a:solidFill>
                          <a:latin typeface="Consolas"/>
                        </a:rPr>
                        <a:t>&lt;&gt;</a:t>
                      </a:r>
                    </a:p>
                  </a:txBody>
                  <a:tcPr>
                    <a:solidFill>
                      <a:srgbClr val="F3F6F7"/>
                    </a:solidFill>
                  </a:tcPr>
                </a:tc>
                <a:tc>
                  <a:txBody>
                    <a:bodyPr/>
                    <a:lstStyle/>
                    <a:p>
                      <a:r>
                        <a:rPr sz="1330" b="0" i="0">
                          <a:solidFill>
                            <a:srgbClr val="007C85"/>
                          </a:solidFill>
                          <a:latin typeface="Consolas"/>
                        </a:rPr>
                        <a:t>7 &gt; 5 → true</a:t>
                      </a:r>
                    </a:p>
                  </a:txBody>
                  <a:tcPr>
                    <a:solidFill>
                      <a:srgbClr val="F3F6F7"/>
                    </a:solidFill>
                  </a:tcPr>
                </a:tc>
                <a:extLst>
                  <a:ext uri="{0D108BD9-81ED-4DB2-BD59-A6C34878D82A}">
                    <a16:rowId xmlns:a16="http://schemas.microsoft.com/office/drawing/2014/main" val="10002"/>
                  </a:ext>
                </a:extLst>
              </a:tr>
              <a:tr h="304800">
                <a:tc>
                  <a:txBody>
                    <a:bodyPr/>
                    <a:lstStyle/>
                    <a:p>
                      <a:r>
                        <a:rPr sz="1400" b="0" i="0">
                          <a:solidFill>
                            <a:srgbClr val="000000"/>
                          </a:solidFill>
                          <a:latin typeface="Arial"/>
                        </a:rPr>
                        <a:t>Range</a:t>
                      </a:r>
                    </a:p>
                  </a:txBody>
                  <a:tcPr>
                    <a:solidFill>
                      <a:srgbClr val="FFFFFF"/>
                    </a:solidFill>
                  </a:tcPr>
                </a:tc>
                <a:tc>
                  <a:txBody>
                    <a:bodyPr/>
                    <a:lstStyle/>
                    <a:p>
                      <a:r>
                        <a:rPr sz="1330" b="0" i="0">
                          <a:solidFill>
                            <a:srgbClr val="007C85"/>
                          </a:solidFill>
                          <a:latin typeface="Consolas"/>
                        </a:rPr>
                        <a:t>BETWEEN</a:t>
                      </a:r>
                    </a:p>
                  </a:txBody>
                  <a:tcPr>
                    <a:solidFill>
                      <a:srgbClr val="FFFFFF"/>
                    </a:solidFill>
                  </a:tcPr>
                </a:tc>
                <a:tc>
                  <a:txBody>
                    <a:bodyPr/>
                    <a:lstStyle/>
                    <a:p>
                      <a:r>
                        <a:rPr sz="1330" b="0" i="0">
                          <a:solidFill>
                            <a:srgbClr val="007C85"/>
                          </a:solidFill>
                          <a:latin typeface="Consolas"/>
                        </a:rPr>
                        <a:t>5 BETWEEN 3 AND 7 → true</a:t>
                      </a:r>
                    </a:p>
                  </a:txBody>
                  <a:tcPr>
                    <a:solidFill>
                      <a:srgbClr val="FFFFFF"/>
                    </a:solidFill>
                  </a:tcPr>
                </a:tc>
                <a:extLst>
                  <a:ext uri="{0D108BD9-81ED-4DB2-BD59-A6C34878D82A}">
                    <a16:rowId xmlns:a16="http://schemas.microsoft.com/office/drawing/2014/main" val="10003"/>
                  </a:ext>
                </a:extLst>
              </a:tr>
            </a:tbl>
          </a:graphicData>
        </a:graphic>
      </p:graphicFrame>
      <p:sp>
        <p:nvSpPr>
          <p:cNvPr id="16" name="Note"/>
          <p:cNvSpPr txBox="1"/>
          <p:nvPr/>
        </p:nvSpPr>
        <p:spPr>
          <a:xfrm>
            <a:off x="1005840" y="3470148"/>
            <a:ext cx="10332720" cy="426720"/>
          </a:xfrm>
          <a:prstGeom prst="rect">
            <a:avLst/>
          </a:prstGeom>
          <a:noFill/>
        </p:spPr>
        <p:txBody>
          <a:bodyPr wrap="square" lIns="0" tIns="27432" rIns="0" bIns="27432" anchor="t">
            <a:spAutoFit/>
          </a:bodyPr>
          <a:lstStyle/>
          <a:p>
            <a:pPr>
              <a:spcAft>
                <a:spcPts val="720"/>
              </a:spcAft>
            </a:pPr>
            <a:r>
              <a:rPr sz="1600" b="1" i="0">
                <a:solidFill>
                  <a:srgbClr val="000000"/>
                </a:solidFill>
                <a:latin typeface="Arial"/>
              </a:rPr>
              <a:t>Operator precedence:</a:t>
            </a:r>
            <a:r>
              <a:rPr sz="1600" b="0" i="0">
                <a:solidFill>
                  <a:srgbClr val="000000"/>
                </a:solidFill>
                <a:latin typeface="Arial"/>
              </a:rPr>
              <a:t> comparison operators are evaluated first, then </a:t>
            </a:r>
            <a:r>
              <a:rPr sz="1520" b="0" i="0">
                <a:solidFill>
                  <a:srgbClr val="007C85"/>
                </a:solidFill>
                <a:latin typeface="Consolas"/>
              </a:rPr>
              <a:t>NOT</a:t>
            </a:r>
            <a:r>
              <a:rPr sz="1600" b="0" i="0">
                <a:solidFill>
                  <a:srgbClr val="000000"/>
                </a:solidFill>
                <a:latin typeface="Arial"/>
              </a:rPr>
              <a:t>, then </a:t>
            </a:r>
            <a:r>
              <a:rPr sz="1520" b="0" i="0">
                <a:solidFill>
                  <a:srgbClr val="007C85"/>
                </a:solidFill>
                <a:latin typeface="Consolas"/>
              </a:rPr>
              <a:t>AND</a:t>
            </a:r>
            <a:r>
              <a:rPr sz="1600" b="0" i="0">
                <a:solidFill>
                  <a:srgbClr val="000000"/>
                </a:solidFill>
                <a:latin typeface="Arial"/>
              </a:rPr>
              <a:t>, and </a:t>
            </a:r>
            <a:r>
              <a:rPr sz="1520" b="0" i="0">
                <a:solidFill>
                  <a:srgbClr val="007C85"/>
                </a:solidFill>
                <a:latin typeface="Consolas"/>
              </a:rPr>
              <a:t>OR</a:t>
            </a:r>
            <a:r>
              <a:rPr sz="1600" b="0" i="0">
                <a:solidFill>
                  <a:srgbClr val="000000"/>
                </a:solidFill>
                <a:latin typeface="Arial"/>
              </a:rPr>
              <a:t> last.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0. PRELIMINARIES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The CASE operator</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Bucketing tracks by how popular they are:</a:t>
            </a:r>
          </a:p>
        </p:txBody>
      </p:sp>
      <p:pic>
        <p:nvPicPr>
          <p:cNvPr id="15" name="Picture 14" descr="SELECT name,&#10;       popularity,&#10;       CASE WHEN popularity &gt;= 80 THEN 'hit'&#10;            WHEN popularity &gt;= 50 THEN 'known'&#10;            WHEN popularity &gt;= 20 THEN 'deep cut'&#10;            ELSE 'obscure' END AS tier,&#10;       explicit,&#10;       explicit::int AS explicit_int&#10;  FROM tracks&#10; ORDER BY popularity DESC, name&#10; LIMIT 6;"/>
          <p:cNvPicPr>
            <a:picLocks noChangeAspect="1"/>
          </p:cNvPicPr>
          <p:nvPr/>
        </p:nvPicPr>
        <p:blipFill>
          <a:blip r:embed="rId4"/>
          <a:stretch>
            <a:fillRect/>
          </a:stretch>
        </p:blipFill>
        <p:spPr>
          <a:xfrm>
            <a:off x="1005840" y="1885187"/>
            <a:ext cx="4916658" cy="2708030"/>
          </a:xfrm>
          <a:prstGeom prst="rect">
            <a:avLst/>
          </a:prstGeom>
        </p:spPr>
      </p:pic>
      <p:pic>
        <p:nvPicPr>
          <p:cNvPr id="16" name="Picture 15" descr="SELECT name,&#10;       popularity,&#10;       CASE WHEN popularity &gt;= 80 THEN 'hit'&#10;            WHEN popularity &gt;= 50 THEN 'known'&#10;            WHEN popularity &gt;= 20 THEN 'deep cut'&#10;            ELSE 'obscure' END AS tier,&#10;       explicit,&#10;       explicit::int AS explicit_int&#10;  FROM tracks&#10; ORDER BY popularity DESC, name&#10; LIMIT 6;"/>
          <p:cNvPicPr>
            <a:picLocks noChangeAspect="1"/>
          </p:cNvPicPr>
          <p:nvPr/>
        </p:nvPicPr>
        <p:blipFill>
          <a:blip r:embed="rId5"/>
          <a:stretch>
            <a:fillRect/>
          </a:stretch>
        </p:blipFill>
        <p:spPr>
          <a:xfrm>
            <a:off x="6151098" y="1885187"/>
            <a:ext cx="5247249" cy="2032781"/>
          </a:xfrm>
          <a:prstGeom prst="rect">
            <a:avLst/>
          </a:prstGeom>
        </p:spPr>
      </p:pic>
      <p:sp>
        <p:nvSpPr>
          <p:cNvPr id="17" name="Note"/>
          <p:cNvSpPr txBox="1"/>
          <p:nvPr/>
        </p:nvSpPr>
        <p:spPr>
          <a:xfrm>
            <a:off x="1005840" y="4821818"/>
            <a:ext cx="10332720" cy="42672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Note </a:t>
            </a:r>
            <a:r>
              <a:rPr sz="1520" b="0" i="0">
                <a:solidFill>
                  <a:srgbClr val="007C85"/>
                </a:solidFill>
                <a:latin typeface="Consolas"/>
              </a:rPr>
              <a:t>explicit::int</a:t>
            </a:r>
            <a:r>
              <a:rPr sz="1600" b="0" i="0">
                <a:solidFill>
                  <a:srgbClr val="000000"/>
                </a:solidFill>
                <a:latin typeface="Arial"/>
              </a:rPr>
              <a:t> — a boolean cast to an integer gives 1 or 0, which is handy for summing later.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colorful object&#10;&#10;AI-generated content may be incorrect.">
            <a:extLst>
              <a:ext uri="{FF2B5EF4-FFF2-40B4-BE49-F238E27FC236}">
                <a16:creationId xmlns:a16="http://schemas.microsoft.com/office/drawing/2014/main" id="{94BE2C03-EF74-F5AD-32D8-416E3638685C}"/>
              </a:ext>
            </a:extLst>
          </p:cNvPr>
          <p:cNvPicPr>
            <a:picLocks noGrp="1" noChangeAspect="1"/>
          </p:cNvPicPr>
          <p:nvPr>
            <p:ph idx="1"/>
          </p:nvPr>
        </p:nvPicPr>
        <p:blipFill>
          <a:blip r:embed="rId2"/>
          <a:stretch>
            <a:fillRect/>
          </a:stretch>
        </p:blipFill>
        <p:spPr>
          <a:xfrm>
            <a:off x="0" y="0"/>
            <a:ext cx="12192000" cy="6858000"/>
          </a:xfrm>
        </p:spPr>
      </p:pic>
      <p:pic>
        <p:nvPicPr>
          <p:cNvPr id="10" name="Picture 9" descr="A black background with a black square&#10;&#10;AI-generated content may be incorrect.">
            <a:extLst>
              <a:ext uri="{FF2B5EF4-FFF2-40B4-BE49-F238E27FC236}">
                <a16:creationId xmlns:a16="http://schemas.microsoft.com/office/drawing/2014/main" id="{B665C1B3-FAA8-E5C8-582A-771B8F2A5AF1}"/>
              </a:ext>
            </a:extLst>
          </p:cNvPr>
          <p:cNvPicPr>
            <a:picLocks noChangeAspect="1"/>
          </p:cNvPicPr>
          <p:nvPr/>
        </p:nvPicPr>
        <p:blipFill>
          <a:blip r:embed="rId3"/>
          <a:stretch>
            <a:fillRect/>
          </a:stretch>
        </p:blipFill>
        <p:spPr>
          <a:xfrm>
            <a:off x="11606498" y="198723"/>
            <a:ext cx="332804" cy="332804"/>
          </a:xfrm>
          <a:prstGeom prst="rect">
            <a:avLst/>
          </a:prstGeom>
        </p:spPr>
      </p:pic>
      <p:sp>
        <p:nvSpPr>
          <p:cNvPr id="11" name="Title"/>
          <p:cNvSpPr txBox="1"/>
          <p:nvPr/>
        </p:nvSpPr>
        <p:spPr>
          <a:xfrm>
            <a:off x="6035040" y="685800"/>
            <a:ext cx="5394960" cy="670953"/>
          </a:xfrm>
          <a:prstGeom prst="rect">
            <a:avLst/>
          </a:prstGeom>
          <a:noFill/>
        </p:spPr>
        <p:txBody>
          <a:bodyPr wrap="square" lIns="0" tIns="27432" rIns="0" bIns="27432" anchor="t">
            <a:spAutoFit/>
          </a:bodyPr>
          <a:lstStyle/>
          <a:p>
            <a:r>
              <a:rPr sz="4000" b="1" i="0" dirty="0">
                <a:solidFill>
                  <a:srgbClr val="000000"/>
                </a:solidFill>
                <a:latin typeface="Arial"/>
              </a:rPr>
              <a:t>Filtering and sorting</a:t>
            </a:r>
          </a:p>
        </p:txBody>
      </p:sp>
      <p:sp>
        <p:nvSpPr>
          <p:cNvPr id="12" name="Body"/>
          <p:cNvSpPr txBox="1"/>
          <p:nvPr/>
        </p:nvSpPr>
        <p:spPr>
          <a:xfrm>
            <a:off x="6035040" y="2219960"/>
            <a:ext cx="5394960" cy="4135120"/>
          </a:xfrm>
          <a:prstGeom prst="rect">
            <a:avLst/>
          </a:prstGeom>
          <a:noFill/>
        </p:spPr>
        <p:txBody>
          <a:bodyPr wrap="square" lIns="0" tIns="27432" rIns="0" bIns="27432" anchor="t">
            <a:spAutoFit/>
          </a:bodyPr>
          <a:lstStyle/>
          <a:p>
            <a:pPr marL="292608" indent="-292608">
              <a:spcAft>
                <a:spcPts val="810"/>
              </a:spcAft>
              <a:buFont typeface="Arial"/>
              <a:buChar char="•"/>
            </a:pPr>
            <a:r>
              <a:rPr sz="1800" b="0" i="0">
                <a:solidFill>
                  <a:srgbClr val="000000"/>
                </a:solidFill>
                <a:latin typeface="Arial"/>
              </a:rPr>
              <a:t>Filtering (WHERE)</a:t>
            </a:r>
          </a:p>
          <a:p>
            <a:pPr marL="292608" indent="-292608">
              <a:spcAft>
                <a:spcPts val="810"/>
              </a:spcAft>
              <a:buFont typeface="Arial"/>
              <a:buChar char="•"/>
            </a:pPr>
            <a:r>
              <a:rPr sz="1800" b="0" i="0">
                <a:solidFill>
                  <a:srgbClr val="000000"/>
                </a:solidFill>
                <a:latin typeface="Arial"/>
              </a:rPr>
              <a:t>Filtering text</a:t>
            </a:r>
          </a:p>
          <a:p>
            <a:pPr marL="292608" indent="-292608">
              <a:spcAft>
                <a:spcPts val="810"/>
              </a:spcAft>
              <a:buFont typeface="Arial"/>
              <a:buChar char="•"/>
            </a:pPr>
            <a:r>
              <a:rPr sz="1800" b="0" i="0">
                <a:solidFill>
                  <a:srgbClr val="000000"/>
                </a:solidFill>
                <a:latin typeface="Arial"/>
              </a:rPr>
              <a:t>Filtering by a computed field</a:t>
            </a:r>
          </a:p>
          <a:p>
            <a:pPr marL="292608" indent="-292608">
              <a:spcAft>
                <a:spcPts val="810"/>
              </a:spcAft>
              <a:buFont typeface="Arial"/>
              <a:buChar char="•"/>
            </a:pPr>
            <a:r>
              <a:rPr sz="1800" b="0" i="0">
                <a:solidFill>
                  <a:srgbClr val="000000"/>
                </a:solidFill>
                <a:latin typeface="Arial"/>
              </a:rPr>
              <a:t>Sorting (ORDER BY)</a:t>
            </a:r>
          </a:p>
          <a:p>
            <a:pPr marL="292608" indent="-292608">
              <a:spcAft>
                <a:spcPts val="810"/>
              </a:spcAft>
              <a:buFont typeface="Arial"/>
              <a:buChar char="•"/>
            </a:pPr>
            <a:r>
              <a:rPr sz="1800" b="0" i="0">
                <a:solidFill>
                  <a:srgbClr val="000000"/>
                </a:solidFill>
                <a:latin typeface="Arial"/>
              </a:rPr>
              <a:t>Limiting the result set (LIMIT, OFFSET)</a:t>
            </a:r>
          </a:p>
          <a:p>
            <a:pPr marL="292608" indent="-292608">
              <a:spcAft>
                <a:spcPts val="810"/>
              </a:spcAft>
              <a:buFont typeface="Arial"/>
              <a:buChar char="•"/>
            </a:pPr>
            <a:r>
              <a:rPr sz="1800" b="0" i="0">
                <a:solidFill>
                  <a:srgbClr val="000000"/>
                </a:solidFill>
                <a:latin typeface="Arial"/>
              </a:rPr>
              <a:t>Missing data (NULL)</a:t>
            </a:r>
          </a:p>
          <a:p>
            <a:pPr marL="292608" indent="-292608">
              <a:spcAft>
                <a:spcPts val="810"/>
              </a:spcAft>
              <a:buFont typeface="Arial"/>
              <a:buChar char="•"/>
            </a:pPr>
            <a:r>
              <a:rPr sz="1800" b="0" i="0">
                <a:solidFill>
                  <a:srgbClr val="000000"/>
                </a:solidFill>
                <a:latin typeface="Arial"/>
              </a:rPr>
              <a:t>Check yourself</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1.1 FILTERING AND SORTING</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Filtering (WHERE)</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Several conditions are combined with </a:t>
            </a:r>
            <a:r>
              <a:rPr sz="1520" b="0" i="0">
                <a:solidFill>
                  <a:srgbClr val="007C85"/>
                </a:solidFill>
                <a:latin typeface="Consolas"/>
              </a:rPr>
              <a:t>AND</a:t>
            </a:r>
            <a:r>
              <a:rPr sz="1600" b="0" i="0">
                <a:solidFill>
                  <a:srgbClr val="000000"/>
                </a:solidFill>
                <a:latin typeface="Arial"/>
              </a:rPr>
              <a:t> and </a:t>
            </a:r>
            <a:r>
              <a:rPr sz="1520" b="0" i="0">
                <a:solidFill>
                  <a:srgbClr val="007C85"/>
                </a:solidFill>
                <a:latin typeface="Consolas"/>
              </a:rPr>
              <a:t>OR</a:t>
            </a:r>
            <a:r>
              <a:rPr sz="1600" b="0" i="0">
                <a:solidFill>
                  <a:srgbClr val="000000"/>
                </a:solidFill>
                <a:latin typeface="Arial"/>
              </a:rPr>
              <a:t>; </a:t>
            </a:r>
            <a:r>
              <a:rPr sz="1520" b="0" i="0">
                <a:solidFill>
                  <a:srgbClr val="007C85"/>
                </a:solidFill>
                <a:latin typeface="Consolas"/>
              </a:rPr>
              <a:t>AND</a:t>
            </a:r>
            <a:r>
              <a:rPr sz="1600" b="0" i="0">
                <a:solidFill>
                  <a:srgbClr val="000000"/>
                </a:solidFill>
                <a:latin typeface="Arial"/>
              </a:rPr>
              <a:t> binds tighter than </a:t>
            </a:r>
            <a:r>
              <a:rPr sz="1520" b="0" i="0">
                <a:solidFill>
                  <a:srgbClr val="007C85"/>
                </a:solidFill>
                <a:latin typeface="Consolas"/>
              </a:rPr>
              <a:t>OR</a:t>
            </a:r>
            <a:r>
              <a:rPr sz="1600" b="0" i="0">
                <a:solidFill>
                  <a:srgbClr val="000000"/>
                </a:solidFill>
                <a:latin typeface="Arial"/>
              </a:rPr>
              <a:t>.</a:t>
            </a:r>
          </a:p>
        </p:txBody>
      </p:sp>
      <p:pic>
        <p:nvPicPr>
          <p:cNvPr id="15" name="Picture 14" descr="SELECT name, popularity, release_date, explicit&#10;  FROM tracks&#10; WHERE explicit&#10;   AND popularity &gt; 75&#10; LIMIT 5;"/>
          <p:cNvPicPr>
            <a:picLocks noChangeAspect="1"/>
          </p:cNvPicPr>
          <p:nvPr/>
        </p:nvPicPr>
        <p:blipFill>
          <a:blip r:embed="rId4"/>
          <a:stretch>
            <a:fillRect/>
          </a:stretch>
        </p:blipFill>
        <p:spPr>
          <a:xfrm>
            <a:off x="1005840" y="1885187"/>
            <a:ext cx="6410325" cy="1838324"/>
          </a:xfrm>
          <a:prstGeom prst="rect">
            <a:avLst/>
          </a:prstGeom>
        </p:spPr>
      </p:pic>
      <p:pic>
        <p:nvPicPr>
          <p:cNvPr id="16" name="Picture 15" descr="SELECT name, popularity, release_date, explicit&#10;  FROM tracks&#10; WHERE explicit&#10;   AND popularity &gt; 75&#10; LIMIT 5;"/>
          <p:cNvPicPr>
            <a:picLocks noChangeAspect="1"/>
          </p:cNvPicPr>
          <p:nvPr/>
        </p:nvPicPr>
        <p:blipFill>
          <a:blip r:embed="rId5"/>
          <a:stretch>
            <a:fillRect/>
          </a:stretch>
        </p:blipFill>
        <p:spPr>
          <a:xfrm>
            <a:off x="1005840" y="3952113"/>
            <a:ext cx="5743575" cy="23907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20040" y="228600"/>
            <a:ext cx="228600" cy="228600"/>
          </a:xfrm>
          <a:prstGeom prst="rect">
            <a:avLst/>
          </a:prstGeom>
        </p:spPr>
      </p:pic>
      <p:sp>
        <p:nvSpPr>
          <p:cNvPr id="3" name="TextBox 2"/>
          <p:cNvSpPr txBox="1"/>
          <p:nvPr/>
        </p:nvSpPr>
        <p:spPr>
          <a:xfrm>
            <a:off x="612648" y="228600"/>
            <a:ext cx="1554480" cy="274320"/>
          </a:xfrm>
          <a:prstGeom prst="rect">
            <a:avLst/>
          </a:prstGeom>
          <a:noFill/>
        </p:spPr>
        <p:txBody>
          <a:bodyPr wrap="square" anchor="t">
            <a:spAutoFit/>
          </a:bodyPr>
          <a:lstStyle/>
          <a:p>
            <a:pPr algn="l"/>
            <a:r>
              <a:rPr sz="1300" b="1">
                <a:solidFill>
                  <a:srgbClr val="071327"/>
                </a:solidFill>
                <a:latin typeface="Arial"/>
              </a:rPr>
              <a:t>TBC Explorers</a:t>
            </a:r>
          </a:p>
        </p:txBody>
      </p:sp>
      <p:sp>
        <p:nvSpPr>
          <p:cNvPr id="5" name="TextBox 4"/>
          <p:cNvSpPr txBox="1"/>
          <p:nvPr/>
        </p:nvSpPr>
        <p:spPr>
          <a:xfrm>
            <a:off x="347472" y="6510528"/>
            <a:ext cx="3200400" cy="182880"/>
          </a:xfrm>
          <a:prstGeom prst="rect">
            <a:avLst/>
          </a:prstGeom>
          <a:noFill/>
        </p:spPr>
        <p:txBody>
          <a:bodyPr wrap="square" anchor="t">
            <a:spAutoFit/>
          </a:bodyPr>
          <a:lstStyle/>
          <a:p>
            <a:pPr algn="l"/>
            <a:r>
              <a:rPr sz="700" b="1">
                <a:solidFill>
                  <a:srgbClr val="697387"/>
                </a:solidFill>
                <a:latin typeface="Arial"/>
              </a:rPr>
              <a:t>1.1 - FILTERING &amp; SORTING</a:t>
            </a:r>
          </a:p>
        </p:txBody>
      </p:sp>
      <p:sp>
        <p:nvSpPr>
          <p:cNvPr id="6" name="TextBox 5"/>
          <p:cNvSpPr txBox="1"/>
          <p:nvPr/>
        </p:nvSpPr>
        <p:spPr>
          <a:xfrm>
            <a:off x="11384280" y="228600"/>
            <a:ext cx="320040" cy="228600"/>
          </a:xfrm>
          <a:prstGeom prst="rect">
            <a:avLst/>
          </a:prstGeom>
          <a:noFill/>
        </p:spPr>
        <p:txBody>
          <a:bodyPr wrap="square" anchor="t">
            <a:spAutoFit/>
          </a:bodyPr>
          <a:lstStyle/>
          <a:p>
            <a:pPr algn="r"/>
            <a:fld id="{B6F15528-21DE-4FAA-801E-634DDDAF4B2B}" type="slidenum">
              <a:rPr sz="900" b="0">
                <a:solidFill>
                  <a:srgbClr val="071327"/>
                </a:solidFill>
                <a:latin typeface="Arial"/>
              </a:rPr>
              <a:t>18</a:t>
            </a:fld>
          </a:p>
        </p:txBody>
      </p:sp>
      <p:sp>
        <p:nvSpPr>
          <p:cNvPr id="7" name="TextBox 6"/>
          <p:cNvSpPr txBox="1"/>
          <p:nvPr/>
        </p:nvSpPr>
        <p:spPr>
          <a:xfrm>
            <a:off x="384048" y="594360"/>
            <a:ext cx="2011680" cy="274320"/>
          </a:xfrm>
          <a:prstGeom prst="rect">
            <a:avLst/>
          </a:prstGeom>
          <a:noFill/>
        </p:spPr>
        <p:txBody>
          <a:bodyPr wrap="square" anchor="t">
            <a:spAutoFit/>
          </a:bodyPr>
          <a:lstStyle/>
          <a:p>
            <a:pPr algn="l"/>
            <a:r>
              <a:rPr sz="1100" b="1">
                <a:solidFill>
                  <a:srgbClr val="071327"/>
                </a:solidFill>
                <a:latin typeface="Arial"/>
              </a:rPr>
              <a:t>FILTERING DATA</a:t>
            </a:r>
          </a:p>
        </p:txBody>
      </p:sp>
      <p:sp>
        <p:nvSpPr>
          <p:cNvPr id="8" name="TextBox 7"/>
          <p:cNvSpPr txBox="1"/>
          <p:nvPr/>
        </p:nvSpPr>
        <p:spPr>
          <a:xfrm>
            <a:off x="384048" y="896112"/>
            <a:ext cx="4389120" cy="502920"/>
          </a:xfrm>
          <a:prstGeom prst="rect">
            <a:avLst/>
          </a:prstGeom>
          <a:noFill/>
        </p:spPr>
        <p:txBody>
          <a:bodyPr wrap="square" anchor="t">
            <a:spAutoFit/>
          </a:bodyPr>
          <a:lstStyle/>
          <a:p>
            <a:pPr algn="l"/>
            <a:r>
              <a:rPr sz="3000" b="1">
                <a:solidFill>
                  <a:srgbClr val="071327"/>
                </a:solidFill>
                <a:latin typeface="Arial"/>
              </a:rPr>
              <a:t>Combine several filters</a:t>
            </a:r>
          </a:p>
        </p:txBody>
      </p:sp>
      <p:sp>
        <p:nvSpPr>
          <p:cNvPr id="9" name="TextBox 8"/>
          <p:cNvSpPr txBox="1"/>
          <p:nvPr/>
        </p:nvSpPr>
        <p:spPr>
          <a:xfrm>
            <a:off x="384048" y="1353312"/>
            <a:ext cx="4389120" cy="530352"/>
          </a:xfrm>
          <a:prstGeom prst="rect">
            <a:avLst/>
          </a:prstGeom>
          <a:noFill/>
        </p:spPr>
        <p:txBody>
          <a:bodyPr wrap="square" anchor="t">
            <a:spAutoFit/>
          </a:bodyPr>
          <a:lstStyle/>
          <a:p>
            <a:pPr algn="l"/>
            <a:r>
              <a:rPr sz="3000" b="1">
                <a:solidFill>
                  <a:srgbClr val="14C7D3"/>
                </a:solidFill>
                <a:latin typeface="Arial"/>
              </a:rPr>
              <a:t>in one WHERE clause</a:t>
            </a:r>
          </a:p>
        </p:txBody>
      </p:sp>
      <p:sp>
        <p:nvSpPr>
          <p:cNvPr id="10" name="TextBox 9"/>
          <p:cNvSpPr txBox="1"/>
          <p:nvPr/>
        </p:nvSpPr>
        <p:spPr>
          <a:xfrm>
            <a:off x="384048" y="1938528"/>
            <a:ext cx="4937760" cy="457200"/>
          </a:xfrm>
          <a:prstGeom prst="rect">
            <a:avLst/>
          </a:prstGeom>
          <a:noFill/>
        </p:spPr>
        <p:txBody>
          <a:bodyPr wrap="square" anchor="t">
            <a:spAutoFit/>
          </a:bodyPr>
          <a:lstStyle/>
          <a:p>
            <a:pPr algn="l"/>
            <a:r>
              <a:rPr sz="1600" b="0">
                <a:solidFill>
                  <a:srgbClr val="697387"/>
                </a:solidFill>
                <a:latin typeface="Arial"/>
              </a:rPr>
              <a:t>WHERE keeps only the rows that match your condition.</a:t>
            </a:r>
          </a:p>
        </p:txBody>
      </p:sp>
      <p:sp>
        <p:nvSpPr>
          <p:cNvPr id="11" name="Rounded Rectangle 10"/>
          <p:cNvSpPr/>
          <p:nvPr/>
        </p:nvSpPr>
        <p:spPr>
          <a:xfrm>
            <a:off x="384048" y="2578608"/>
            <a:ext cx="6400800" cy="3246120"/>
          </a:xfrm>
          <a:prstGeom prst="roundRect">
            <a:avLst/>
          </a:prstGeom>
          <a:solidFill>
            <a:srgbClr val="12141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585216" y="2724912"/>
            <a:ext cx="548640" cy="228600"/>
          </a:xfrm>
          <a:prstGeom prst="rect">
            <a:avLst/>
          </a:prstGeom>
          <a:noFill/>
        </p:spPr>
        <p:txBody>
          <a:bodyPr wrap="square" anchor="t">
            <a:spAutoFit/>
          </a:bodyPr>
          <a:lstStyle/>
          <a:p>
            <a:pPr algn="l"/>
            <a:r>
              <a:rPr sz="1100" b="1">
                <a:solidFill>
                  <a:srgbClr val="FFFFFF"/>
                </a:solidFill>
                <a:latin typeface="Arial"/>
              </a:rPr>
              <a:t>SQL</a:t>
            </a:r>
          </a:p>
        </p:txBody>
      </p:sp>
      <p:sp>
        <p:nvSpPr>
          <p:cNvPr id="13" name="TextBox 12"/>
          <p:cNvSpPr txBox="1"/>
          <p:nvPr/>
        </p:nvSpPr>
        <p:spPr>
          <a:xfrm>
            <a:off x="640080" y="3054096"/>
            <a:ext cx="5943600" cy="2606039"/>
          </a:xfrm>
          <a:prstGeom prst="rect">
            <a:avLst/>
          </a:prstGeom>
          <a:noFill/>
        </p:spPr>
        <p:txBody>
          <a:bodyPr wrap="square" anchor="t">
            <a:spAutoFit/>
          </a:bodyPr>
          <a:lstStyle/>
          <a:p>
            <a:pPr algn="l"/>
            <a:r>
              <a:rPr sz="1300" b="0">
                <a:solidFill>
                  <a:srgbClr val="FFFFFF"/>
                </a:solidFill>
                <a:latin typeface="Courier New"/>
              </a:rPr>
              <a:t>1  SELECT name, popularity, release_date
2  FROM tracks
3  WHERE popularity &gt;= 80
4    AND explicit = false
5    AND release_date &gt;= DATE '2010-01-01'
6    AND release_date &lt;  DATE '2020-01-01'
7  ORDER BY popularity DESC;</a:t>
            </a:r>
          </a:p>
        </p:txBody>
      </p:sp>
      <p:sp>
        <p:nvSpPr>
          <p:cNvPr id="14" name="Rounded Rectangle 13"/>
          <p:cNvSpPr/>
          <p:nvPr/>
        </p:nvSpPr>
        <p:spPr>
          <a:xfrm>
            <a:off x="7315200" y="1280160"/>
            <a:ext cx="4343400" cy="3840480"/>
          </a:xfrm>
          <a:prstGeom prst="roundRect">
            <a:avLst/>
          </a:prstGeom>
          <a:solidFill>
            <a:srgbClr val="FFFFFF"/>
          </a:solidFill>
          <a:ln>
            <a:solidFill>
              <a:srgbClr val="E5EAE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7479792" y="1536192"/>
            <a:ext cx="1234440" cy="274320"/>
          </a:xfrm>
          <a:prstGeom prst="rect">
            <a:avLst/>
          </a:prstGeom>
          <a:noFill/>
        </p:spPr>
        <p:txBody>
          <a:bodyPr wrap="square" anchor="t">
            <a:spAutoFit/>
          </a:bodyPr>
          <a:lstStyle/>
          <a:p>
            <a:pPr algn="l"/>
            <a:r>
              <a:rPr sz="1000" b="1">
                <a:solidFill>
                  <a:srgbClr val="697387"/>
                </a:solidFill>
                <a:latin typeface="Arial"/>
              </a:rPr>
              <a:t>track_name</a:t>
            </a:r>
          </a:p>
        </p:txBody>
      </p:sp>
      <p:sp>
        <p:nvSpPr>
          <p:cNvPr id="16" name="TextBox 15"/>
          <p:cNvSpPr txBox="1"/>
          <p:nvPr/>
        </p:nvSpPr>
        <p:spPr>
          <a:xfrm>
            <a:off x="8805672" y="1536192"/>
            <a:ext cx="1234440" cy="274320"/>
          </a:xfrm>
          <a:prstGeom prst="rect">
            <a:avLst/>
          </a:prstGeom>
          <a:noFill/>
        </p:spPr>
        <p:txBody>
          <a:bodyPr wrap="square" anchor="t">
            <a:spAutoFit/>
          </a:bodyPr>
          <a:lstStyle/>
          <a:p>
            <a:pPr algn="l"/>
            <a:r>
              <a:rPr sz="1000" b="1">
                <a:solidFill>
                  <a:srgbClr val="697387"/>
                </a:solidFill>
                <a:latin typeface="Arial"/>
              </a:rPr>
              <a:t>popularity</a:t>
            </a:r>
          </a:p>
        </p:txBody>
      </p:sp>
      <p:sp>
        <p:nvSpPr>
          <p:cNvPr id="17" name="TextBox 16"/>
          <p:cNvSpPr txBox="1"/>
          <p:nvPr/>
        </p:nvSpPr>
        <p:spPr>
          <a:xfrm>
            <a:off x="10131552" y="1536192"/>
            <a:ext cx="1234440" cy="274320"/>
          </a:xfrm>
          <a:prstGeom prst="rect">
            <a:avLst/>
          </a:prstGeom>
          <a:noFill/>
        </p:spPr>
        <p:txBody>
          <a:bodyPr wrap="square" anchor="t">
            <a:spAutoFit/>
          </a:bodyPr>
          <a:lstStyle/>
          <a:p>
            <a:pPr algn="l"/>
            <a:r>
              <a:rPr sz="1000" b="1">
                <a:solidFill>
                  <a:srgbClr val="697387"/>
                </a:solidFill>
                <a:latin typeface="Arial"/>
              </a:rPr>
              <a:t>release_date</a:t>
            </a:r>
          </a:p>
        </p:txBody>
      </p:sp>
      <p:sp>
        <p:nvSpPr>
          <p:cNvPr id="18" name="TextBox 17"/>
          <p:cNvSpPr txBox="1"/>
          <p:nvPr/>
        </p:nvSpPr>
        <p:spPr>
          <a:xfrm>
            <a:off x="7479792" y="1993392"/>
            <a:ext cx="1234440" cy="228600"/>
          </a:xfrm>
          <a:prstGeom prst="rect">
            <a:avLst/>
          </a:prstGeom>
          <a:noFill/>
        </p:spPr>
        <p:txBody>
          <a:bodyPr wrap="square" anchor="t">
            <a:spAutoFit/>
          </a:bodyPr>
          <a:lstStyle/>
          <a:p>
            <a:pPr algn="l"/>
            <a:r>
              <a:rPr sz="1000" b="0">
                <a:solidFill>
                  <a:srgbClr val="071327"/>
                </a:solidFill>
                <a:latin typeface="Arial"/>
              </a:rPr>
              <a:t>Blinding Lights</a:t>
            </a:r>
          </a:p>
        </p:txBody>
      </p:sp>
      <p:sp>
        <p:nvSpPr>
          <p:cNvPr id="19" name="TextBox 18"/>
          <p:cNvSpPr txBox="1"/>
          <p:nvPr/>
        </p:nvSpPr>
        <p:spPr>
          <a:xfrm>
            <a:off x="8805672" y="1993392"/>
            <a:ext cx="1234440" cy="246221"/>
          </a:xfrm>
          <a:prstGeom prst="rect">
            <a:avLst/>
          </a:prstGeom>
          <a:noFill/>
        </p:spPr>
        <p:txBody>
          <a:bodyPr wrap="square" anchor="t">
            <a:spAutoFit/>
          </a:bodyPr>
          <a:lstStyle/>
          <a:p>
            <a:pPr algn="l"/>
            <a:r>
              <a:rPr lang="en-US" sz="1000" dirty="0">
                <a:solidFill>
                  <a:srgbClr val="071327"/>
                </a:solidFill>
                <a:latin typeface="Arial"/>
              </a:rPr>
              <a:t>90</a:t>
            </a:r>
            <a:endParaRPr sz="1000" b="0" dirty="0">
              <a:solidFill>
                <a:srgbClr val="071327"/>
              </a:solidFill>
              <a:latin typeface="Arial"/>
            </a:endParaRPr>
          </a:p>
        </p:txBody>
      </p:sp>
      <p:sp>
        <p:nvSpPr>
          <p:cNvPr id="20" name="TextBox 19"/>
          <p:cNvSpPr txBox="1"/>
          <p:nvPr/>
        </p:nvSpPr>
        <p:spPr>
          <a:xfrm>
            <a:off x="10131552" y="1993392"/>
            <a:ext cx="1234440" cy="228600"/>
          </a:xfrm>
          <a:prstGeom prst="rect">
            <a:avLst/>
          </a:prstGeom>
          <a:noFill/>
        </p:spPr>
        <p:txBody>
          <a:bodyPr wrap="square" anchor="t">
            <a:spAutoFit/>
          </a:bodyPr>
          <a:lstStyle/>
          <a:p>
            <a:pPr algn="l"/>
            <a:r>
              <a:rPr sz="1000" b="0">
                <a:solidFill>
                  <a:srgbClr val="071327"/>
                </a:solidFill>
                <a:latin typeface="Arial"/>
              </a:rPr>
              <a:t>2019-11-29</a:t>
            </a:r>
          </a:p>
        </p:txBody>
      </p:sp>
      <p:sp>
        <p:nvSpPr>
          <p:cNvPr id="21" name="TextBox 20"/>
          <p:cNvSpPr txBox="1"/>
          <p:nvPr/>
        </p:nvSpPr>
        <p:spPr>
          <a:xfrm>
            <a:off x="7479792" y="2523744"/>
            <a:ext cx="1234440" cy="228600"/>
          </a:xfrm>
          <a:prstGeom prst="rect">
            <a:avLst/>
          </a:prstGeom>
          <a:noFill/>
        </p:spPr>
        <p:txBody>
          <a:bodyPr wrap="square" anchor="t">
            <a:spAutoFit/>
          </a:bodyPr>
          <a:lstStyle/>
          <a:p>
            <a:pPr algn="l"/>
            <a:r>
              <a:rPr sz="1000" b="0">
                <a:solidFill>
                  <a:srgbClr val="071327"/>
                </a:solidFill>
                <a:latin typeface="Arial"/>
              </a:rPr>
              <a:t>Starboy</a:t>
            </a:r>
          </a:p>
        </p:txBody>
      </p:sp>
      <p:sp>
        <p:nvSpPr>
          <p:cNvPr id="22" name="TextBox 21"/>
          <p:cNvSpPr txBox="1"/>
          <p:nvPr/>
        </p:nvSpPr>
        <p:spPr>
          <a:xfrm>
            <a:off x="8805672" y="2523744"/>
            <a:ext cx="1234440" cy="246221"/>
          </a:xfrm>
          <a:prstGeom prst="rect">
            <a:avLst/>
          </a:prstGeom>
          <a:noFill/>
        </p:spPr>
        <p:txBody>
          <a:bodyPr wrap="square" anchor="t">
            <a:spAutoFit/>
          </a:bodyPr>
          <a:lstStyle/>
          <a:p>
            <a:pPr algn="l"/>
            <a:r>
              <a:rPr lang="en-US" sz="1000" dirty="0">
                <a:solidFill>
                  <a:srgbClr val="071327"/>
                </a:solidFill>
                <a:latin typeface="Arial"/>
              </a:rPr>
              <a:t>90</a:t>
            </a:r>
            <a:endParaRPr sz="1000" b="0" dirty="0">
              <a:solidFill>
                <a:srgbClr val="071327"/>
              </a:solidFill>
              <a:latin typeface="Arial"/>
            </a:endParaRPr>
          </a:p>
        </p:txBody>
      </p:sp>
      <p:sp>
        <p:nvSpPr>
          <p:cNvPr id="23" name="TextBox 22"/>
          <p:cNvSpPr txBox="1"/>
          <p:nvPr/>
        </p:nvSpPr>
        <p:spPr>
          <a:xfrm>
            <a:off x="10131552" y="2523744"/>
            <a:ext cx="1234440" cy="228600"/>
          </a:xfrm>
          <a:prstGeom prst="rect">
            <a:avLst/>
          </a:prstGeom>
          <a:noFill/>
        </p:spPr>
        <p:txBody>
          <a:bodyPr wrap="square" anchor="t">
            <a:spAutoFit/>
          </a:bodyPr>
          <a:lstStyle/>
          <a:p>
            <a:pPr algn="l"/>
            <a:r>
              <a:rPr sz="1000" b="0">
                <a:solidFill>
                  <a:srgbClr val="071327"/>
                </a:solidFill>
                <a:latin typeface="Arial"/>
              </a:rPr>
              <a:t>2016-09-21</a:t>
            </a:r>
          </a:p>
        </p:txBody>
      </p:sp>
      <p:sp>
        <p:nvSpPr>
          <p:cNvPr id="24" name="TextBox 23"/>
          <p:cNvSpPr txBox="1"/>
          <p:nvPr/>
        </p:nvSpPr>
        <p:spPr>
          <a:xfrm>
            <a:off x="7479792" y="3054096"/>
            <a:ext cx="1234440" cy="228600"/>
          </a:xfrm>
          <a:prstGeom prst="rect">
            <a:avLst/>
          </a:prstGeom>
          <a:noFill/>
        </p:spPr>
        <p:txBody>
          <a:bodyPr wrap="square" anchor="t">
            <a:spAutoFit/>
          </a:bodyPr>
          <a:lstStyle/>
          <a:p>
            <a:pPr algn="l"/>
            <a:r>
              <a:rPr sz="1000" b="0">
                <a:solidFill>
                  <a:srgbClr val="071327"/>
                </a:solidFill>
                <a:latin typeface="Arial"/>
              </a:rPr>
              <a:t>Shape of You</a:t>
            </a:r>
          </a:p>
        </p:txBody>
      </p:sp>
      <p:sp>
        <p:nvSpPr>
          <p:cNvPr id="25" name="TextBox 24"/>
          <p:cNvSpPr txBox="1"/>
          <p:nvPr/>
        </p:nvSpPr>
        <p:spPr>
          <a:xfrm>
            <a:off x="8805672" y="3054096"/>
            <a:ext cx="1234440" cy="246221"/>
          </a:xfrm>
          <a:prstGeom prst="rect">
            <a:avLst/>
          </a:prstGeom>
          <a:noFill/>
        </p:spPr>
        <p:txBody>
          <a:bodyPr wrap="square" anchor="t">
            <a:spAutoFit/>
          </a:bodyPr>
          <a:lstStyle/>
          <a:p>
            <a:pPr algn="l"/>
            <a:r>
              <a:rPr lang="en-US" sz="1000" dirty="0">
                <a:solidFill>
                  <a:srgbClr val="071327"/>
                </a:solidFill>
                <a:latin typeface="Arial"/>
              </a:rPr>
              <a:t>90</a:t>
            </a:r>
            <a:endParaRPr sz="1000" b="0" dirty="0">
              <a:solidFill>
                <a:srgbClr val="071327"/>
              </a:solidFill>
              <a:latin typeface="Arial"/>
            </a:endParaRPr>
          </a:p>
        </p:txBody>
      </p:sp>
      <p:sp>
        <p:nvSpPr>
          <p:cNvPr id="26" name="TextBox 25"/>
          <p:cNvSpPr txBox="1"/>
          <p:nvPr/>
        </p:nvSpPr>
        <p:spPr>
          <a:xfrm>
            <a:off x="10131552" y="3054096"/>
            <a:ext cx="1234440" cy="228600"/>
          </a:xfrm>
          <a:prstGeom prst="rect">
            <a:avLst/>
          </a:prstGeom>
          <a:noFill/>
        </p:spPr>
        <p:txBody>
          <a:bodyPr wrap="square" anchor="t">
            <a:spAutoFit/>
          </a:bodyPr>
          <a:lstStyle/>
          <a:p>
            <a:pPr algn="l"/>
            <a:r>
              <a:rPr sz="1000" b="0">
                <a:solidFill>
                  <a:srgbClr val="071327"/>
                </a:solidFill>
                <a:latin typeface="Arial"/>
              </a:rPr>
              <a:t>2017-01-06</a:t>
            </a:r>
          </a:p>
        </p:txBody>
      </p:sp>
      <p:sp>
        <p:nvSpPr>
          <p:cNvPr id="27" name="TextBox 26"/>
          <p:cNvSpPr txBox="1"/>
          <p:nvPr/>
        </p:nvSpPr>
        <p:spPr>
          <a:xfrm>
            <a:off x="7479792" y="3584448"/>
            <a:ext cx="1234440" cy="228600"/>
          </a:xfrm>
          <a:prstGeom prst="rect">
            <a:avLst/>
          </a:prstGeom>
          <a:noFill/>
        </p:spPr>
        <p:txBody>
          <a:bodyPr wrap="square" anchor="t">
            <a:spAutoFit/>
          </a:bodyPr>
          <a:lstStyle/>
          <a:p>
            <a:pPr algn="l"/>
            <a:r>
              <a:rPr sz="1000" b="0">
                <a:solidFill>
                  <a:srgbClr val="071327"/>
                </a:solidFill>
                <a:latin typeface="Arial"/>
              </a:rPr>
              <a:t>Believer</a:t>
            </a:r>
          </a:p>
        </p:txBody>
      </p:sp>
      <p:sp>
        <p:nvSpPr>
          <p:cNvPr id="28" name="TextBox 27"/>
          <p:cNvSpPr txBox="1"/>
          <p:nvPr/>
        </p:nvSpPr>
        <p:spPr>
          <a:xfrm>
            <a:off x="8805672" y="3584448"/>
            <a:ext cx="1234440" cy="246221"/>
          </a:xfrm>
          <a:prstGeom prst="rect">
            <a:avLst/>
          </a:prstGeom>
          <a:noFill/>
        </p:spPr>
        <p:txBody>
          <a:bodyPr wrap="square" anchor="t">
            <a:spAutoFit/>
          </a:bodyPr>
          <a:lstStyle/>
          <a:p>
            <a:pPr algn="l"/>
            <a:r>
              <a:rPr lang="en-US" sz="1000" dirty="0">
                <a:solidFill>
                  <a:srgbClr val="071327"/>
                </a:solidFill>
                <a:latin typeface="Arial"/>
              </a:rPr>
              <a:t>90</a:t>
            </a:r>
            <a:endParaRPr sz="1000" b="0" dirty="0">
              <a:solidFill>
                <a:srgbClr val="071327"/>
              </a:solidFill>
              <a:latin typeface="Arial"/>
            </a:endParaRPr>
          </a:p>
        </p:txBody>
      </p:sp>
      <p:sp>
        <p:nvSpPr>
          <p:cNvPr id="29" name="TextBox 28"/>
          <p:cNvSpPr txBox="1"/>
          <p:nvPr/>
        </p:nvSpPr>
        <p:spPr>
          <a:xfrm>
            <a:off x="10131552" y="3584448"/>
            <a:ext cx="1234440" cy="228600"/>
          </a:xfrm>
          <a:prstGeom prst="rect">
            <a:avLst/>
          </a:prstGeom>
          <a:noFill/>
        </p:spPr>
        <p:txBody>
          <a:bodyPr wrap="square" anchor="t">
            <a:spAutoFit/>
          </a:bodyPr>
          <a:lstStyle/>
          <a:p>
            <a:pPr algn="l"/>
            <a:r>
              <a:rPr sz="1000" b="0">
                <a:solidFill>
                  <a:srgbClr val="071327"/>
                </a:solidFill>
                <a:latin typeface="Arial"/>
              </a:rPr>
              <a:t>2017-02-01</a:t>
            </a:r>
          </a:p>
        </p:txBody>
      </p:sp>
      <p:sp>
        <p:nvSpPr>
          <p:cNvPr id="30" name="TextBox 29"/>
          <p:cNvSpPr txBox="1"/>
          <p:nvPr/>
        </p:nvSpPr>
        <p:spPr>
          <a:xfrm>
            <a:off x="7479792" y="4114800"/>
            <a:ext cx="1234440" cy="228600"/>
          </a:xfrm>
          <a:prstGeom prst="rect">
            <a:avLst/>
          </a:prstGeom>
          <a:noFill/>
        </p:spPr>
        <p:txBody>
          <a:bodyPr wrap="square" anchor="t">
            <a:spAutoFit/>
          </a:bodyPr>
          <a:lstStyle/>
          <a:p>
            <a:pPr algn="l"/>
            <a:r>
              <a:rPr sz="1000" b="0">
                <a:solidFill>
                  <a:srgbClr val="071327"/>
                </a:solidFill>
                <a:latin typeface="Arial"/>
              </a:rPr>
              <a:t>HUMBLE.</a:t>
            </a:r>
          </a:p>
        </p:txBody>
      </p:sp>
      <p:sp>
        <p:nvSpPr>
          <p:cNvPr id="31" name="TextBox 30"/>
          <p:cNvSpPr txBox="1"/>
          <p:nvPr/>
        </p:nvSpPr>
        <p:spPr>
          <a:xfrm>
            <a:off x="8805672" y="4114800"/>
            <a:ext cx="1234440" cy="246221"/>
          </a:xfrm>
          <a:prstGeom prst="rect">
            <a:avLst/>
          </a:prstGeom>
          <a:noFill/>
        </p:spPr>
        <p:txBody>
          <a:bodyPr wrap="square" anchor="t">
            <a:spAutoFit/>
          </a:bodyPr>
          <a:lstStyle/>
          <a:p>
            <a:pPr algn="l"/>
            <a:r>
              <a:rPr lang="en-US" sz="1000" dirty="0">
                <a:solidFill>
                  <a:srgbClr val="071327"/>
                </a:solidFill>
                <a:latin typeface="Arial"/>
              </a:rPr>
              <a:t>90</a:t>
            </a:r>
            <a:endParaRPr sz="1000" b="0" dirty="0">
              <a:solidFill>
                <a:srgbClr val="071327"/>
              </a:solidFill>
              <a:latin typeface="Arial"/>
            </a:endParaRPr>
          </a:p>
        </p:txBody>
      </p:sp>
      <p:sp>
        <p:nvSpPr>
          <p:cNvPr id="32" name="TextBox 31"/>
          <p:cNvSpPr txBox="1"/>
          <p:nvPr/>
        </p:nvSpPr>
        <p:spPr>
          <a:xfrm>
            <a:off x="10131552" y="4114800"/>
            <a:ext cx="1234440" cy="228600"/>
          </a:xfrm>
          <a:prstGeom prst="rect">
            <a:avLst/>
          </a:prstGeom>
          <a:noFill/>
        </p:spPr>
        <p:txBody>
          <a:bodyPr wrap="square" anchor="t">
            <a:spAutoFit/>
          </a:bodyPr>
          <a:lstStyle/>
          <a:p>
            <a:pPr algn="l"/>
            <a:r>
              <a:rPr sz="1000" b="0">
                <a:solidFill>
                  <a:srgbClr val="071327"/>
                </a:solidFill>
                <a:latin typeface="Arial"/>
              </a:rPr>
              <a:t>2017-03-30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5.png"/>
          <p:cNvPicPr>
            <a:picLocks noChangeAspect="1"/>
          </p:cNvPicPr>
          <p:nvPr/>
        </p:nvPicPr>
        <p:blipFill>
          <a:blip r:embed="rId2"/>
          <a:stretch>
            <a:fillRect/>
          </a:stretch>
        </p:blipFill>
        <p:spPr>
          <a:xfrm>
            <a:off x="9646920" y="0"/>
            <a:ext cx="2542032" cy="1344168"/>
          </a:xfrm>
          <a:prstGeom prst="rect">
            <a:avLst/>
          </a:prstGeom>
        </p:spPr>
      </p:pic>
      <p:pic>
        <p:nvPicPr>
          <p:cNvPr id="3" name="Picture 2" descr="image2.png"/>
          <p:cNvPicPr>
            <a:picLocks noChangeAspect="1"/>
          </p:cNvPicPr>
          <p:nvPr/>
        </p:nvPicPr>
        <p:blipFill>
          <a:blip r:embed="rId3"/>
          <a:stretch>
            <a:fillRect/>
          </a:stretch>
        </p:blipFill>
        <p:spPr>
          <a:xfrm>
            <a:off x="256032" y="201168"/>
            <a:ext cx="201168" cy="201168"/>
          </a:xfrm>
          <a:prstGeom prst="rect">
            <a:avLst/>
          </a:prstGeom>
        </p:spPr>
      </p:pic>
      <p:sp>
        <p:nvSpPr>
          <p:cNvPr id="4" name="TextBox 3"/>
          <p:cNvSpPr txBox="1"/>
          <p:nvPr/>
        </p:nvSpPr>
        <p:spPr>
          <a:xfrm>
            <a:off x="566928" y="384048"/>
            <a:ext cx="10241280" cy="658368"/>
          </a:xfrm>
          <a:prstGeom prst="rect">
            <a:avLst/>
          </a:prstGeom>
          <a:noFill/>
        </p:spPr>
        <p:txBody>
          <a:bodyPr wrap="square" anchor="t">
            <a:spAutoFit/>
          </a:bodyPr>
          <a:lstStyle/>
          <a:p>
            <a:pPr algn="l"/>
            <a:r>
              <a:rPr sz="3000" b="1">
                <a:solidFill>
                  <a:srgbClr val="080808"/>
                </a:solidFill>
                <a:latin typeface="Arial"/>
              </a:rPr>
              <a:t>Text filters, NULLs, sorting and limits</a:t>
            </a:r>
          </a:p>
        </p:txBody>
      </p:sp>
      <p:sp>
        <p:nvSpPr>
          <p:cNvPr id="5" name="TextBox 4"/>
          <p:cNvSpPr txBox="1"/>
          <p:nvPr/>
        </p:nvSpPr>
        <p:spPr>
          <a:xfrm>
            <a:off x="566928" y="6510528"/>
            <a:ext cx="4114800" cy="201168"/>
          </a:xfrm>
          <a:prstGeom prst="rect">
            <a:avLst/>
          </a:prstGeom>
          <a:noFill/>
        </p:spPr>
        <p:txBody>
          <a:bodyPr wrap="square" anchor="t">
            <a:spAutoFit/>
          </a:bodyPr>
          <a:lstStyle/>
          <a:p>
            <a:pPr algn="l"/>
            <a:r>
              <a:rPr sz="850" b="1">
                <a:solidFill>
                  <a:srgbClr val="697076"/>
                </a:solidFill>
                <a:latin typeface="Arial"/>
              </a:rPr>
              <a:t>1.1 · FILTERING &amp; SORTING</a:t>
            </a:r>
          </a:p>
        </p:txBody>
      </p:sp>
      <p:sp>
        <p:nvSpPr>
          <p:cNvPr id="6" name="TextBox 5"/>
          <p:cNvSpPr txBox="1"/>
          <p:nvPr/>
        </p:nvSpPr>
        <p:spPr>
          <a:xfrm>
            <a:off x="11018520" y="6473952"/>
            <a:ext cx="502920" cy="219456"/>
          </a:xfrm>
          <a:prstGeom prst="rect">
            <a:avLst/>
          </a:prstGeom>
          <a:noFill/>
        </p:spPr>
        <p:txBody>
          <a:bodyPr wrap="square" anchor="t">
            <a:spAutoFit/>
          </a:bodyPr>
          <a:lstStyle/>
          <a:p>
            <a:pPr algn="r"/>
            <a:fld id="{B6F15528-21DE-4FAA-801E-634DDDAF4B2B}" type="slidenum">
              <a:rPr sz="900" b="1">
                <a:solidFill>
                  <a:srgbClr val="697076"/>
                </a:solidFill>
                <a:latin typeface="Arial"/>
              </a:rPr>
              <a:t>19</a:t>
            </a:fld>
          </a:p>
        </p:txBody>
      </p:sp>
      <p:sp>
        <p:nvSpPr>
          <p:cNvPr id="7" name="TextBox 6"/>
          <p:cNvSpPr txBox="1"/>
          <p:nvPr/>
        </p:nvSpPr>
        <p:spPr>
          <a:xfrm>
            <a:off x="685800" y="1600200"/>
            <a:ext cx="1280160" cy="274320"/>
          </a:xfrm>
          <a:prstGeom prst="rect">
            <a:avLst/>
          </a:prstGeom>
          <a:noFill/>
        </p:spPr>
        <p:txBody>
          <a:bodyPr wrap="square" anchor="t">
            <a:spAutoFit/>
          </a:bodyPr>
          <a:lstStyle/>
          <a:p>
            <a:pPr algn="l"/>
            <a:r>
              <a:rPr sz="1500" b="1">
                <a:solidFill>
                  <a:srgbClr val="13C5CF"/>
                </a:solidFill>
                <a:latin typeface="Arial"/>
              </a:rPr>
              <a:t>Text</a:t>
            </a:r>
          </a:p>
        </p:txBody>
      </p:sp>
      <p:sp>
        <p:nvSpPr>
          <p:cNvPr id="8" name="TextBox 7"/>
          <p:cNvSpPr txBox="1"/>
          <p:nvPr/>
        </p:nvSpPr>
        <p:spPr>
          <a:xfrm>
            <a:off x="2103120" y="1600200"/>
            <a:ext cx="3840480" cy="338554"/>
          </a:xfrm>
          <a:prstGeom prst="rect">
            <a:avLst/>
          </a:prstGeom>
          <a:noFill/>
        </p:spPr>
        <p:txBody>
          <a:bodyPr wrap="square" anchor="t">
            <a:spAutoFit/>
          </a:bodyPr>
          <a:lstStyle/>
          <a:p>
            <a:pPr algn="l"/>
            <a:r>
              <a:rPr sz="1600" b="1" dirty="0">
                <a:solidFill>
                  <a:srgbClr val="080808"/>
                </a:solidFill>
                <a:latin typeface="Arial"/>
              </a:rPr>
              <a:t>= · LIKE · ILIKE</a:t>
            </a:r>
          </a:p>
        </p:txBody>
      </p:sp>
      <p:sp>
        <p:nvSpPr>
          <p:cNvPr id="9" name="TextBox 8"/>
          <p:cNvSpPr txBox="1"/>
          <p:nvPr/>
        </p:nvSpPr>
        <p:spPr>
          <a:xfrm>
            <a:off x="6172200" y="1600200"/>
            <a:ext cx="1280160" cy="274320"/>
          </a:xfrm>
          <a:prstGeom prst="rect">
            <a:avLst/>
          </a:prstGeom>
          <a:noFill/>
        </p:spPr>
        <p:txBody>
          <a:bodyPr wrap="square" anchor="t">
            <a:spAutoFit/>
          </a:bodyPr>
          <a:lstStyle/>
          <a:p>
            <a:pPr algn="l"/>
            <a:r>
              <a:rPr sz="1500" b="1">
                <a:solidFill>
                  <a:srgbClr val="13C5CF"/>
                </a:solidFill>
                <a:latin typeface="Arial"/>
              </a:rPr>
              <a:t>Missing</a:t>
            </a:r>
          </a:p>
        </p:txBody>
      </p:sp>
      <p:sp>
        <p:nvSpPr>
          <p:cNvPr id="10" name="TextBox 9"/>
          <p:cNvSpPr txBox="1"/>
          <p:nvPr/>
        </p:nvSpPr>
        <p:spPr>
          <a:xfrm>
            <a:off x="7589520" y="1600200"/>
            <a:ext cx="3840480" cy="274320"/>
          </a:xfrm>
          <a:prstGeom prst="rect">
            <a:avLst/>
          </a:prstGeom>
          <a:noFill/>
        </p:spPr>
        <p:txBody>
          <a:bodyPr wrap="square" anchor="t">
            <a:spAutoFit/>
          </a:bodyPr>
          <a:lstStyle/>
          <a:p>
            <a:pPr algn="l"/>
            <a:r>
              <a:rPr sz="1600" b="1">
                <a:solidFill>
                  <a:srgbClr val="080808"/>
                </a:solidFill>
                <a:latin typeface="Arial"/>
              </a:rPr>
              <a:t>IS NULL · IS NOT NULL · COALESCE</a:t>
            </a:r>
          </a:p>
        </p:txBody>
      </p:sp>
      <p:sp>
        <p:nvSpPr>
          <p:cNvPr id="11" name="TextBox 10"/>
          <p:cNvSpPr txBox="1"/>
          <p:nvPr/>
        </p:nvSpPr>
        <p:spPr>
          <a:xfrm>
            <a:off x="685800" y="2743200"/>
            <a:ext cx="1280160" cy="274320"/>
          </a:xfrm>
          <a:prstGeom prst="rect">
            <a:avLst/>
          </a:prstGeom>
          <a:noFill/>
        </p:spPr>
        <p:txBody>
          <a:bodyPr wrap="square" anchor="t">
            <a:spAutoFit/>
          </a:bodyPr>
          <a:lstStyle/>
          <a:p>
            <a:pPr algn="l"/>
            <a:r>
              <a:rPr sz="1500" b="1">
                <a:solidFill>
                  <a:srgbClr val="13C5CF"/>
                </a:solidFill>
                <a:latin typeface="Arial"/>
              </a:rPr>
              <a:t>Sort</a:t>
            </a:r>
          </a:p>
        </p:txBody>
      </p:sp>
      <p:sp>
        <p:nvSpPr>
          <p:cNvPr id="12" name="TextBox 11"/>
          <p:cNvSpPr txBox="1"/>
          <p:nvPr/>
        </p:nvSpPr>
        <p:spPr>
          <a:xfrm>
            <a:off x="2103120" y="2743200"/>
            <a:ext cx="3840480" cy="274320"/>
          </a:xfrm>
          <a:prstGeom prst="rect">
            <a:avLst/>
          </a:prstGeom>
          <a:noFill/>
        </p:spPr>
        <p:txBody>
          <a:bodyPr wrap="square" anchor="t">
            <a:spAutoFit/>
          </a:bodyPr>
          <a:lstStyle/>
          <a:p>
            <a:pPr algn="l"/>
            <a:r>
              <a:rPr sz="1600" b="1">
                <a:solidFill>
                  <a:srgbClr val="080808"/>
                </a:solidFill>
                <a:latin typeface="Arial"/>
              </a:rPr>
              <a:t>ORDER BY … ASC / DESC</a:t>
            </a:r>
          </a:p>
        </p:txBody>
      </p:sp>
      <p:sp>
        <p:nvSpPr>
          <p:cNvPr id="13" name="TextBox 12"/>
          <p:cNvSpPr txBox="1"/>
          <p:nvPr/>
        </p:nvSpPr>
        <p:spPr>
          <a:xfrm>
            <a:off x="6172200" y="2743200"/>
            <a:ext cx="1280160" cy="274320"/>
          </a:xfrm>
          <a:prstGeom prst="rect">
            <a:avLst/>
          </a:prstGeom>
          <a:noFill/>
        </p:spPr>
        <p:txBody>
          <a:bodyPr wrap="square" anchor="t">
            <a:spAutoFit/>
          </a:bodyPr>
          <a:lstStyle/>
          <a:p>
            <a:pPr algn="l"/>
            <a:r>
              <a:rPr sz="1500" b="1">
                <a:solidFill>
                  <a:srgbClr val="13C5CF"/>
                </a:solidFill>
                <a:latin typeface="Arial"/>
              </a:rPr>
              <a:t>Slice</a:t>
            </a:r>
          </a:p>
        </p:txBody>
      </p:sp>
      <p:sp>
        <p:nvSpPr>
          <p:cNvPr id="14" name="TextBox 13"/>
          <p:cNvSpPr txBox="1"/>
          <p:nvPr/>
        </p:nvSpPr>
        <p:spPr>
          <a:xfrm>
            <a:off x="7589520" y="2743200"/>
            <a:ext cx="3840480" cy="274320"/>
          </a:xfrm>
          <a:prstGeom prst="rect">
            <a:avLst/>
          </a:prstGeom>
          <a:noFill/>
        </p:spPr>
        <p:txBody>
          <a:bodyPr wrap="square" anchor="t">
            <a:spAutoFit/>
          </a:bodyPr>
          <a:lstStyle/>
          <a:p>
            <a:pPr algn="l"/>
            <a:r>
              <a:rPr sz="1600" b="1">
                <a:solidFill>
                  <a:srgbClr val="080808"/>
                </a:solidFill>
                <a:latin typeface="Arial"/>
              </a:rPr>
              <a:t>LIMIT · OFFSET</a:t>
            </a:r>
          </a:p>
        </p:txBody>
      </p:sp>
      <p:sp>
        <p:nvSpPr>
          <p:cNvPr id="15" name="Rounded Rectangle 14"/>
          <p:cNvSpPr/>
          <p:nvPr/>
        </p:nvSpPr>
        <p:spPr>
          <a:xfrm>
            <a:off x="685800" y="4069080"/>
            <a:ext cx="5029200" cy="1417320"/>
          </a:xfrm>
          <a:prstGeom prst="roundRect">
            <a:avLst/>
          </a:prstGeom>
          <a:solidFill>
            <a:srgbClr val="12141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685800" y="4069080"/>
            <a:ext cx="73152" cy="1417320"/>
          </a:xfrm>
          <a:prstGeom prst="rect">
            <a:avLst/>
          </a:prstGeom>
          <a:solidFill>
            <a:srgbClr val="13C5C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941832" y="4270248"/>
            <a:ext cx="4572000" cy="1097280"/>
          </a:xfrm>
          <a:prstGeom prst="rect">
            <a:avLst/>
          </a:prstGeom>
          <a:noFill/>
        </p:spPr>
        <p:txBody>
          <a:bodyPr wrap="square" lIns="0" rIns="0" anchor="t">
            <a:spAutoFit/>
          </a:bodyPr>
          <a:lstStyle/>
          <a:p>
            <a:pPr algn="l"/>
            <a:r>
              <a:rPr sz="1400" b="0">
                <a:solidFill>
                  <a:srgbClr val="FFFFFF"/>
                </a:solidFill>
                <a:latin typeface="Courier New"/>
              </a:rPr>
              <a:t>SELECT name, popularity
FROM tracks
WHERE name ILIKE '%love%'
ORDER BY popularity DESC NULLS LAST
LIMIT 5;</a:t>
            </a:r>
          </a:p>
        </p:txBody>
      </p:sp>
      <p:sp>
        <p:nvSpPr>
          <p:cNvPr id="18" name="TextBox 17"/>
          <p:cNvSpPr txBox="1"/>
          <p:nvPr/>
        </p:nvSpPr>
        <p:spPr>
          <a:xfrm>
            <a:off x="6400800" y="4069080"/>
            <a:ext cx="4297680" cy="365760"/>
          </a:xfrm>
          <a:prstGeom prst="rect">
            <a:avLst/>
          </a:prstGeom>
          <a:noFill/>
        </p:spPr>
        <p:txBody>
          <a:bodyPr wrap="square" anchor="t">
            <a:spAutoFit/>
          </a:bodyPr>
          <a:lstStyle/>
          <a:p>
            <a:pPr algn="l"/>
            <a:r>
              <a:rPr sz="2400" b="1">
                <a:solidFill>
                  <a:srgbClr val="080808"/>
                </a:solidFill>
                <a:latin typeface="Arial"/>
              </a:rPr>
              <a:t>NULL ≠ 0 ≠ empty string</a:t>
            </a:r>
          </a:p>
        </p:txBody>
      </p:sp>
      <p:sp>
        <p:nvSpPr>
          <p:cNvPr id="19" name="TextBox 18"/>
          <p:cNvSpPr txBox="1"/>
          <p:nvPr/>
        </p:nvSpPr>
        <p:spPr>
          <a:xfrm>
            <a:off x="6400800" y="4617720"/>
            <a:ext cx="4389120" cy="553998"/>
          </a:xfrm>
          <a:prstGeom prst="rect">
            <a:avLst/>
          </a:prstGeom>
          <a:noFill/>
        </p:spPr>
        <p:txBody>
          <a:bodyPr wrap="square" anchor="t">
            <a:spAutoFit/>
          </a:bodyPr>
          <a:lstStyle/>
          <a:p>
            <a:pPr algn="l"/>
            <a:r>
              <a:rPr sz="1500" b="0" dirty="0">
                <a:solidFill>
                  <a:srgbClr val="697076"/>
                </a:solidFill>
                <a:latin typeface="Arial"/>
              </a:rPr>
              <a:t>NULL means “unknown / absent”. Comparisons with = do not work the way </a:t>
            </a:r>
            <a:r>
              <a:rPr lang="en-US" sz="1500" dirty="0">
                <a:solidFill>
                  <a:srgbClr val="697076"/>
                </a:solidFill>
                <a:latin typeface="Arial"/>
              </a:rPr>
              <a:t>you might</a:t>
            </a:r>
            <a:r>
              <a:rPr sz="1500" b="0" dirty="0">
                <a:solidFill>
                  <a:srgbClr val="697076"/>
                </a:solidFill>
                <a:latin typeface="Arial"/>
              </a:rPr>
              <a:t> expect.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1.1 FILTERING AND SORTING</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Filtering text</a:t>
            </a:r>
          </a:p>
        </p:txBody>
      </p:sp>
      <p:sp>
        <p:nvSpPr>
          <p:cNvPr id="14" name="Lead"/>
          <p:cNvSpPr txBox="1"/>
          <p:nvPr/>
        </p:nvSpPr>
        <p:spPr>
          <a:xfrm>
            <a:off x="1005840" y="1367028"/>
            <a:ext cx="10332720" cy="670560"/>
          </a:xfrm>
          <a:prstGeom prst="rect">
            <a:avLst/>
          </a:prstGeom>
          <a:noFill/>
        </p:spPr>
        <p:txBody>
          <a:bodyPr wrap="square" lIns="0" tIns="27432" rIns="0" bIns="27432" anchor="t">
            <a:spAutoFit/>
          </a:bodyPr>
          <a:lstStyle/>
          <a:p>
            <a:pPr>
              <a:spcAft>
                <a:spcPts val="720"/>
              </a:spcAft>
            </a:pPr>
            <a:r>
              <a:rPr sz="1520" b="1" i="0">
                <a:solidFill>
                  <a:srgbClr val="007C85"/>
                </a:solidFill>
                <a:latin typeface="Consolas"/>
              </a:rPr>
              <a:t>ILIKE</a:t>
            </a:r>
            <a:r>
              <a:rPr sz="1600" b="0" i="0">
                <a:solidFill>
                  <a:srgbClr val="000000"/>
                </a:solidFill>
                <a:latin typeface="Arial"/>
              </a:rPr>
              <a:t> — the case-insensitive version (PostgreSQL). Track titles are typed by humans, so case is never reliable:</a:t>
            </a:r>
          </a:p>
        </p:txBody>
      </p:sp>
      <p:pic>
        <p:nvPicPr>
          <p:cNvPr id="15" name="Picture 14" descr="SELECT name, popularity&#10;  FROM tracks&#10; WHERE name ILIKE '%love%'&#10; ORDER BY popularity DESC&#10; LIMIT 5;"/>
          <p:cNvPicPr>
            <a:picLocks noChangeAspect="1"/>
          </p:cNvPicPr>
          <p:nvPr/>
        </p:nvPicPr>
        <p:blipFill>
          <a:blip r:embed="rId4"/>
          <a:stretch>
            <a:fillRect/>
          </a:stretch>
        </p:blipFill>
        <p:spPr>
          <a:xfrm>
            <a:off x="1005840" y="2129028"/>
            <a:ext cx="3654057" cy="1789931"/>
          </a:xfrm>
          <a:prstGeom prst="rect">
            <a:avLst/>
          </a:prstGeom>
        </p:spPr>
      </p:pic>
      <p:pic>
        <p:nvPicPr>
          <p:cNvPr id="16" name="Picture 15" descr="SELECT name, popularity&#10;  FROM tracks&#10; WHERE name ILIKE '%love%'&#10; ORDER BY popularity DESC&#10; LIMIT 5;"/>
          <p:cNvPicPr>
            <a:picLocks noChangeAspect="1"/>
          </p:cNvPicPr>
          <p:nvPr/>
        </p:nvPicPr>
        <p:blipFill>
          <a:blip r:embed="rId5"/>
          <a:stretch>
            <a:fillRect/>
          </a:stretch>
        </p:blipFill>
        <p:spPr>
          <a:xfrm>
            <a:off x="1005840" y="4147559"/>
            <a:ext cx="3403652" cy="232783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1.1 FILTERING AND SORTING</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Filtering text</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520" b="1" i="0">
                <a:solidFill>
                  <a:srgbClr val="007C85"/>
                </a:solidFill>
                <a:latin typeface="Consolas"/>
              </a:rPr>
              <a:t>IN</a:t>
            </a:r>
            <a:r>
              <a:rPr sz="1600" b="0" i="0">
                <a:solidFill>
                  <a:srgbClr val="000000"/>
                </a:solidFill>
                <a:latin typeface="Arial"/>
              </a:rPr>
              <a:t> — matches one of a list of values:</a:t>
            </a:r>
          </a:p>
        </p:txBody>
      </p:sp>
      <p:pic>
        <p:nvPicPr>
          <p:cNvPr id="15" name="Picture 14" descr="SELECT name, key, mode, time_signature&#10;  FROM tracks&#10; WHERE time_signature IN (3, 5, 7)&#10;   AND popularity &gt; 70&#10; LIMIT 5;"/>
          <p:cNvPicPr>
            <a:picLocks noChangeAspect="1"/>
          </p:cNvPicPr>
          <p:nvPr/>
        </p:nvPicPr>
        <p:blipFill>
          <a:blip r:embed="rId4"/>
          <a:stretch>
            <a:fillRect/>
          </a:stretch>
        </p:blipFill>
        <p:spPr>
          <a:xfrm>
            <a:off x="1005840" y="1885187"/>
            <a:ext cx="5267325" cy="1838324"/>
          </a:xfrm>
          <a:prstGeom prst="rect">
            <a:avLst/>
          </a:prstGeom>
        </p:spPr>
      </p:pic>
      <p:pic>
        <p:nvPicPr>
          <p:cNvPr id="16" name="Picture 15" descr="SELECT name, key, mode, time_signature&#10;  FROM tracks&#10; WHERE time_signature IN (3, 5, 7)&#10;   AND popularity &gt; 70&#10; LIMIT 5;"/>
          <p:cNvPicPr>
            <a:picLocks noChangeAspect="1"/>
          </p:cNvPicPr>
          <p:nvPr/>
        </p:nvPicPr>
        <p:blipFill>
          <a:blip r:embed="rId5"/>
          <a:stretch>
            <a:fillRect/>
          </a:stretch>
        </p:blipFill>
        <p:spPr>
          <a:xfrm>
            <a:off x="1005840" y="3952113"/>
            <a:ext cx="6134100" cy="23907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1.1 FILTERING AND SORTING</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Filtering text</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600" b="1" i="0">
                <a:solidFill>
                  <a:srgbClr val="000000"/>
                </a:solidFill>
                <a:latin typeface="Arial"/>
              </a:rPr>
              <a:t>Text functions in the filter</a:t>
            </a:r>
            <a:r>
              <a:rPr sz="1600" b="0" i="0">
                <a:solidFill>
                  <a:srgbClr val="000000"/>
                </a:solidFill>
                <a:latin typeface="Arial"/>
              </a:rPr>
              <a:t> — </a:t>
            </a:r>
            <a:r>
              <a:rPr sz="1520" b="0" i="0">
                <a:solidFill>
                  <a:srgbClr val="007C85"/>
                </a:solidFill>
                <a:latin typeface="Consolas"/>
              </a:rPr>
              <a:t>LOWER()</a:t>
            </a:r>
            <a:r>
              <a:rPr sz="1600" b="0" i="0">
                <a:solidFill>
                  <a:srgbClr val="000000"/>
                </a:solidFill>
                <a:latin typeface="Arial"/>
              </a:rPr>
              <a:t>, </a:t>
            </a:r>
            <a:r>
              <a:rPr sz="1520" b="0" i="0">
                <a:solidFill>
                  <a:srgbClr val="007C85"/>
                </a:solidFill>
                <a:latin typeface="Consolas"/>
              </a:rPr>
              <a:t>UPPER()</a:t>
            </a:r>
            <a:r>
              <a:rPr sz="1600" b="0" i="0">
                <a:solidFill>
                  <a:srgbClr val="000000"/>
                </a:solidFill>
                <a:latin typeface="Arial"/>
              </a:rPr>
              <a:t>, </a:t>
            </a:r>
            <a:r>
              <a:rPr sz="1520" b="0" i="0">
                <a:solidFill>
                  <a:srgbClr val="007C85"/>
                </a:solidFill>
                <a:latin typeface="Consolas"/>
              </a:rPr>
              <a:t>TRIM()</a:t>
            </a:r>
            <a:r>
              <a:rPr sz="1600" b="0" i="0">
                <a:solidFill>
                  <a:srgbClr val="000000"/>
                </a:solidFill>
                <a:latin typeface="Arial"/>
              </a:rPr>
              <a:t>, </a:t>
            </a:r>
            <a:r>
              <a:rPr sz="1520" b="0" i="0">
                <a:solidFill>
                  <a:srgbClr val="007C85"/>
                </a:solidFill>
                <a:latin typeface="Consolas"/>
              </a:rPr>
              <a:t>SUBSTRING()</a:t>
            </a:r>
            <a:r>
              <a:rPr sz="1600" b="0" i="0">
                <a:solidFill>
                  <a:srgbClr val="000000"/>
                </a:solidFill>
                <a:latin typeface="Arial"/>
              </a:rPr>
              <a:t>:</a:t>
            </a:r>
          </a:p>
        </p:txBody>
      </p:sp>
      <p:pic>
        <p:nvPicPr>
          <p:cNvPr id="15" name="Picture 14" descr="SELECT name&#10;  FROM tracks&#10; WHERE LOWER(name) = 'yesterday'&#10; LIMIT 3;"/>
          <p:cNvPicPr>
            <a:picLocks noChangeAspect="1"/>
          </p:cNvPicPr>
          <p:nvPr/>
        </p:nvPicPr>
        <p:blipFill>
          <a:blip r:embed="rId4"/>
          <a:stretch>
            <a:fillRect/>
          </a:stretch>
        </p:blipFill>
        <p:spPr>
          <a:xfrm>
            <a:off x="1005840" y="1885187"/>
            <a:ext cx="4514850" cy="1543050"/>
          </a:xfrm>
          <a:prstGeom prst="rect">
            <a:avLst/>
          </a:prstGeom>
        </p:spPr>
      </p:pic>
      <p:pic>
        <p:nvPicPr>
          <p:cNvPr id="16" name="Picture 15" descr="SELECT name&#10;  FROM tracks&#10; WHERE LOWER(name) = 'yesterday'&#10; LIMIT 3;"/>
          <p:cNvPicPr>
            <a:picLocks noChangeAspect="1"/>
          </p:cNvPicPr>
          <p:nvPr/>
        </p:nvPicPr>
        <p:blipFill>
          <a:blip r:embed="rId5"/>
          <a:stretch>
            <a:fillRect/>
          </a:stretch>
        </p:blipFill>
        <p:spPr>
          <a:xfrm>
            <a:off x="1005840" y="3656838"/>
            <a:ext cx="1047749" cy="1676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1.1 FILTERING AND SORTING</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Filtering text</a:t>
            </a:r>
          </a:p>
        </p:txBody>
      </p:sp>
      <p:sp>
        <p:nvSpPr>
          <p:cNvPr id="14" name="Lead"/>
          <p:cNvSpPr txBox="1"/>
          <p:nvPr/>
        </p:nvSpPr>
        <p:spPr>
          <a:xfrm>
            <a:off x="1005840" y="1367028"/>
            <a:ext cx="3108960" cy="3429000"/>
          </a:xfrm>
          <a:prstGeom prst="rect">
            <a:avLst/>
          </a:prstGeom>
          <a:noFill/>
        </p:spPr>
        <p:txBody>
          <a:bodyPr wrap="square" lIns="0" tIns="27432" rIns="0" bIns="27432" anchor="t">
            <a:spAutoFit/>
          </a:bodyPr>
          <a:lstStyle/>
          <a:p>
            <a:pPr marL="274320">
              <a:spcBef>
                <a:spcPts val="600"/>
              </a:spcBef>
              <a:spcAft>
                <a:spcPts val="720"/>
              </a:spcAft>
            </a:pPr>
            <a:r>
              <a:rPr sz="1500" b="0" i="0">
                <a:solidFill>
                  <a:srgbClr val="007C85"/>
                </a:solidFill>
                <a:latin typeface="Arial"/>
              </a:rPr>
              <a:t>💡 Wrapping a column in a function stops PostgreSQL using an ordinary index on it. </a:t>
            </a:r>
            <a:r>
              <a:rPr sz="1425" b="0" i="0">
                <a:solidFill>
                  <a:srgbClr val="007C85"/>
                </a:solidFill>
                <a:latin typeface="Consolas"/>
              </a:rPr>
              <a:t>LOWER(name) = 'yesterday'</a:t>
            </a:r>
            <a:r>
              <a:rPr sz="1500" b="0" i="0">
                <a:solidFill>
                  <a:srgbClr val="007C85"/>
                </a:solidFill>
                <a:latin typeface="Arial"/>
              </a:rPr>
              <a:t> cannot use an index on </a:t>
            </a:r>
            <a:r>
              <a:rPr sz="1425" b="0" i="0">
                <a:solidFill>
                  <a:srgbClr val="007C85"/>
                </a:solidFill>
                <a:latin typeface="Consolas"/>
              </a:rPr>
              <a:t>name</a:t>
            </a:r>
            <a:r>
              <a:rPr sz="1500" b="0" i="0">
                <a:solidFill>
                  <a:srgbClr val="007C85"/>
                </a:solidFill>
                <a:latin typeface="Arial"/>
              </a:rPr>
              <a:t>. That does not matter on 60,000 rows; it matters a great deal on 60,000,000. Lecture 3 returns to this.</a:t>
            </a:r>
          </a:p>
          <a:p>
            <a:pPr>
              <a:spcAft>
                <a:spcPts val="720"/>
              </a:spcAft>
            </a:pPr>
            <a:r>
              <a:rPr sz="1600" b="0" i="0">
                <a:solidFill>
                  <a:srgbClr val="000000"/>
                </a:solidFill>
                <a:latin typeface="Arial"/>
              </a:rPr>
              <a:t>Conditions combine freely:</a:t>
            </a:r>
          </a:p>
        </p:txBody>
      </p:sp>
      <p:pic>
        <p:nvPicPr>
          <p:cNvPr id="15" name="Picture 14" descr="SELECT name, popularity, tempo&#10;  FROM tracks&#10; WHERE (name ILIKE '%love%' OR name ILIKE '%heart%')&#10;   AND popularity &gt; 60&#10;   AND tempo BETWEEN 100 AND 130&#10; LIMIT 5;"/>
          <p:cNvPicPr>
            <a:picLocks noChangeAspect="1"/>
          </p:cNvPicPr>
          <p:nvPr/>
        </p:nvPicPr>
        <p:blipFill>
          <a:blip r:embed="rId4"/>
          <a:stretch>
            <a:fillRect/>
          </a:stretch>
        </p:blipFill>
        <p:spPr>
          <a:xfrm>
            <a:off x="4480560" y="1367028"/>
            <a:ext cx="6858000" cy="2088024"/>
          </a:xfrm>
          <a:prstGeom prst="rect">
            <a:avLst/>
          </a:prstGeom>
        </p:spPr>
      </p:pic>
      <p:pic>
        <p:nvPicPr>
          <p:cNvPr id="16" name="Picture 15" descr="SELECT name, popularity, tempo&#10;  FROM tracks&#10; WHERE (name ILIKE '%love%' OR name ILIKE '%heart%')&#10;   AND popularity &gt; 60&#10;   AND tempo BETWEEN 100 AND 130&#10; LIMIT 5;"/>
          <p:cNvPicPr>
            <a:picLocks noChangeAspect="1"/>
          </p:cNvPicPr>
          <p:nvPr/>
        </p:nvPicPr>
        <p:blipFill>
          <a:blip r:embed="rId5"/>
          <a:stretch>
            <a:fillRect/>
          </a:stretch>
        </p:blipFill>
        <p:spPr>
          <a:xfrm>
            <a:off x="4480560" y="3683652"/>
            <a:ext cx="5150460" cy="232930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1.1 FILTERING AND SORTING</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Sorting (ORDER BY)</a:t>
            </a:r>
          </a:p>
        </p:txBody>
      </p:sp>
      <p:sp>
        <p:nvSpPr>
          <p:cNvPr id="14" name="Lead"/>
          <p:cNvSpPr txBox="1"/>
          <p:nvPr/>
        </p:nvSpPr>
        <p:spPr>
          <a:xfrm>
            <a:off x="1005840" y="1367028"/>
            <a:ext cx="3108960" cy="320040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The sort field can be given by name, by alias, or by its ordinal number among the output fields (starting from 1). Numbers sort numerically, character types lexicographically.</a:t>
            </a:r>
          </a:p>
          <a:p>
            <a:pPr>
              <a:spcAft>
                <a:spcPts val="720"/>
              </a:spcAft>
            </a:pPr>
            <a:r>
              <a:rPr sz="1600" b="0" i="0">
                <a:solidFill>
                  <a:srgbClr val="000000"/>
                </a:solidFill>
                <a:latin typeface="Arial"/>
              </a:rPr>
              <a:t>Unlike </a:t>
            </a:r>
            <a:r>
              <a:rPr sz="1520" b="0" i="0">
                <a:solidFill>
                  <a:srgbClr val="007C85"/>
                </a:solidFill>
                <a:latin typeface="Consolas"/>
              </a:rPr>
              <a:t>WHERE</a:t>
            </a:r>
            <a:r>
              <a:rPr sz="1600" b="0" i="0">
                <a:solidFill>
                  <a:srgbClr val="000000"/>
                </a:solidFill>
                <a:latin typeface="Arial"/>
              </a:rPr>
              <a:t>, </a:t>
            </a:r>
            <a:r>
              <a:rPr sz="1520" b="0" i="0">
                <a:solidFill>
                  <a:srgbClr val="007C85"/>
                </a:solidFill>
                <a:latin typeface="Consolas"/>
              </a:rPr>
              <a:t>ORDER BY</a:t>
            </a:r>
            <a:r>
              <a:rPr sz="1600" b="0" i="0">
                <a:solidFill>
                  <a:srgbClr val="000000"/>
                </a:solidFill>
                <a:latin typeface="Arial"/>
              </a:rPr>
              <a:t> </a:t>
            </a:r>
            <a:r>
              <a:rPr sz="1600" b="1" i="0">
                <a:solidFill>
                  <a:srgbClr val="000000"/>
                </a:solidFill>
                <a:latin typeface="Arial"/>
              </a:rPr>
              <a:t>can</a:t>
            </a:r>
            <a:r>
              <a:rPr sz="1600" b="0" i="0">
                <a:solidFill>
                  <a:srgbClr val="000000"/>
                </a:solidFill>
                <a:latin typeface="Arial"/>
              </a:rPr>
              <a:t> see a </a:t>
            </a:r>
            <a:r>
              <a:rPr sz="1520" b="0" i="0">
                <a:solidFill>
                  <a:srgbClr val="007C85"/>
                </a:solidFill>
                <a:latin typeface="Consolas"/>
              </a:rPr>
              <a:t>SELECT</a:t>
            </a:r>
            <a:r>
              <a:rPr sz="1600" b="0" i="0">
                <a:solidFill>
                  <a:srgbClr val="000000"/>
                </a:solidFill>
                <a:latin typeface="Arial"/>
              </a:rPr>
              <a:t> alias, because sorting happens after the columns are computed (see the order of execution):</a:t>
            </a:r>
          </a:p>
        </p:txBody>
      </p:sp>
      <p:pic>
        <p:nvPicPr>
          <p:cNvPr id="15" name="Picture 14" descr="SELECT name,&#10;       round(duration_ms / 60000.0, 2) AS minutes&#10;  FROM tracks&#10; WHERE popularity &gt; 70&#10; ORDER BY minutes DESC&#10; LIMIT 5;"/>
          <p:cNvPicPr>
            <a:picLocks noChangeAspect="1"/>
          </p:cNvPicPr>
          <p:nvPr/>
        </p:nvPicPr>
        <p:blipFill>
          <a:blip r:embed="rId4"/>
          <a:stretch>
            <a:fillRect/>
          </a:stretch>
        </p:blipFill>
        <p:spPr>
          <a:xfrm>
            <a:off x="4480560" y="1367028"/>
            <a:ext cx="6657975" cy="2143125"/>
          </a:xfrm>
          <a:prstGeom prst="rect">
            <a:avLst/>
          </a:prstGeom>
        </p:spPr>
      </p:pic>
      <p:pic>
        <p:nvPicPr>
          <p:cNvPr id="16" name="Picture 15" descr="SELECT name,&#10;       round(duration_ms / 60000.0, 2) AS minutes&#10;  FROM tracks&#10; WHERE popularity &gt; 70&#10; ORDER BY minutes DESC&#10; LIMIT 5;"/>
          <p:cNvPicPr>
            <a:picLocks noChangeAspect="1"/>
          </p:cNvPicPr>
          <p:nvPr/>
        </p:nvPicPr>
        <p:blipFill>
          <a:blip r:embed="rId5"/>
          <a:stretch>
            <a:fillRect/>
          </a:stretch>
        </p:blipFill>
        <p:spPr>
          <a:xfrm>
            <a:off x="4480560" y="3738753"/>
            <a:ext cx="5219700" cy="23907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1.1 FILTERING AND SORTING</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Limiting the result set (LIMIT, OFFSET)</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520" b="0" i="0">
                <a:solidFill>
                  <a:srgbClr val="007C85"/>
                </a:solidFill>
                <a:latin typeface="Consolas"/>
              </a:rPr>
              <a:t>LIMIT</a:t>
            </a:r>
            <a:r>
              <a:rPr sz="1600" b="0" i="0">
                <a:solidFill>
                  <a:srgbClr val="000000"/>
                </a:solidFill>
                <a:latin typeface="Arial"/>
              </a:rPr>
              <a:t> restricts the number of rows returned; combined with </a:t>
            </a:r>
            <a:r>
              <a:rPr sz="1520" b="0" i="0">
                <a:solidFill>
                  <a:srgbClr val="007C85"/>
                </a:solidFill>
                <a:latin typeface="Consolas"/>
              </a:rPr>
              <a:t>OFFSET</a:t>
            </a:r>
            <a:r>
              <a:rPr sz="1600" b="0" i="0">
                <a:solidFill>
                  <a:srgbClr val="000000"/>
                </a:solidFill>
                <a:latin typeface="Arial"/>
              </a:rPr>
              <a:t> it gives pagination.</a:t>
            </a:r>
          </a:p>
        </p:txBody>
      </p:sp>
      <p:pic>
        <p:nvPicPr>
          <p:cNvPr id="15" name="Picture 14" descr="   SELECT *&#10;     FROM table&#10;    WHERE &lt;condition&gt;&#10; ORDER BY &lt;field_1&gt;, &lt;field_2&gt;&#10;    LIMIT n1                       -- return n1 rows&#10;   OFFSET n2                       -- skip the first n2 rows"/>
          <p:cNvPicPr>
            <a:picLocks noChangeAspect="1"/>
          </p:cNvPicPr>
          <p:nvPr/>
        </p:nvPicPr>
        <p:blipFill>
          <a:blip r:embed="rId4"/>
          <a:stretch>
            <a:fillRect/>
          </a:stretch>
        </p:blipFill>
        <p:spPr>
          <a:xfrm>
            <a:off x="1005840" y="1885187"/>
            <a:ext cx="8048625" cy="21431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close-up of a colorful background&#10;&#10;AI-generated content may be incorrect.">
            <a:extLst>
              <a:ext uri="{FF2B5EF4-FFF2-40B4-BE49-F238E27FC236}">
                <a16:creationId xmlns:a16="http://schemas.microsoft.com/office/drawing/2014/main" id="{FB6389BF-F4D2-40D5-62DD-3C105EE3C230}"/>
              </a:ext>
            </a:extLst>
          </p:cNvPr>
          <p:cNvPicPr>
            <a:picLocks noChangeAspect="1"/>
          </p:cNvPicPr>
          <p:nvPr/>
        </p:nvPicPr>
        <p:blipFill>
          <a:blip r:embed="rId2"/>
          <a:stretch>
            <a:fillRect/>
          </a:stretch>
        </p:blipFill>
        <p:spPr>
          <a:xfrm>
            <a:off x="0" y="0"/>
            <a:ext cx="12188952" cy="6856286"/>
          </a:xfrm>
          <a:prstGeom prst="rect">
            <a:avLst/>
          </a:prstGeom>
        </p:spPr>
      </p:pic>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5" name="Picture 14" descr="A black background with a black square&#10;&#10;AI-generated content may be incorrect.">
            <a:extLst>
              <a:ext uri="{FF2B5EF4-FFF2-40B4-BE49-F238E27FC236}">
                <a16:creationId xmlns:a16="http://schemas.microsoft.com/office/drawing/2014/main" id="{4501C81A-DBE5-E6A0-4619-C2A3D5341FF3}"/>
              </a:ext>
            </a:extLst>
          </p:cNvPr>
          <p:cNvPicPr>
            <a:picLocks noChangeAspect="1"/>
          </p:cNvPicPr>
          <p:nvPr/>
        </p:nvPicPr>
        <p:blipFill>
          <a:blip r:embed="rId3"/>
          <a:stretch>
            <a:fillRect/>
          </a:stretch>
        </p:blipFill>
        <p:spPr>
          <a:xfrm>
            <a:off x="205078" y="262042"/>
            <a:ext cx="332804" cy="332804"/>
          </a:xfrm>
          <a:prstGeom prst="rect">
            <a:avLst/>
          </a:prstGeom>
        </p:spPr>
      </p:pic>
      <p:sp>
        <p:nvSpPr>
          <p:cNvPr id="16" name="Title"/>
          <p:cNvSpPr txBox="1"/>
          <p:nvPr/>
        </p:nvSpPr>
        <p:spPr>
          <a:xfrm>
            <a:off x="548640" y="1188720"/>
            <a:ext cx="5120640" cy="670953"/>
          </a:xfrm>
          <a:prstGeom prst="rect">
            <a:avLst/>
          </a:prstGeom>
          <a:noFill/>
        </p:spPr>
        <p:txBody>
          <a:bodyPr wrap="square" lIns="0" tIns="27432" rIns="0" bIns="27432" anchor="t">
            <a:spAutoFit/>
          </a:bodyPr>
          <a:lstStyle/>
          <a:p>
            <a:r>
              <a:rPr sz="4000" b="1" i="0" dirty="0">
                <a:solidFill>
                  <a:srgbClr val="000000"/>
                </a:solidFill>
                <a:latin typeface="Arial"/>
              </a:rPr>
              <a:t>Aggregate functions</a:t>
            </a:r>
          </a:p>
        </p:txBody>
      </p:sp>
      <p:sp>
        <p:nvSpPr>
          <p:cNvPr id="17" name="Body"/>
          <p:cNvSpPr txBox="1"/>
          <p:nvPr/>
        </p:nvSpPr>
        <p:spPr>
          <a:xfrm>
            <a:off x="548640" y="2722880"/>
            <a:ext cx="5120640" cy="3632200"/>
          </a:xfrm>
          <a:prstGeom prst="rect">
            <a:avLst/>
          </a:prstGeom>
          <a:noFill/>
        </p:spPr>
        <p:txBody>
          <a:bodyPr wrap="square" lIns="0" tIns="27432" rIns="0" bIns="27432" anchor="t">
            <a:spAutoFit/>
          </a:bodyPr>
          <a:lstStyle/>
          <a:p>
            <a:pPr>
              <a:spcAft>
                <a:spcPts val="765"/>
              </a:spcAft>
            </a:pPr>
            <a:r>
              <a:rPr sz="1700" b="0" i="0">
                <a:solidFill>
                  <a:srgbClr val="000000"/>
                </a:solidFill>
                <a:latin typeface="Arial"/>
              </a:rPr>
              <a:t>Aggregate functions perform a calculation over a set of values and return a single value — the aggregate. They are used to analyse and summarise data: the sum of today's purchases, the number of people in a department, the average length of a song.</a:t>
            </a:r>
          </a:p>
          <a:p>
            <a:pPr marL="292608" indent="-292608">
              <a:spcAft>
                <a:spcPts val="765"/>
              </a:spcAft>
              <a:buFont typeface="Arial"/>
              <a:buChar char="•"/>
            </a:pPr>
            <a:r>
              <a:rPr sz="1700" b="0" i="0">
                <a:solidFill>
                  <a:srgbClr val="000000"/>
                </a:solidFill>
                <a:latin typeface="Arial"/>
              </a:rPr>
              <a:t>Specifics of COUNT</a:t>
            </a:r>
          </a:p>
          <a:p>
            <a:pPr marL="292608" indent="-292608">
              <a:spcAft>
                <a:spcPts val="765"/>
              </a:spcAft>
              <a:buFont typeface="Arial"/>
              <a:buChar char="•"/>
            </a:pPr>
            <a:r>
              <a:rPr sz="1700" b="0" i="0">
                <a:solidFill>
                  <a:srgbClr val="000000"/>
                </a:solidFill>
                <a:latin typeface="Arial"/>
              </a:rPr>
              <a:t>Counting several things in one pass</a:t>
            </a:r>
          </a:p>
          <a:p>
            <a:pPr marL="292608" indent="-292608">
              <a:spcAft>
                <a:spcPts val="765"/>
              </a:spcAft>
              <a:buFont typeface="Arial"/>
              <a:buChar char="•"/>
            </a:pPr>
            <a:r>
              <a:rPr sz="1700" b="0" i="0">
                <a:solidFill>
                  <a:srgbClr val="000000"/>
                </a:solidFill>
                <a:latin typeface="Arial"/>
              </a:rPr>
              <a:t>Grouping data (GROUP BY)</a:t>
            </a:r>
          </a:p>
          <a:p>
            <a:pPr marL="292608" indent="-292608">
              <a:spcAft>
                <a:spcPts val="765"/>
              </a:spcAft>
              <a:buFont typeface="Arial"/>
              <a:buChar char="•"/>
            </a:pPr>
            <a:r>
              <a:rPr sz="1700" b="0" i="0">
                <a:solidFill>
                  <a:srgbClr val="000000"/>
                </a:solidFill>
                <a:latin typeface="Arial"/>
              </a:rPr>
              <a:t>Filtering by aggregates (HAVING)</a:t>
            </a:r>
          </a:p>
          <a:p>
            <a:pPr marL="292608" indent="-292608">
              <a:spcAft>
                <a:spcPts val="765"/>
              </a:spcAft>
              <a:buFont typeface="Arial"/>
              <a:buChar char="•"/>
            </a:pPr>
            <a:r>
              <a:rPr sz="1700" b="0" i="0">
                <a:solidFill>
                  <a:srgbClr val="000000"/>
                </a:solidFill>
                <a:latin typeface="Arial"/>
              </a:rPr>
              <a:t>Check yourself</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2"/>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LECTURE 1. SQL BASICS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1.2 Aggregate functions</a:t>
            </a:r>
          </a:p>
        </p:txBody>
      </p:sp>
      <p:graphicFrame>
        <p:nvGraphicFramePr>
          <p:cNvPr id="14" name="Table"/>
          <p:cNvGraphicFramePr>
            <a:graphicFrameLocks noGrp="1"/>
          </p:cNvGraphicFramePr>
          <p:nvPr/>
        </p:nvGraphicFramePr>
        <p:xfrm>
          <a:off x="1005840" y="1367028"/>
          <a:ext cx="10332719" cy="1828800"/>
        </p:xfrm>
        <a:graphic>
          <a:graphicData uri="http://schemas.openxmlformats.org/drawingml/2006/table">
            <a:tbl>
              <a:tblPr firstRow="1">
                <a:tableStyleId>{5C22544A-7EE6-4342-B048-85BDC9FD1C3A}</a:tableStyleId>
              </a:tblPr>
              <a:tblGrid>
                <a:gridCol w="1268930">
                  <a:extLst>
                    <a:ext uri="{9D8B030D-6E8A-4147-A177-3AD203B41FA5}">
                      <a16:colId xmlns:a16="http://schemas.microsoft.com/office/drawing/2014/main" val="20000"/>
                    </a:ext>
                  </a:extLst>
                </a:gridCol>
                <a:gridCol w="2537861">
                  <a:extLst>
                    <a:ext uri="{9D8B030D-6E8A-4147-A177-3AD203B41FA5}">
                      <a16:colId xmlns:a16="http://schemas.microsoft.com/office/drawing/2014/main" val="20001"/>
                    </a:ext>
                  </a:extLst>
                </a:gridCol>
                <a:gridCol w="6525928">
                  <a:extLst>
                    <a:ext uri="{9D8B030D-6E8A-4147-A177-3AD203B41FA5}">
                      <a16:colId xmlns:a16="http://schemas.microsoft.com/office/drawing/2014/main" val="20002"/>
                    </a:ext>
                  </a:extLst>
                </a:gridCol>
              </a:tblGrid>
              <a:tr h="304800">
                <a:tc>
                  <a:txBody>
                    <a:bodyPr/>
                    <a:lstStyle/>
                    <a:p>
                      <a:r>
                        <a:rPr sz="1400" b="1" i="0">
                          <a:solidFill>
                            <a:srgbClr val="000000"/>
                          </a:solidFill>
                          <a:latin typeface="Arial"/>
                        </a:rPr>
                        <a:t>Purpose</a:t>
                      </a:r>
                    </a:p>
                  </a:txBody>
                  <a:tcPr>
                    <a:solidFill>
                      <a:srgbClr val="03CDD8"/>
                    </a:solidFill>
                  </a:tcPr>
                </a:tc>
                <a:tc>
                  <a:txBody>
                    <a:bodyPr/>
                    <a:lstStyle/>
                    <a:p>
                      <a:r>
                        <a:rPr sz="1400" b="1" i="0">
                          <a:solidFill>
                            <a:srgbClr val="000000"/>
                          </a:solidFill>
                          <a:latin typeface="Arial"/>
                        </a:rPr>
                        <a:t>Function</a:t>
                      </a:r>
                    </a:p>
                  </a:txBody>
                  <a:tcPr>
                    <a:solidFill>
                      <a:srgbClr val="03CDD8"/>
                    </a:solidFill>
                  </a:tcPr>
                </a:tc>
                <a:tc>
                  <a:txBody>
                    <a:bodyPr/>
                    <a:lstStyle/>
                    <a:p>
                      <a:r>
                        <a:rPr sz="1400" b="1" i="0">
                          <a:solidFill>
                            <a:srgbClr val="000000"/>
                          </a:solidFill>
                          <a:latin typeface="Arial"/>
                        </a:rPr>
                        <a:t>Example</a:t>
                      </a:r>
                    </a:p>
                  </a:txBody>
                  <a:tcPr>
                    <a:solidFill>
                      <a:srgbClr val="03CDD8"/>
                    </a:solidFill>
                  </a:tcPr>
                </a:tc>
                <a:extLst>
                  <a:ext uri="{0D108BD9-81ED-4DB2-BD59-A6C34878D82A}">
                    <a16:rowId xmlns:a16="http://schemas.microsoft.com/office/drawing/2014/main" val="10000"/>
                  </a:ext>
                </a:extLst>
              </a:tr>
              <a:tr h="304800">
                <a:tc>
                  <a:txBody>
                    <a:bodyPr/>
                    <a:lstStyle/>
                    <a:p>
                      <a:r>
                        <a:rPr sz="1400" b="0" i="0">
                          <a:solidFill>
                            <a:srgbClr val="000000"/>
                          </a:solidFill>
                          <a:latin typeface="Arial"/>
                        </a:rPr>
                        <a:t>Count</a:t>
                      </a:r>
                    </a:p>
                  </a:txBody>
                  <a:tcPr>
                    <a:solidFill>
                      <a:srgbClr val="FFFFFF"/>
                    </a:solidFill>
                  </a:tcPr>
                </a:tc>
                <a:tc>
                  <a:txBody>
                    <a:bodyPr/>
                    <a:lstStyle/>
                    <a:p>
                      <a:r>
                        <a:rPr sz="1330" b="0" i="0">
                          <a:solidFill>
                            <a:srgbClr val="007C85"/>
                          </a:solidFill>
                          <a:latin typeface="Consolas"/>
                        </a:rPr>
                        <a:t>COUNT(&lt;field&gt;)</a:t>
                      </a:r>
                    </a:p>
                  </a:txBody>
                  <a:tcPr>
                    <a:solidFill>
                      <a:srgbClr val="FFFFFF"/>
                    </a:solidFill>
                  </a:tcPr>
                </a:tc>
                <a:tc>
                  <a:txBody>
                    <a:bodyPr/>
                    <a:lstStyle/>
                    <a:p>
                      <a:r>
                        <a:rPr sz="1330" b="0" i="0">
                          <a:solidFill>
                            <a:srgbClr val="007C85"/>
                          </a:solidFill>
                          <a:latin typeface="Consolas"/>
                        </a:rPr>
                        <a:t>SELECT COUNT(*) FROM tracks</a:t>
                      </a:r>
                    </a:p>
                  </a:txBody>
                  <a:tcPr>
                    <a:solidFill>
                      <a:srgbClr val="FFFFFF"/>
                    </a:solidFill>
                  </a:tcPr>
                </a:tc>
                <a:extLst>
                  <a:ext uri="{0D108BD9-81ED-4DB2-BD59-A6C34878D82A}">
                    <a16:rowId xmlns:a16="http://schemas.microsoft.com/office/drawing/2014/main" val="10001"/>
                  </a:ext>
                </a:extLst>
              </a:tr>
              <a:tr h="304800">
                <a:tc>
                  <a:txBody>
                    <a:bodyPr/>
                    <a:lstStyle/>
                    <a:p>
                      <a:r>
                        <a:rPr sz="1400" b="0" i="0">
                          <a:solidFill>
                            <a:srgbClr val="000000"/>
                          </a:solidFill>
                          <a:latin typeface="Arial"/>
                        </a:rPr>
                        <a:t>Sum</a:t>
                      </a:r>
                    </a:p>
                  </a:txBody>
                  <a:tcPr>
                    <a:solidFill>
                      <a:srgbClr val="F3F6F7"/>
                    </a:solidFill>
                  </a:tcPr>
                </a:tc>
                <a:tc>
                  <a:txBody>
                    <a:bodyPr/>
                    <a:lstStyle/>
                    <a:p>
                      <a:r>
                        <a:rPr sz="1330" b="0" i="0">
                          <a:solidFill>
                            <a:srgbClr val="007C85"/>
                          </a:solidFill>
                          <a:latin typeface="Consolas"/>
                        </a:rPr>
                        <a:t>SUM(&lt;field&gt;)</a:t>
                      </a:r>
                    </a:p>
                  </a:txBody>
                  <a:tcPr>
                    <a:solidFill>
                      <a:srgbClr val="F3F6F7"/>
                    </a:solidFill>
                  </a:tcPr>
                </a:tc>
                <a:tc>
                  <a:txBody>
                    <a:bodyPr/>
                    <a:lstStyle/>
                    <a:p>
                      <a:r>
                        <a:rPr sz="1330" b="0" i="0">
                          <a:solidFill>
                            <a:srgbClr val="007C85"/>
                          </a:solidFill>
                          <a:latin typeface="Consolas"/>
                        </a:rPr>
                        <a:t>SELECT SUM(duration_ms) FROM tracks</a:t>
                      </a:r>
                    </a:p>
                  </a:txBody>
                  <a:tcPr>
                    <a:solidFill>
                      <a:srgbClr val="F3F6F7"/>
                    </a:solidFill>
                  </a:tcPr>
                </a:tc>
                <a:extLst>
                  <a:ext uri="{0D108BD9-81ED-4DB2-BD59-A6C34878D82A}">
                    <a16:rowId xmlns:a16="http://schemas.microsoft.com/office/drawing/2014/main" val="10002"/>
                  </a:ext>
                </a:extLst>
              </a:tr>
              <a:tr h="304800">
                <a:tc>
                  <a:txBody>
                    <a:bodyPr/>
                    <a:lstStyle/>
                    <a:p>
                      <a:r>
                        <a:rPr sz="1400" b="0" i="0">
                          <a:solidFill>
                            <a:srgbClr val="000000"/>
                          </a:solidFill>
                          <a:latin typeface="Arial"/>
                        </a:rPr>
                        <a:t>Average</a:t>
                      </a:r>
                    </a:p>
                  </a:txBody>
                  <a:tcPr>
                    <a:solidFill>
                      <a:srgbClr val="FFFFFF"/>
                    </a:solidFill>
                  </a:tcPr>
                </a:tc>
                <a:tc>
                  <a:txBody>
                    <a:bodyPr/>
                    <a:lstStyle/>
                    <a:p>
                      <a:r>
                        <a:rPr sz="1330" b="0" i="0">
                          <a:solidFill>
                            <a:srgbClr val="007C85"/>
                          </a:solidFill>
                          <a:latin typeface="Consolas"/>
                        </a:rPr>
                        <a:t>AVG(&lt;field&gt;)</a:t>
                      </a:r>
                    </a:p>
                  </a:txBody>
                  <a:tcPr>
                    <a:solidFill>
                      <a:srgbClr val="FFFFFF"/>
                    </a:solidFill>
                  </a:tcPr>
                </a:tc>
                <a:tc>
                  <a:txBody>
                    <a:bodyPr/>
                    <a:lstStyle/>
                    <a:p>
                      <a:r>
                        <a:rPr sz="1330" b="0" i="0">
                          <a:solidFill>
                            <a:srgbClr val="007C85"/>
                          </a:solidFill>
                          <a:latin typeface="Consolas"/>
                        </a:rPr>
                        <a:t>SELECT AVG(popularity) FROM tracks</a:t>
                      </a:r>
                    </a:p>
                  </a:txBody>
                  <a:tcPr>
                    <a:solidFill>
                      <a:srgbClr val="FFFFFF"/>
                    </a:solidFill>
                  </a:tcPr>
                </a:tc>
                <a:extLst>
                  <a:ext uri="{0D108BD9-81ED-4DB2-BD59-A6C34878D82A}">
                    <a16:rowId xmlns:a16="http://schemas.microsoft.com/office/drawing/2014/main" val="10003"/>
                  </a:ext>
                </a:extLst>
              </a:tr>
              <a:tr h="304800">
                <a:tc>
                  <a:txBody>
                    <a:bodyPr/>
                    <a:lstStyle/>
                    <a:p>
                      <a:r>
                        <a:rPr sz="1400" b="0" i="0">
                          <a:solidFill>
                            <a:srgbClr val="000000"/>
                          </a:solidFill>
                          <a:latin typeface="Arial"/>
                        </a:rPr>
                        <a:t>Minimum</a:t>
                      </a:r>
                    </a:p>
                  </a:txBody>
                  <a:tcPr>
                    <a:solidFill>
                      <a:srgbClr val="F3F6F7"/>
                    </a:solidFill>
                  </a:tcPr>
                </a:tc>
                <a:tc>
                  <a:txBody>
                    <a:bodyPr/>
                    <a:lstStyle/>
                    <a:p>
                      <a:r>
                        <a:rPr sz="1330" b="0" i="0">
                          <a:solidFill>
                            <a:srgbClr val="007C85"/>
                          </a:solidFill>
                          <a:latin typeface="Consolas"/>
                        </a:rPr>
                        <a:t>MIN(&lt;field&gt;)</a:t>
                      </a:r>
                    </a:p>
                  </a:txBody>
                  <a:tcPr>
                    <a:solidFill>
                      <a:srgbClr val="F3F6F7"/>
                    </a:solidFill>
                  </a:tcPr>
                </a:tc>
                <a:tc>
                  <a:txBody>
                    <a:bodyPr/>
                    <a:lstStyle/>
                    <a:p>
                      <a:r>
                        <a:rPr sz="1330" b="0" i="0">
                          <a:solidFill>
                            <a:srgbClr val="007C85"/>
                          </a:solidFill>
                          <a:latin typeface="Consolas"/>
                        </a:rPr>
                        <a:t>SELECT MIN(release_date) FROM tracks</a:t>
                      </a:r>
                    </a:p>
                  </a:txBody>
                  <a:tcPr>
                    <a:solidFill>
                      <a:srgbClr val="F3F6F7"/>
                    </a:solidFill>
                  </a:tcPr>
                </a:tc>
                <a:extLst>
                  <a:ext uri="{0D108BD9-81ED-4DB2-BD59-A6C34878D82A}">
                    <a16:rowId xmlns:a16="http://schemas.microsoft.com/office/drawing/2014/main" val="10004"/>
                  </a:ext>
                </a:extLst>
              </a:tr>
              <a:tr h="304800">
                <a:tc>
                  <a:txBody>
                    <a:bodyPr/>
                    <a:lstStyle/>
                    <a:p>
                      <a:r>
                        <a:rPr sz="1400" b="0" i="0">
                          <a:solidFill>
                            <a:srgbClr val="000000"/>
                          </a:solidFill>
                          <a:latin typeface="Arial"/>
                        </a:rPr>
                        <a:t>Maximum</a:t>
                      </a:r>
                    </a:p>
                  </a:txBody>
                  <a:tcPr>
                    <a:solidFill>
                      <a:srgbClr val="FFFFFF"/>
                    </a:solidFill>
                  </a:tcPr>
                </a:tc>
                <a:tc>
                  <a:txBody>
                    <a:bodyPr/>
                    <a:lstStyle/>
                    <a:p>
                      <a:r>
                        <a:rPr sz="1330" b="0" i="0">
                          <a:solidFill>
                            <a:srgbClr val="007C85"/>
                          </a:solidFill>
                          <a:latin typeface="Consolas"/>
                        </a:rPr>
                        <a:t>MAX(&lt;field&gt;)</a:t>
                      </a:r>
                    </a:p>
                  </a:txBody>
                  <a:tcPr>
                    <a:solidFill>
                      <a:srgbClr val="FFFFFF"/>
                    </a:solidFill>
                  </a:tcPr>
                </a:tc>
                <a:tc>
                  <a:txBody>
                    <a:bodyPr/>
                    <a:lstStyle/>
                    <a:p>
                      <a:r>
                        <a:rPr sz="1330" b="0" i="0">
                          <a:solidFill>
                            <a:srgbClr val="007C85"/>
                          </a:solidFill>
                          <a:latin typeface="Consolas"/>
                        </a:rPr>
                        <a:t>SELECT MAX(tempo) FROM tracks</a:t>
                      </a:r>
                    </a:p>
                  </a:txBody>
                  <a:tcP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LECTURE 1. SQL BASICS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1.2 Aggregate functions</a:t>
            </a:r>
          </a:p>
        </p:txBody>
      </p:sp>
      <p:pic>
        <p:nvPicPr>
          <p:cNvPr id="14" name="Picture 13" descr="SELECT count(*)                             AS tracks,&#10;       round(avg(popularity), 2)            AS avg_popularity,&#10;       min(release_date)                    AS earliest,&#10;       max(release_date)                    AS latest,&#10;       round(sum(duration_ms) / 3600000.0)  AS total_hours&#10;  FROM tracks;"/>
          <p:cNvPicPr>
            <a:picLocks noChangeAspect="1"/>
          </p:cNvPicPr>
          <p:nvPr/>
        </p:nvPicPr>
        <p:blipFill>
          <a:blip r:embed="rId4"/>
          <a:stretch>
            <a:fillRect/>
          </a:stretch>
        </p:blipFill>
        <p:spPr>
          <a:xfrm>
            <a:off x="1005840" y="1367028"/>
            <a:ext cx="8296274" cy="2143125"/>
          </a:xfrm>
          <a:prstGeom prst="rect">
            <a:avLst/>
          </a:prstGeom>
        </p:spPr>
      </p:pic>
      <p:pic>
        <p:nvPicPr>
          <p:cNvPr id="15" name="Picture 14" descr="SELECT count(*)                             AS tracks,&#10;       round(avg(popularity), 2)            AS avg_popularity,&#10;       min(release_date)                    AS earliest,&#10;       max(release_date)                    AS latest,&#10;       round(sum(duration_ms) / 3600000.0)  AS total_hours&#10;  FROM tracks;"/>
          <p:cNvPicPr>
            <a:picLocks noChangeAspect="1"/>
          </p:cNvPicPr>
          <p:nvPr/>
        </p:nvPicPr>
        <p:blipFill>
          <a:blip r:embed="rId5"/>
          <a:stretch>
            <a:fillRect/>
          </a:stretch>
        </p:blipFill>
        <p:spPr>
          <a:xfrm>
            <a:off x="1005840" y="3738753"/>
            <a:ext cx="5819775" cy="952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1.2 AGGREGATE FUNCTIONS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Specifics of COUNT</a:t>
            </a:r>
          </a:p>
        </p:txBody>
      </p:sp>
      <p:sp>
        <p:nvSpPr>
          <p:cNvPr id="14" name="Lead"/>
          <p:cNvSpPr txBox="1"/>
          <p:nvPr/>
        </p:nvSpPr>
        <p:spPr>
          <a:xfrm>
            <a:off x="1005840" y="1367028"/>
            <a:ext cx="10332720" cy="2011680"/>
          </a:xfrm>
          <a:prstGeom prst="rect">
            <a:avLst/>
          </a:prstGeom>
          <a:noFill/>
        </p:spPr>
        <p:txBody>
          <a:bodyPr wrap="square" lIns="0" tIns="27432" rIns="0" bIns="27432" anchor="t">
            <a:spAutoFit/>
          </a:bodyPr>
          <a:lstStyle/>
          <a:p>
            <a:pPr marL="292608" indent="-292608">
              <a:spcAft>
                <a:spcPts val="720"/>
              </a:spcAft>
              <a:buFont typeface="Arial"/>
              <a:buChar char="•"/>
            </a:pPr>
            <a:r>
              <a:rPr sz="1520" b="0" i="0">
                <a:solidFill>
                  <a:srgbClr val="007C85"/>
                </a:solidFill>
                <a:latin typeface="Consolas"/>
              </a:rPr>
              <a:t>COUNT(*)</a:t>
            </a:r>
            <a:r>
              <a:rPr sz="1600" b="0" i="0">
                <a:solidFill>
                  <a:srgbClr val="000000"/>
                </a:solidFill>
                <a:latin typeface="Arial"/>
              </a:rPr>
              <a:t> — the number of rows in the table (or in the filtered table, if </a:t>
            </a:r>
            <a:r>
              <a:rPr sz="1520" b="0" i="0">
                <a:solidFill>
                  <a:srgbClr val="007C85"/>
                </a:solidFill>
                <a:latin typeface="Consolas"/>
              </a:rPr>
              <a:t>WHERE</a:t>
            </a:r>
            <a:r>
              <a:rPr sz="1600" b="0" i="0">
                <a:solidFill>
                  <a:srgbClr val="000000"/>
                </a:solidFill>
                <a:latin typeface="Arial"/>
              </a:rPr>
              <a:t> is used);</a:t>
            </a:r>
          </a:p>
          <a:p>
            <a:pPr marL="292608" indent="-292608">
              <a:spcAft>
                <a:spcPts val="720"/>
              </a:spcAft>
              <a:buFont typeface="Arial"/>
              <a:buChar char="•"/>
            </a:pPr>
            <a:r>
              <a:rPr sz="1520" b="0" i="0">
                <a:solidFill>
                  <a:srgbClr val="007C85"/>
                </a:solidFill>
                <a:latin typeface="Consolas"/>
              </a:rPr>
              <a:t>COUNT(1)</a:t>
            </a:r>
            <a:r>
              <a:rPr sz="1600" b="0" i="0">
                <a:solidFill>
                  <a:srgbClr val="000000"/>
                </a:solidFill>
                <a:latin typeface="Arial"/>
              </a:rPr>
              <a:t> — the same as </a:t>
            </a:r>
            <a:r>
              <a:rPr sz="1520" b="0" i="0">
                <a:solidFill>
                  <a:srgbClr val="007C85"/>
                </a:solidFill>
                <a:latin typeface="Consolas"/>
              </a:rPr>
              <a:t>COUNT(*)</a:t>
            </a:r>
            <a:r>
              <a:rPr sz="1600" b="0" i="0">
                <a:solidFill>
                  <a:srgbClr val="000000"/>
                </a:solidFill>
                <a:latin typeface="Arial"/>
              </a:rPr>
              <a:t>, but the DBMS does not read the values of every field, using a constant instead;</a:t>
            </a:r>
          </a:p>
          <a:p>
            <a:pPr marL="292608" indent="-292608">
              <a:spcAft>
                <a:spcPts val="720"/>
              </a:spcAft>
              <a:buFont typeface="Arial"/>
              <a:buChar char="•"/>
            </a:pPr>
            <a:r>
              <a:rPr sz="1520" b="0" i="0">
                <a:solidFill>
                  <a:srgbClr val="007C85"/>
                </a:solidFill>
                <a:latin typeface="Consolas"/>
              </a:rPr>
              <a:t>COUNT(&lt;field&gt;)</a:t>
            </a:r>
            <a:r>
              <a:rPr sz="1600" b="0" i="0">
                <a:solidFill>
                  <a:srgbClr val="000000"/>
                </a:solidFill>
                <a:latin typeface="Arial"/>
              </a:rPr>
              <a:t> — the number of non-empty values in the field;</a:t>
            </a:r>
          </a:p>
          <a:p>
            <a:pPr marL="292608" indent="-292608">
              <a:spcAft>
                <a:spcPts val="720"/>
              </a:spcAft>
              <a:buFont typeface="Arial"/>
              <a:buChar char="•"/>
            </a:pPr>
            <a:r>
              <a:rPr sz="1520" b="0" i="0">
                <a:solidFill>
                  <a:srgbClr val="007C85"/>
                </a:solidFill>
                <a:latin typeface="Consolas"/>
              </a:rPr>
              <a:t>COUNT(DISTINCT &lt;field&gt;)</a:t>
            </a:r>
            <a:r>
              <a:rPr sz="1600" b="0" i="0">
                <a:solidFill>
                  <a:srgbClr val="000000"/>
                </a:solidFill>
                <a:latin typeface="Arial"/>
              </a:rPr>
              <a:t> — the number of unique non-empty values in the field.</a:t>
            </a:r>
          </a:p>
          <a:p>
            <a:pPr>
              <a:spcAft>
                <a:spcPts val="720"/>
              </a:spcAft>
            </a:pPr>
            <a:r>
              <a:rPr sz="1600" b="0" i="0">
                <a:solidFill>
                  <a:srgbClr val="000000"/>
                </a:solidFill>
                <a:latin typeface="Arial"/>
              </a:rPr>
              <a:t>The five nameless tracks make the difference visible:</a:t>
            </a:r>
          </a:p>
        </p:txBody>
      </p:sp>
      <p:pic>
        <p:nvPicPr>
          <p:cNvPr id="15" name="Picture 14" descr="SELECT count(*)                       AS count_star,&#10;       count(1)                       AS count_1,&#10;       count(name)                    AS count_name,&#10;       count(DISTINCT name)           AS count_distinct_name,&#10;       count(DISTINCT time_signature) AS count_distinct_time_sig&#10;  FROM tracks;"/>
          <p:cNvPicPr>
            <a:picLocks noChangeAspect="1"/>
          </p:cNvPicPr>
          <p:nvPr/>
        </p:nvPicPr>
        <p:blipFill>
          <a:blip r:embed="rId4"/>
          <a:stretch>
            <a:fillRect/>
          </a:stretch>
        </p:blipFill>
        <p:spPr>
          <a:xfrm>
            <a:off x="1005840" y="3470148"/>
            <a:ext cx="7717221" cy="1933602"/>
          </a:xfrm>
          <a:prstGeom prst="rect">
            <a:avLst/>
          </a:prstGeom>
        </p:spPr>
      </p:pic>
      <p:pic>
        <p:nvPicPr>
          <p:cNvPr id="16" name="Picture 15" descr="SELECT count(*)                       AS count_star,&#10;       count(1)                       AS count_1,&#10;       count(name)                    AS count_name,&#10;       count(DISTINCT name)           AS count_distinct_name,&#10;       count(DISTINCT time_signature) AS count_distinct_time_sig&#10;  FROM tracks;"/>
          <p:cNvPicPr>
            <a:picLocks noChangeAspect="1"/>
          </p:cNvPicPr>
          <p:nvPr/>
        </p:nvPicPr>
        <p:blipFill>
          <a:blip r:embed="rId5"/>
          <a:stretch>
            <a:fillRect/>
          </a:stretch>
        </p:blipFill>
        <p:spPr>
          <a:xfrm>
            <a:off x="1005840" y="5632350"/>
            <a:ext cx="6969562" cy="85937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close-up of a bunch of paint brushes&#10;&#10;AI-generated content may be incorrect.">
            <a:extLst>
              <a:ext uri="{FF2B5EF4-FFF2-40B4-BE49-F238E27FC236}">
                <a16:creationId xmlns:a16="http://schemas.microsoft.com/office/drawing/2014/main" id="{34B42168-D1AC-F5B4-26AE-D6D4372602E9}"/>
              </a:ext>
            </a:extLst>
          </p:cNvPr>
          <p:cNvPicPr>
            <a:picLocks noGrp="1" noChangeAspect="1"/>
          </p:cNvPicPr>
          <p:nvPr>
            <p:ph idx="1"/>
          </p:nvPr>
        </p:nvPicPr>
        <p:blipFill>
          <a:blip r:embed="rId2"/>
          <a:srcRect b="19"/>
          <a:stretch>
            <a:fillRect/>
          </a:stretch>
        </p:blipFill>
        <p:spPr>
          <a:xfrm>
            <a:off x="20" y="1282"/>
            <a:ext cx="12191980" cy="6856718"/>
          </a:xfrm>
          <a:prstGeom prst="rect">
            <a:avLst/>
          </a:prstGeom>
        </p:spPr>
      </p:pic>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6035040" cy="292608"/>
          </a:xfrm>
          <a:prstGeom prst="rect">
            <a:avLst/>
          </a:prstGeom>
          <a:noFill/>
        </p:spPr>
        <p:txBody>
          <a:bodyPr wrap="square" lIns="0" tIns="27432" rIns="0" bIns="27432" anchor="t">
            <a:spAutoFit/>
          </a:bodyPr>
          <a:lstStyle/>
          <a:p>
            <a:r>
              <a:rPr sz="1200" b="1" i="0">
                <a:solidFill>
                  <a:srgbClr val="007C85"/>
                </a:solidFill>
                <a:latin typeface="Arial"/>
              </a:rPr>
              <a:t>1.2 AGGREGATE FUNCTIONS</a:t>
            </a:r>
          </a:p>
        </p:txBody>
      </p:sp>
      <p:sp>
        <p:nvSpPr>
          <p:cNvPr id="13" name="Title"/>
          <p:cNvSpPr txBox="1"/>
          <p:nvPr/>
        </p:nvSpPr>
        <p:spPr>
          <a:xfrm>
            <a:off x="1005840" y="566928"/>
            <a:ext cx="6035040" cy="617219"/>
          </a:xfrm>
          <a:prstGeom prst="rect">
            <a:avLst/>
          </a:prstGeom>
          <a:noFill/>
        </p:spPr>
        <p:txBody>
          <a:bodyPr wrap="square" lIns="0" tIns="27432" rIns="0" bIns="27432" anchor="t">
            <a:spAutoFit/>
          </a:bodyPr>
          <a:lstStyle/>
          <a:p>
            <a:r>
              <a:rPr sz="3600" b="1" i="0">
                <a:solidFill>
                  <a:srgbClr val="000000"/>
                </a:solidFill>
                <a:latin typeface="Arial"/>
              </a:rPr>
              <a:t>Specifics of COUNT</a:t>
            </a:r>
          </a:p>
        </p:txBody>
      </p:sp>
      <p:sp>
        <p:nvSpPr>
          <p:cNvPr id="14" name="Body"/>
          <p:cNvSpPr txBox="1"/>
          <p:nvPr/>
        </p:nvSpPr>
        <p:spPr>
          <a:xfrm>
            <a:off x="1005840" y="2057400"/>
            <a:ext cx="6766560" cy="4297680"/>
          </a:xfrm>
          <a:prstGeom prst="rect">
            <a:avLst/>
          </a:prstGeom>
          <a:noFill/>
        </p:spPr>
        <p:txBody>
          <a:bodyPr wrap="square" lIns="0" tIns="27432" rIns="0" bIns="27432" anchor="t">
            <a:spAutoFit/>
          </a:bodyPr>
          <a:lstStyle/>
          <a:p>
            <a:pPr>
              <a:spcAft>
                <a:spcPts val="810"/>
              </a:spcAft>
            </a:pPr>
            <a:r>
              <a:rPr sz="1709" b="0" i="0">
                <a:solidFill>
                  <a:srgbClr val="007C85"/>
                </a:solidFill>
                <a:latin typeface="Consolas"/>
              </a:rPr>
              <a:t>count_star</a:t>
            </a:r>
            <a:r>
              <a:rPr sz="1800" b="0" i="0">
                <a:solidFill>
                  <a:srgbClr val="000000"/>
                </a:solidFill>
                <a:latin typeface="Arial"/>
              </a:rPr>
              <a:t> and </a:t>
            </a:r>
            <a:r>
              <a:rPr sz="1709" b="0" i="0">
                <a:solidFill>
                  <a:srgbClr val="007C85"/>
                </a:solidFill>
                <a:latin typeface="Consolas"/>
              </a:rPr>
              <a:t>count_name</a:t>
            </a:r>
            <a:r>
              <a:rPr sz="1800" b="0" i="0">
                <a:solidFill>
                  <a:srgbClr val="000000"/>
                </a:solidFill>
                <a:latin typeface="Arial"/>
              </a:rPr>
              <a:t> differ by exactly the five </a:t>
            </a:r>
            <a:r>
              <a:rPr sz="1709" b="0" i="0">
                <a:solidFill>
                  <a:srgbClr val="007C85"/>
                </a:solidFill>
                <a:latin typeface="Consolas"/>
              </a:rPr>
              <a:t>NULL</a:t>
            </a:r>
            <a:r>
              <a:rPr sz="1800" b="0" i="0">
                <a:solidFill>
                  <a:srgbClr val="000000"/>
                </a:solidFill>
                <a:latin typeface="Arial"/>
              </a:rPr>
              <a:t> titles. </a:t>
            </a:r>
            <a:r>
              <a:rPr sz="1709" b="0" i="0">
                <a:solidFill>
                  <a:srgbClr val="007C85"/>
                </a:solidFill>
                <a:latin typeface="Consolas"/>
              </a:rPr>
              <a:t>count_distinct_name</a:t>
            </a:r>
            <a:r>
              <a:rPr sz="1800" b="0" i="0">
                <a:solidFill>
                  <a:srgbClr val="000000"/>
                </a:solidFill>
                <a:latin typeface="Arial"/>
              </a:rPr>
              <a:t> is far lower still — the catalogue is full of remasters, live versions and re-releases sharing a title.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1.2 AGGREGATE FUNCTIONS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Grouping data (GROUP BY)</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The single most useful grouping on this data is by decade:</a:t>
            </a:r>
          </a:p>
        </p:txBody>
      </p:sp>
      <p:pic>
        <p:nvPicPr>
          <p:cNvPr id="15" name="Picture 14" descr="SELECT (EXTRACT(YEAR FROM release_date)::int / 10) * 10 AS decade,&#10;       count(*)                                        AS tracks,&#10;       round(avg(popularity), 1)                       AS avg_popularity,&#10;       round(avg(duration_ms) / 60000.0, 2)            AS avg_minutes,&#10;       round(avg(energy)::numeric, 3)                  AS avg_energy&#10;  FROM tracks&#10; GROUP BY decade&#10; ORDER BY decade;"/>
          <p:cNvPicPr>
            <a:picLocks noChangeAspect="1"/>
          </p:cNvPicPr>
          <p:nvPr/>
        </p:nvPicPr>
        <p:blipFill>
          <a:blip r:embed="rId4"/>
          <a:stretch>
            <a:fillRect/>
          </a:stretch>
        </p:blipFill>
        <p:spPr>
          <a:xfrm>
            <a:off x="1005840" y="1885187"/>
            <a:ext cx="9686925" cy="275272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1.2 AGGREGATE FUNCTIONS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Grouping data (GROUP BY)</a:t>
            </a:r>
          </a:p>
        </p:txBody>
      </p:sp>
      <p:pic>
        <p:nvPicPr>
          <p:cNvPr id="14" name="Picture 13" descr="SELECT (EXTRACT(YEAR FROM release_date)::int / 10) * 10 AS decade,&#10;       count(*)                                        AS tracks,&#10;       round(avg(popularity), 1)                       AS avg_popularity,&#10;       round(avg(duration_ms) / 60000.0, 2)            AS avg_minutes,&#10;       round(avg(energy)::numeric, 3)                  AS avg_energy&#10;  FROM tracks&#10; GROUP BY decade&#10; ORDER BY decade;"/>
          <p:cNvPicPr>
            <a:picLocks noChangeAspect="1"/>
          </p:cNvPicPr>
          <p:nvPr/>
        </p:nvPicPr>
        <p:blipFill>
          <a:blip r:embed="rId4"/>
          <a:stretch>
            <a:fillRect/>
          </a:stretch>
        </p:blipFill>
        <p:spPr>
          <a:xfrm>
            <a:off x="1005840" y="1367028"/>
            <a:ext cx="5715000" cy="49053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1.2 AGGREGATE FUNCTIONS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Filtering by aggregates (HAVING)</a:t>
            </a:r>
          </a:p>
        </p:txBody>
      </p:sp>
      <p:pic>
        <p:nvPicPr>
          <p:cNvPr id="14" name="Picture 13" descr="SELECT a.name,&#10;       count(*) AS tracks&#10;  FROM artists AS a&#10;  JOIN track_artists AS ta ON ta.artist_id = a.id&#10; GROUP BY a.name&#10;HAVING count(*) &gt; 150&#10; ORDER BY tracks DESC;"/>
          <p:cNvPicPr>
            <a:picLocks noChangeAspect="1"/>
          </p:cNvPicPr>
          <p:nvPr/>
        </p:nvPicPr>
        <p:blipFill>
          <a:blip r:embed="rId4"/>
          <a:stretch>
            <a:fillRect/>
          </a:stretch>
        </p:blipFill>
        <p:spPr>
          <a:xfrm>
            <a:off x="1005840" y="1367028"/>
            <a:ext cx="6657975" cy="2447925"/>
          </a:xfrm>
          <a:prstGeom prst="rect">
            <a:avLst/>
          </a:prstGeom>
        </p:spPr>
      </p:pic>
      <p:pic>
        <p:nvPicPr>
          <p:cNvPr id="15" name="Picture 14" descr="SELECT a.name,&#10;       count(*) AS tracks&#10;  FROM artists AS a&#10;  JOIN track_artists AS ta ON ta.artist_id = a.id&#10; GROUP BY a.name&#10;HAVING count(*) &gt; 150&#10; ORDER BY tracks DESC;"/>
          <p:cNvPicPr>
            <a:picLocks noChangeAspect="1"/>
          </p:cNvPicPr>
          <p:nvPr/>
        </p:nvPicPr>
        <p:blipFill>
          <a:blip r:embed="rId5"/>
          <a:stretch>
            <a:fillRect/>
          </a:stretch>
        </p:blipFill>
        <p:spPr>
          <a:xfrm>
            <a:off x="7892415" y="1367028"/>
            <a:ext cx="3181350" cy="34671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12648" y="228600"/>
            <a:ext cx="1554480" cy="228600"/>
          </a:xfrm>
          <a:prstGeom prst="rect">
            <a:avLst/>
          </a:prstGeom>
          <a:noFill/>
        </p:spPr>
        <p:txBody>
          <a:bodyPr wrap="square" lIns="0" tIns="0" rIns="0" bIns="0" anchor="t">
            <a:spAutoFit/>
          </a:bodyPr>
          <a:lstStyle/>
          <a:p>
            <a:pPr algn="l">
              <a:spcAft>
                <a:spcPts val="0"/>
              </a:spcAft>
            </a:pPr>
            <a:r>
              <a:rPr sz="1300" b="1">
                <a:solidFill>
                  <a:srgbClr val="061022"/>
                </a:solidFill>
                <a:latin typeface="Arial"/>
              </a:rPr>
              <a:t>TBC Explorers</a:t>
            </a:r>
          </a:p>
        </p:txBody>
      </p:sp>
      <p:sp>
        <p:nvSpPr>
          <p:cNvPr id="3" name="TextBox 2"/>
          <p:cNvSpPr txBox="1"/>
          <p:nvPr/>
        </p:nvSpPr>
        <p:spPr>
          <a:xfrm>
            <a:off x="11384280" y="219456"/>
            <a:ext cx="320040" cy="201168"/>
          </a:xfrm>
          <a:prstGeom prst="rect">
            <a:avLst/>
          </a:prstGeom>
          <a:noFill/>
        </p:spPr>
        <p:txBody>
          <a:bodyPr wrap="square" lIns="0" tIns="0" rIns="0" bIns="0" anchor="t">
            <a:spAutoFit/>
          </a:bodyPr>
          <a:lstStyle/>
          <a:p>
            <a:pPr algn="r">
              <a:spcAft>
                <a:spcPts val="0"/>
              </a:spcAft>
            </a:pPr>
            <a:fld id="{B6F15528-21DE-4FAA-801E-634DDDAF4B2B}" type="slidenum">
              <a:rPr sz="900" b="0">
                <a:solidFill>
                  <a:srgbClr val="061022"/>
                </a:solidFill>
                <a:latin typeface="Arial"/>
              </a:rPr>
              <a:t>34</a:t>
            </a:fld>
          </a:p>
        </p:txBody>
      </p:sp>
      <p:sp>
        <p:nvSpPr>
          <p:cNvPr id="4" name="TextBox 3"/>
          <p:cNvSpPr txBox="1"/>
          <p:nvPr/>
        </p:nvSpPr>
        <p:spPr>
          <a:xfrm>
            <a:off x="530352" y="1481328"/>
            <a:ext cx="4389120" cy="566928"/>
          </a:xfrm>
          <a:prstGeom prst="rect">
            <a:avLst/>
          </a:prstGeom>
          <a:noFill/>
        </p:spPr>
        <p:txBody>
          <a:bodyPr wrap="square" lIns="0" tIns="0" rIns="0" bIns="0" anchor="t">
            <a:spAutoFit/>
          </a:bodyPr>
          <a:lstStyle/>
          <a:p>
            <a:pPr algn="l">
              <a:spcAft>
                <a:spcPts val="0"/>
              </a:spcAft>
            </a:pPr>
            <a:r>
              <a:rPr sz="3600" b="1">
                <a:solidFill>
                  <a:srgbClr val="061022"/>
                </a:solidFill>
                <a:latin typeface="Arial"/>
              </a:rPr>
              <a:t>10-minute</a:t>
            </a:r>
          </a:p>
        </p:txBody>
      </p:sp>
      <p:sp>
        <p:nvSpPr>
          <p:cNvPr id="5" name="TextBox 4"/>
          <p:cNvSpPr txBox="1"/>
          <p:nvPr/>
        </p:nvSpPr>
        <p:spPr>
          <a:xfrm>
            <a:off x="530352" y="2039112"/>
            <a:ext cx="2926080" cy="594360"/>
          </a:xfrm>
          <a:prstGeom prst="rect">
            <a:avLst/>
          </a:prstGeom>
          <a:noFill/>
        </p:spPr>
        <p:txBody>
          <a:bodyPr wrap="square" lIns="0" tIns="0" rIns="0" bIns="0" anchor="t">
            <a:spAutoFit/>
          </a:bodyPr>
          <a:lstStyle/>
          <a:p>
            <a:pPr algn="l">
              <a:spcAft>
                <a:spcPts val="0"/>
              </a:spcAft>
            </a:pPr>
            <a:r>
              <a:rPr sz="3600" b="1">
                <a:solidFill>
                  <a:srgbClr val="10C6D3"/>
                </a:solidFill>
                <a:latin typeface="Arial"/>
              </a:rPr>
              <a:t>break</a:t>
            </a:r>
          </a:p>
        </p:txBody>
      </p:sp>
      <p:sp>
        <p:nvSpPr>
          <p:cNvPr id="6" name="TextBox 5"/>
          <p:cNvSpPr txBox="1"/>
          <p:nvPr/>
        </p:nvSpPr>
        <p:spPr>
          <a:xfrm>
            <a:off x="566928" y="2907792"/>
            <a:ext cx="3566160" cy="713232"/>
          </a:xfrm>
          <a:prstGeom prst="rect">
            <a:avLst/>
          </a:prstGeom>
          <a:noFill/>
        </p:spPr>
        <p:txBody>
          <a:bodyPr wrap="square" lIns="0" tIns="0" rIns="0" bIns="0" anchor="t">
            <a:spAutoFit/>
          </a:bodyPr>
          <a:lstStyle/>
          <a:p>
            <a:pPr algn="l">
              <a:spcAft>
                <a:spcPts val="0"/>
              </a:spcAft>
            </a:pPr>
            <a:r>
              <a:rPr sz="1800" b="0">
                <a:solidFill>
                  <a:srgbClr val="636F84"/>
                </a:solidFill>
                <a:latin typeface="Arial"/>
              </a:rPr>
              <a:t>We'll continue with
window functions.</a:t>
            </a:r>
          </a:p>
        </p:txBody>
      </p:sp>
      <p:pic>
        <p:nvPicPr>
          <p:cNvPr id="7" name="Picture 6" descr="refcat_break3.png"/>
          <p:cNvPicPr>
            <a:picLocks noChangeAspect="1"/>
          </p:cNvPicPr>
          <p:nvPr/>
        </p:nvPicPr>
        <p:blipFill>
          <a:blip r:embed="rId2"/>
          <a:stretch>
            <a:fillRect/>
          </a:stretch>
        </p:blipFill>
        <p:spPr>
          <a:xfrm>
            <a:off x="6995160" y="1078992"/>
            <a:ext cx="4663440" cy="475142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colorful object&#10;&#10;AI-generated content may be incorrect.">
            <a:extLst>
              <a:ext uri="{FF2B5EF4-FFF2-40B4-BE49-F238E27FC236}">
                <a16:creationId xmlns:a16="http://schemas.microsoft.com/office/drawing/2014/main" id="{94BE2C03-EF74-F5AD-32D8-416E3638685C}"/>
              </a:ext>
            </a:extLst>
          </p:cNvPr>
          <p:cNvPicPr>
            <a:picLocks noGrp="1" noChangeAspect="1"/>
          </p:cNvPicPr>
          <p:nvPr>
            <p:ph idx="1"/>
          </p:nvPr>
        </p:nvPicPr>
        <p:blipFill>
          <a:blip r:embed="rId2"/>
          <a:stretch>
            <a:fillRect/>
          </a:stretch>
        </p:blipFill>
        <p:spPr>
          <a:xfrm>
            <a:off x="0" y="0"/>
            <a:ext cx="12192000" cy="6858000"/>
          </a:xfrm>
        </p:spPr>
      </p:pic>
      <p:pic>
        <p:nvPicPr>
          <p:cNvPr id="10" name="Picture 9" descr="A black background with a black square&#10;&#10;AI-generated content may be incorrect.">
            <a:extLst>
              <a:ext uri="{FF2B5EF4-FFF2-40B4-BE49-F238E27FC236}">
                <a16:creationId xmlns:a16="http://schemas.microsoft.com/office/drawing/2014/main" id="{B665C1B3-FAA8-E5C8-582A-771B8F2A5AF1}"/>
              </a:ext>
            </a:extLst>
          </p:cNvPr>
          <p:cNvPicPr>
            <a:picLocks noChangeAspect="1"/>
          </p:cNvPicPr>
          <p:nvPr/>
        </p:nvPicPr>
        <p:blipFill>
          <a:blip r:embed="rId3"/>
          <a:stretch>
            <a:fillRect/>
          </a:stretch>
        </p:blipFill>
        <p:spPr>
          <a:xfrm>
            <a:off x="11606498" y="198723"/>
            <a:ext cx="332804" cy="332804"/>
          </a:xfrm>
          <a:prstGeom prst="rect">
            <a:avLst/>
          </a:prstGeom>
        </p:spPr>
      </p:pic>
      <p:sp>
        <p:nvSpPr>
          <p:cNvPr id="11" name="Title"/>
          <p:cNvSpPr txBox="1"/>
          <p:nvPr/>
        </p:nvSpPr>
        <p:spPr>
          <a:xfrm>
            <a:off x="6035040" y="685800"/>
            <a:ext cx="5394960" cy="670953"/>
          </a:xfrm>
          <a:prstGeom prst="rect">
            <a:avLst/>
          </a:prstGeom>
          <a:noFill/>
        </p:spPr>
        <p:txBody>
          <a:bodyPr wrap="square" lIns="0" tIns="27432" rIns="0" bIns="27432" anchor="t">
            <a:spAutoFit/>
          </a:bodyPr>
          <a:lstStyle/>
          <a:p>
            <a:r>
              <a:rPr sz="4000" b="1" i="0" dirty="0">
                <a:solidFill>
                  <a:srgbClr val="000000"/>
                </a:solidFill>
                <a:latin typeface="Arial"/>
              </a:rPr>
              <a:t>Window functions</a:t>
            </a:r>
          </a:p>
        </p:txBody>
      </p:sp>
      <p:sp>
        <p:nvSpPr>
          <p:cNvPr id="12" name="Body"/>
          <p:cNvSpPr txBox="1"/>
          <p:nvPr/>
        </p:nvSpPr>
        <p:spPr>
          <a:xfrm>
            <a:off x="6035040" y="1635759"/>
            <a:ext cx="5394960" cy="4302716"/>
          </a:xfrm>
          <a:prstGeom prst="rect">
            <a:avLst/>
          </a:prstGeom>
          <a:noFill/>
        </p:spPr>
        <p:txBody>
          <a:bodyPr wrap="square" lIns="0" tIns="27432" rIns="0" bIns="27432" anchor="t">
            <a:spAutoFit/>
          </a:bodyPr>
          <a:lstStyle/>
          <a:p>
            <a:pPr>
              <a:spcAft>
                <a:spcPts val="810"/>
              </a:spcAft>
            </a:pPr>
            <a:r>
              <a:rPr sz="1800" b="0" i="0" dirty="0">
                <a:solidFill>
                  <a:srgbClr val="000000"/>
                </a:solidFill>
                <a:latin typeface="Arial"/>
              </a:rPr>
              <a:t>An </a:t>
            </a:r>
            <a:r>
              <a:rPr sz="1800" b="1" i="0" dirty="0">
                <a:solidFill>
                  <a:srgbClr val="000000"/>
                </a:solidFill>
                <a:latin typeface="Arial"/>
              </a:rPr>
              <a:t>analytic (window) function</a:t>
            </a:r>
            <a:r>
              <a:rPr sz="1800" b="0" i="0" dirty="0">
                <a:solidFill>
                  <a:srgbClr val="000000"/>
                </a:solidFill>
                <a:latin typeface="Arial"/>
              </a:rPr>
              <a:t> performs calculations over a set of records forming a window (partition</a:t>
            </a:r>
            <a:r>
              <a:rPr lang="en-US" sz="1800" b="0" i="0" dirty="0">
                <a:solidFill>
                  <a:srgbClr val="000000"/>
                </a:solidFill>
                <a:latin typeface="Arial"/>
              </a:rPr>
              <a:t>) and</a:t>
            </a:r>
            <a:r>
              <a:rPr sz="1800" b="0" i="0" dirty="0">
                <a:solidFill>
                  <a:srgbClr val="000000"/>
                </a:solidFill>
                <a:latin typeface="Arial"/>
              </a:rPr>
              <a:t> returns a single value per row.</a:t>
            </a:r>
          </a:p>
          <a:p>
            <a:pPr marL="292608" indent="-292608">
              <a:spcAft>
                <a:spcPts val="810"/>
              </a:spcAft>
              <a:buFont typeface="Arial"/>
              <a:buChar char="•"/>
            </a:pPr>
            <a:r>
              <a:rPr sz="1800" b="0" i="0" dirty="0">
                <a:solidFill>
                  <a:srgbClr val="000000"/>
                </a:solidFill>
                <a:latin typeface="Arial"/>
              </a:rPr>
              <a:t>Syntax</a:t>
            </a:r>
          </a:p>
          <a:p>
            <a:pPr marL="292608" indent="-292608">
              <a:spcAft>
                <a:spcPts val="810"/>
              </a:spcAft>
              <a:buFont typeface="Arial"/>
              <a:buChar char="•"/>
            </a:pPr>
            <a:r>
              <a:rPr sz="1800" b="0" i="0" dirty="0">
                <a:solidFill>
                  <a:srgbClr val="000000"/>
                </a:solidFill>
                <a:latin typeface="Arial"/>
              </a:rPr>
              <a:t>The base query for the examples</a:t>
            </a:r>
          </a:p>
          <a:p>
            <a:pPr marL="292608" indent="-292608">
              <a:spcAft>
                <a:spcPts val="810"/>
              </a:spcAft>
              <a:buFont typeface="Arial"/>
              <a:buChar char="•"/>
            </a:pPr>
            <a:r>
              <a:rPr sz="1800" b="0" i="0" dirty="0">
                <a:solidFill>
                  <a:srgbClr val="000000"/>
                </a:solidFill>
                <a:latin typeface="Arial"/>
              </a:rPr>
              <a:t>The three groups of analytic functions</a:t>
            </a:r>
          </a:p>
          <a:p>
            <a:pPr marL="292608" indent="-292608">
              <a:spcAft>
                <a:spcPts val="810"/>
              </a:spcAft>
              <a:buFont typeface="Arial"/>
              <a:buChar char="•"/>
            </a:pPr>
            <a:r>
              <a:rPr sz="1800" b="0" i="0" dirty="0">
                <a:solidFill>
                  <a:srgbClr val="000000"/>
                </a:solidFill>
                <a:latin typeface="Arial"/>
              </a:rPr>
              <a:t>Aggregate window functions</a:t>
            </a:r>
          </a:p>
          <a:p>
            <a:pPr marL="292608" indent="-292608">
              <a:spcAft>
                <a:spcPts val="810"/>
              </a:spcAft>
              <a:buFont typeface="Arial"/>
              <a:buChar char="•"/>
            </a:pPr>
            <a:r>
              <a:rPr sz="1800" b="0" i="0" dirty="0">
                <a:solidFill>
                  <a:srgbClr val="000000"/>
                </a:solidFill>
                <a:latin typeface="Arial"/>
              </a:rPr>
              <a:t>Offset functions</a:t>
            </a:r>
          </a:p>
          <a:p>
            <a:pPr marL="292608" indent="-292608">
              <a:spcAft>
                <a:spcPts val="810"/>
              </a:spcAft>
              <a:buFont typeface="Arial"/>
              <a:buChar char="•"/>
            </a:pPr>
            <a:r>
              <a:rPr sz="1800" b="0" i="0" dirty="0">
                <a:solidFill>
                  <a:srgbClr val="000000"/>
                </a:solidFill>
                <a:latin typeface="Arial"/>
              </a:rPr>
              <a:t>Ranking functions</a:t>
            </a:r>
          </a:p>
          <a:p>
            <a:pPr marL="292608" indent="-292608">
              <a:spcAft>
                <a:spcPts val="810"/>
              </a:spcAft>
              <a:buFont typeface="Arial"/>
              <a:buChar char="•"/>
            </a:pPr>
            <a:r>
              <a:rPr sz="1800" b="0" i="0" dirty="0">
                <a:solidFill>
                  <a:srgbClr val="000000"/>
                </a:solidFill>
                <a:latin typeface="Arial"/>
              </a:rPr>
              <a:t>Frames</a:t>
            </a:r>
          </a:p>
          <a:p>
            <a:pPr marL="292608" indent="-292608">
              <a:spcAft>
                <a:spcPts val="810"/>
              </a:spcAft>
              <a:buFont typeface="Arial"/>
              <a:buChar char="•"/>
            </a:pPr>
            <a:r>
              <a:rPr sz="1800" b="0" i="0" dirty="0">
                <a:solidFill>
                  <a:srgbClr val="000000"/>
                </a:solidFill>
                <a:latin typeface="Arial"/>
              </a:rPr>
              <a:t>WINDOW — a named window</a:t>
            </a:r>
          </a:p>
          <a:p>
            <a:pPr marL="292608" indent="-292608">
              <a:spcAft>
                <a:spcPts val="810"/>
              </a:spcAft>
              <a:buFont typeface="Arial"/>
              <a:buChar char="•"/>
            </a:pPr>
            <a:r>
              <a:rPr sz="1800" b="0" i="0" dirty="0">
                <a:solidFill>
                  <a:srgbClr val="000000"/>
                </a:solidFill>
                <a:latin typeface="Arial"/>
              </a:rPr>
              <a:t>Check yourself</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5.png"/>
          <p:cNvPicPr>
            <a:picLocks noChangeAspect="1"/>
          </p:cNvPicPr>
          <p:nvPr/>
        </p:nvPicPr>
        <p:blipFill>
          <a:blip r:embed="rId2"/>
          <a:stretch>
            <a:fillRect/>
          </a:stretch>
        </p:blipFill>
        <p:spPr>
          <a:xfrm>
            <a:off x="9646920" y="0"/>
            <a:ext cx="2542032" cy="1344168"/>
          </a:xfrm>
          <a:prstGeom prst="rect">
            <a:avLst/>
          </a:prstGeom>
        </p:spPr>
      </p:pic>
      <p:pic>
        <p:nvPicPr>
          <p:cNvPr id="3" name="Picture 2" descr="image2.png"/>
          <p:cNvPicPr>
            <a:picLocks noChangeAspect="1"/>
          </p:cNvPicPr>
          <p:nvPr/>
        </p:nvPicPr>
        <p:blipFill>
          <a:blip r:embed="rId3"/>
          <a:stretch>
            <a:fillRect/>
          </a:stretch>
        </p:blipFill>
        <p:spPr>
          <a:xfrm>
            <a:off x="256032" y="201168"/>
            <a:ext cx="201168" cy="201168"/>
          </a:xfrm>
          <a:prstGeom prst="rect">
            <a:avLst/>
          </a:prstGeom>
        </p:spPr>
      </p:pic>
      <p:sp>
        <p:nvSpPr>
          <p:cNvPr id="4" name="TextBox 3"/>
          <p:cNvSpPr txBox="1"/>
          <p:nvPr/>
        </p:nvSpPr>
        <p:spPr>
          <a:xfrm>
            <a:off x="566928" y="384048"/>
            <a:ext cx="10241280" cy="658368"/>
          </a:xfrm>
          <a:prstGeom prst="rect">
            <a:avLst/>
          </a:prstGeom>
          <a:noFill/>
        </p:spPr>
        <p:txBody>
          <a:bodyPr wrap="square" anchor="t">
            <a:spAutoFit/>
          </a:bodyPr>
          <a:lstStyle/>
          <a:p>
            <a:pPr algn="l"/>
            <a:r>
              <a:rPr sz="3000" b="1">
                <a:solidFill>
                  <a:srgbClr val="080808"/>
                </a:solidFill>
                <a:latin typeface="Arial"/>
              </a:rPr>
              <a:t>GROUP BY vs window functions</a:t>
            </a:r>
          </a:p>
        </p:txBody>
      </p:sp>
      <p:sp>
        <p:nvSpPr>
          <p:cNvPr id="5" name="TextBox 4"/>
          <p:cNvSpPr txBox="1"/>
          <p:nvPr/>
        </p:nvSpPr>
        <p:spPr>
          <a:xfrm>
            <a:off x="566928" y="6510528"/>
            <a:ext cx="4114800" cy="201168"/>
          </a:xfrm>
          <a:prstGeom prst="rect">
            <a:avLst/>
          </a:prstGeom>
          <a:noFill/>
        </p:spPr>
        <p:txBody>
          <a:bodyPr wrap="square" anchor="t">
            <a:spAutoFit/>
          </a:bodyPr>
          <a:lstStyle/>
          <a:p>
            <a:pPr algn="l"/>
            <a:r>
              <a:rPr sz="850" b="1">
                <a:solidFill>
                  <a:srgbClr val="697076"/>
                </a:solidFill>
                <a:latin typeface="Arial"/>
              </a:rPr>
              <a:t>1.3 · WINDOW FUNCTIONS</a:t>
            </a:r>
          </a:p>
        </p:txBody>
      </p:sp>
      <p:sp>
        <p:nvSpPr>
          <p:cNvPr id="6" name="TextBox 5"/>
          <p:cNvSpPr txBox="1"/>
          <p:nvPr/>
        </p:nvSpPr>
        <p:spPr>
          <a:xfrm>
            <a:off x="11018520" y="6473952"/>
            <a:ext cx="502920" cy="219456"/>
          </a:xfrm>
          <a:prstGeom prst="rect">
            <a:avLst/>
          </a:prstGeom>
          <a:noFill/>
        </p:spPr>
        <p:txBody>
          <a:bodyPr wrap="square" anchor="t">
            <a:spAutoFit/>
          </a:bodyPr>
          <a:lstStyle/>
          <a:p>
            <a:pPr algn="r"/>
            <a:fld id="{B6F15528-21DE-4FAA-801E-634DDDAF4B2B}" type="slidenum">
              <a:rPr sz="900" b="1">
                <a:solidFill>
                  <a:srgbClr val="697076"/>
                </a:solidFill>
                <a:latin typeface="Arial"/>
              </a:rPr>
              <a:t>36</a:t>
            </a:fld>
          </a:p>
        </p:txBody>
      </p:sp>
      <p:sp>
        <p:nvSpPr>
          <p:cNvPr id="7" name="TextBox 6"/>
          <p:cNvSpPr txBox="1"/>
          <p:nvPr/>
        </p:nvSpPr>
        <p:spPr>
          <a:xfrm>
            <a:off x="731520" y="1600200"/>
            <a:ext cx="2011680" cy="320040"/>
          </a:xfrm>
          <a:prstGeom prst="rect">
            <a:avLst/>
          </a:prstGeom>
          <a:noFill/>
        </p:spPr>
        <p:txBody>
          <a:bodyPr wrap="square" anchor="t">
            <a:spAutoFit/>
          </a:bodyPr>
          <a:lstStyle/>
          <a:p>
            <a:pPr algn="l"/>
            <a:r>
              <a:rPr sz="2200" b="1">
                <a:solidFill>
                  <a:srgbClr val="080808"/>
                </a:solidFill>
                <a:latin typeface="Arial"/>
              </a:rPr>
              <a:t>GROUP BY</a:t>
            </a:r>
          </a:p>
        </p:txBody>
      </p:sp>
      <p:sp>
        <p:nvSpPr>
          <p:cNvPr id="8" name="Rounded Rectangle 7"/>
          <p:cNvSpPr/>
          <p:nvPr/>
        </p:nvSpPr>
        <p:spPr>
          <a:xfrm>
            <a:off x="731520" y="2148840"/>
            <a:ext cx="2651760" cy="384048"/>
          </a:xfrm>
          <a:prstGeom prst="roundRect">
            <a:avLst/>
          </a:prstGeom>
          <a:solidFill>
            <a:srgbClr val="F4F6F7"/>
          </a:solidFill>
          <a:ln w="7315">
            <a:solidFill>
              <a:srgbClr val="E1E5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ounded Rectangle 8"/>
          <p:cNvSpPr/>
          <p:nvPr/>
        </p:nvSpPr>
        <p:spPr>
          <a:xfrm>
            <a:off x="731520" y="2679192"/>
            <a:ext cx="2651760" cy="384048"/>
          </a:xfrm>
          <a:prstGeom prst="roundRect">
            <a:avLst/>
          </a:prstGeom>
          <a:solidFill>
            <a:srgbClr val="F4F6F7"/>
          </a:solidFill>
          <a:ln w="7315">
            <a:solidFill>
              <a:srgbClr val="E1E5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ounded Rectangle 9"/>
          <p:cNvSpPr/>
          <p:nvPr/>
        </p:nvSpPr>
        <p:spPr>
          <a:xfrm>
            <a:off x="731520" y="3209544"/>
            <a:ext cx="2651760" cy="384048"/>
          </a:xfrm>
          <a:prstGeom prst="roundRect">
            <a:avLst/>
          </a:prstGeom>
          <a:solidFill>
            <a:srgbClr val="F4F6F7"/>
          </a:solidFill>
          <a:ln w="7315">
            <a:solidFill>
              <a:srgbClr val="E1E5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ounded Rectangle 10"/>
          <p:cNvSpPr/>
          <p:nvPr/>
        </p:nvSpPr>
        <p:spPr>
          <a:xfrm>
            <a:off x="731520" y="3739896"/>
            <a:ext cx="2651760" cy="384048"/>
          </a:xfrm>
          <a:prstGeom prst="roundRect">
            <a:avLst/>
          </a:prstGeom>
          <a:solidFill>
            <a:srgbClr val="F4F6F7"/>
          </a:solidFill>
          <a:ln w="7315">
            <a:solidFill>
              <a:srgbClr val="E1E5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914400" y="4480560"/>
            <a:ext cx="1005840" cy="274320"/>
          </a:xfrm>
          <a:prstGeom prst="rect">
            <a:avLst/>
          </a:prstGeom>
          <a:noFill/>
        </p:spPr>
        <p:txBody>
          <a:bodyPr wrap="square" anchor="t">
            <a:spAutoFit/>
          </a:bodyPr>
          <a:lstStyle/>
          <a:p>
            <a:pPr algn="l"/>
            <a:r>
              <a:rPr sz="1300" b="0">
                <a:solidFill>
                  <a:srgbClr val="697076"/>
                </a:solidFill>
                <a:latin typeface="Arial"/>
              </a:rPr>
              <a:t>4 rows</a:t>
            </a:r>
          </a:p>
        </p:txBody>
      </p:sp>
      <p:sp>
        <p:nvSpPr>
          <p:cNvPr id="13" name="TextBox 12"/>
          <p:cNvSpPr txBox="1"/>
          <p:nvPr/>
        </p:nvSpPr>
        <p:spPr>
          <a:xfrm>
            <a:off x="3566160" y="2788920"/>
            <a:ext cx="457200" cy="457200"/>
          </a:xfrm>
          <a:prstGeom prst="rect">
            <a:avLst/>
          </a:prstGeom>
          <a:noFill/>
        </p:spPr>
        <p:txBody>
          <a:bodyPr wrap="square" anchor="t">
            <a:spAutoFit/>
          </a:bodyPr>
          <a:lstStyle/>
          <a:p>
            <a:pPr algn="l"/>
            <a:r>
              <a:rPr sz="2800" b="1">
                <a:solidFill>
                  <a:srgbClr val="13C5CF"/>
                </a:solidFill>
                <a:latin typeface="Arial"/>
              </a:rPr>
              <a:t>→</a:t>
            </a:r>
          </a:p>
        </p:txBody>
      </p:sp>
      <p:sp>
        <p:nvSpPr>
          <p:cNvPr id="14" name="Rounded Rectangle 13"/>
          <p:cNvSpPr/>
          <p:nvPr/>
        </p:nvSpPr>
        <p:spPr>
          <a:xfrm>
            <a:off x="4160520" y="2560320"/>
            <a:ext cx="1828800" cy="822960"/>
          </a:xfrm>
          <a:prstGeom prst="roundRect">
            <a:avLst/>
          </a:prstGeom>
          <a:solidFill>
            <a:srgbClr val="13C5C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4617720" y="2816352"/>
            <a:ext cx="914400" cy="274320"/>
          </a:xfrm>
          <a:prstGeom prst="rect">
            <a:avLst/>
          </a:prstGeom>
          <a:noFill/>
        </p:spPr>
        <p:txBody>
          <a:bodyPr wrap="square" anchor="t">
            <a:spAutoFit/>
          </a:bodyPr>
          <a:lstStyle/>
          <a:p>
            <a:pPr algn="l"/>
            <a:r>
              <a:rPr sz="1600" b="1">
                <a:solidFill>
                  <a:srgbClr val="080808"/>
                </a:solidFill>
                <a:latin typeface="Arial"/>
              </a:rPr>
              <a:t>1 row</a:t>
            </a:r>
          </a:p>
        </p:txBody>
      </p:sp>
      <p:sp>
        <p:nvSpPr>
          <p:cNvPr id="16" name="TextBox 15"/>
          <p:cNvSpPr txBox="1"/>
          <p:nvPr/>
        </p:nvSpPr>
        <p:spPr>
          <a:xfrm>
            <a:off x="6537960" y="1600200"/>
            <a:ext cx="2011680" cy="320040"/>
          </a:xfrm>
          <a:prstGeom prst="rect">
            <a:avLst/>
          </a:prstGeom>
          <a:noFill/>
        </p:spPr>
        <p:txBody>
          <a:bodyPr wrap="square" anchor="t">
            <a:spAutoFit/>
          </a:bodyPr>
          <a:lstStyle/>
          <a:p>
            <a:pPr algn="l"/>
            <a:r>
              <a:rPr sz="2200" b="1">
                <a:solidFill>
                  <a:srgbClr val="080808"/>
                </a:solidFill>
                <a:latin typeface="Arial"/>
              </a:rPr>
              <a:t>WINDOW</a:t>
            </a:r>
          </a:p>
        </p:txBody>
      </p:sp>
      <p:sp>
        <p:nvSpPr>
          <p:cNvPr id="17" name="Rounded Rectangle 16"/>
          <p:cNvSpPr/>
          <p:nvPr/>
        </p:nvSpPr>
        <p:spPr>
          <a:xfrm>
            <a:off x="6537960" y="2148840"/>
            <a:ext cx="4206240" cy="384048"/>
          </a:xfrm>
          <a:prstGeom prst="roundRect">
            <a:avLst/>
          </a:prstGeom>
          <a:solidFill>
            <a:srgbClr val="F4F6F7"/>
          </a:solidFill>
          <a:ln w="7315">
            <a:solidFill>
              <a:srgbClr val="E1E5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720840" y="2240280"/>
            <a:ext cx="1005840" cy="182880"/>
          </a:xfrm>
          <a:prstGeom prst="rect">
            <a:avLst/>
          </a:prstGeom>
          <a:noFill/>
        </p:spPr>
        <p:txBody>
          <a:bodyPr wrap="square" anchor="t">
            <a:spAutoFit/>
          </a:bodyPr>
          <a:lstStyle/>
          <a:p>
            <a:pPr algn="l"/>
            <a:r>
              <a:rPr sz="1100" b="0">
                <a:solidFill>
                  <a:srgbClr val="080808"/>
                </a:solidFill>
                <a:latin typeface="Arial"/>
              </a:rPr>
              <a:t>track 1</a:t>
            </a:r>
          </a:p>
        </p:txBody>
      </p:sp>
      <p:sp>
        <p:nvSpPr>
          <p:cNvPr id="19" name="TextBox 18"/>
          <p:cNvSpPr txBox="1"/>
          <p:nvPr/>
        </p:nvSpPr>
        <p:spPr>
          <a:xfrm>
            <a:off x="8823960" y="2240280"/>
            <a:ext cx="1280160" cy="182880"/>
          </a:xfrm>
          <a:prstGeom prst="rect">
            <a:avLst/>
          </a:prstGeom>
          <a:noFill/>
        </p:spPr>
        <p:txBody>
          <a:bodyPr wrap="square" anchor="t">
            <a:spAutoFit/>
          </a:bodyPr>
          <a:lstStyle/>
          <a:p>
            <a:pPr algn="l"/>
            <a:r>
              <a:rPr sz="1100" b="1">
                <a:solidFill>
                  <a:srgbClr val="13C5CF"/>
                </a:solidFill>
                <a:latin typeface="Arial"/>
              </a:rPr>
              <a:t>+ context</a:t>
            </a:r>
          </a:p>
        </p:txBody>
      </p:sp>
      <p:sp>
        <p:nvSpPr>
          <p:cNvPr id="20" name="Rounded Rectangle 19"/>
          <p:cNvSpPr/>
          <p:nvPr/>
        </p:nvSpPr>
        <p:spPr>
          <a:xfrm>
            <a:off x="6537960" y="2679192"/>
            <a:ext cx="4206240" cy="384048"/>
          </a:xfrm>
          <a:prstGeom prst="roundRect">
            <a:avLst/>
          </a:prstGeom>
          <a:solidFill>
            <a:srgbClr val="F4F6F7"/>
          </a:solidFill>
          <a:ln w="7315">
            <a:solidFill>
              <a:srgbClr val="E1E5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720840" y="2770632"/>
            <a:ext cx="1005840" cy="182880"/>
          </a:xfrm>
          <a:prstGeom prst="rect">
            <a:avLst/>
          </a:prstGeom>
          <a:noFill/>
        </p:spPr>
        <p:txBody>
          <a:bodyPr wrap="square" anchor="t">
            <a:spAutoFit/>
          </a:bodyPr>
          <a:lstStyle/>
          <a:p>
            <a:pPr algn="l"/>
            <a:r>
              <a:rPr sz="1100" b="0">
                <a:solidFill>
                  <a:srgbClr val="080808"/>
                </a:solidFill>
                <a:latin typeface="Arial"/>
              </a:rPr>
              <a:t>track 2</a:t>
            </a:r>
          </a:p>
        </p:txBody>
      </p:sp>
      <p:sp>
        <p:nvSpPr>
          <p:cNvPr id="22" name="TextBox 21"/>
          <p:cNvSpPr txBox="1"/>
          <p:nvPr/>
        </p:nvSpPr>
        <p:spPr>
          <a:xfrm>
            <a:off x="8823960" y="2770632"/>
            <a:ext cx="1280160" cy="182880"/>
          </a:xfrm>
          <a:prstGeom prst="rect">
            <a:avLst/>
          </a:prstGeom>
          <a:noFill/>
        </p:spPr>
        <p:txBody>
          <a:bodyPr wrap="square" anchor="t">
            <a:spAutoFit/>
          </a:bodyPr>
          <a:lstStyle/>
          <a:p>
            <a:pPr algn="l"/>
            <a:r>
              <a:rPr sz="1100" b="1">
                <a:solidFill>
                  <a:srgbClr val="13C5CF"/>
                </a:solidFill>
                <a:latin typeface="Arial"/>
              </a:rPr>
              <a:t>+ context</a:t>
            </a:r>
          </a:p>
        </p:txBody>
      </p:sp>
      <p:sp>
        <p:nvSpPr>
          <p:cNvPr id="23" name="Rounded Rectangle 22"/>
          <p:cNvSpPr/>
          <p:nvPr/>
        </p:nvSpPr>
        <p:spPr>
          <a:xfrm>
            <a:off x="6537960" y="3209544"/>
            <a:ext cx="4206240" cy="384048"/>
          </a:xfrm>
          <a:prstGeom prst="roundRect">
            <a:avLst/>
          </a:prstGeom>
          <a:solidFill>
            <a:srgbClr val="F4F6F7"/>
          </a:solidFill>
          <a:ln w="7315">
            <a:solidFill>
              <a:srgbClr val="E1E5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6720840" y="3300984"/>
            <a:ext cx="1005840" cy="182880"/>
          </a:xfrm>
          <a:prstGeom prst="rect">
            <a:avLst/>
          </a:prstGeom>
          <a:noFill/>
        </p:spPr>
        <p:txBody>
          <a:bodyPr wrap="square" anchor="t">
            <a:spAutoFit/>
          </a:bodyPr>
          <a:lstStyle/>
          <a:p>
            <a:pPr algn="l"/>
            <a:r>
              <a:rPr sz="1100" b="0">
                <a:solidFill>
                  <a:srgbClr val="080808"/>
                </a:solidFill>
                <a:latin typeface="Arial"/>
              </a:rPr>
              <a:t>track 3</a:t>
            </a:r>
          </a:p>
        </p:txBody>
      </p:sp>
      <p:sp>
        <p:nvSpPr>
          <p:cNvPr id="25" name="TextBox 24"/>
          <p:cNvSpPr txBox="1"/>
          <p:nvPr/>
        </p:nvSpPr>
        <p:spPr>
          <a:xfrm>
            <a:off x="8823960" y="3300984"/>
            <a:ext cx="1280160" cy="182880"/>
          </a:xfrm>
          <a:prstGeom prst="rect">
            <a:avLst/>
          </a:prstGeom>
          <a:noFill/>
        </p:spPr>
        <p:txBody>
          <a:bodyPr wrap="square" anchor="t">
            <a:spAutoFit/>
          </a:bodyPr>
          <a:lstStyle/>
          <a:p>
            <a:pPr algn="l"/>
            <a:r>
              <a:rPr sz="1100" b="1">
                <a:solidFill>
                  <a:srgbClr val="13C5CF"/>
                </a:solidFill>
                <a:latin typeface="Arial"/>
              </a:rPr>
              <a:t>+ context</a:t>
            </a:r>
          </a:p>
        </p:txBody>
      </p:sp>
      <p:sp>
        <p:nvSpPr>
          <p:cNvPr id="26" name="Rounded Rectangle 25"/>
          <p:cNvSpPr/>
          <p:nvPr/>
        </p:nvSpPr>
        <p:spPr>
          <a:xfrm>
            <a:off x="6537960" y="3739896"/>
            <a:ext cx="4206240" cy="384048"/>
          </a:xfrm>
          <a:prstGeom prst="roundRect">
            <a:avLst/>
          </a:prstGeom>
          <a:solidFill>
            <a:srgbClr val="F4F6F7"/>
          </a:solidFill>
          <a:ln w="7315">
            <a:solidFill>
              <a:srgbClr val="E1E5E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6720840" y="3831335"/>
            <a:ext cx="1005840" cy="182880"/>
          </a:xfrm>
          <a:prstGeom prst="rect">
            <a:avLst/>
          </a:prstGeom>
          <a:noFill/>
        </p:spPr>
        <p:txBody>
          <a:bodyPr wrap="square" anchor="t">
            <a:spAutoFit/>
          </a:bodyPr>
          <a:lstStyle/>
          <a:p>
            <a:pPr algn="l"/>
            <a:r>
              <a:rPr sz="1100" b="0">
                <a:solidFill>
                  <a:srgbClr val="080808"/>
                </a:solidFill>
                <a:latin typeface="Arial"/>
              </a:rPr>
              <a:t>track 4</a:t>
            </a:r>
          </a:p>
        </p:txBody>
      </p:sp>
      <p:sp>
        <p:nvSpPr>
          <p:cNvPr id="28" name="TextBox 27"/>
          <p:cNvSpPr txBox="1"/>
          <p:nvPr/>
        </p:nvSpPr>
        <p:spPr>
          <a:xfrm>
            <a:off x="8823960" y="3831335"/>
            <a:ext cx="1280160" cy="182880"/>
          </a:xfrm>
          <a:prstGeom prst="rect">
            <a:avLst/>
          </a:prstGeom>
          <a:noFill/>
        </p:spPr>
        <p:txBody>
          <a:bodyPr wrap="square" anchor="t">
            <a:spAutoFit/>
          </a:bodyPr>
          <a:lstStyle/>
          <a:p>
            <a:pPr algn="l"/>
            <a:r>
              <a:rPr sz="1100" b="1">
                <a:solidFill>
                  <a:srgbClr val="13C5CF"/>
                </a:solidFill>
                <a:latin typeface="Arial"/>
              </a:rPr>
              <a:t>+ context</a:t>
            </a:r>
          </a:p>
        </p:txBody>
      </p:sp>
      <p:sp>
        <p:nvSpPr>
          <p:cNvPr id="31" name="TextBox 30"/>
          <p:cNvSpPr txBox="1"/>
          <p:nvPr/>
        </p:nvSpPr>
        <p:spPr>
          <a:xfrm>
            <a:off x="6793992" y="4773168"/>
            <a:ext cx="3749039" cy="738664"/>
          </a:xfrm>
          <a:prstGeom prst="rect">
            <a:avLst/>
          </a:prstGeom>
          <a:noFill/>
        </p:spPr>
        <p:txBody>
          <a:bodyPr wrap="square" lIns="0" rIns="0" anchor="t">
            <a:spAutoFit/>
          </a:bodyPr>
          <a:lstStyle/>
          <a:p>
            <a:pPr algn="l"/>
            <a:r>
              <a:rPr sz="1400" b="0">
                <a:solidFill>
                  <a:srgbClr val="FFFFFF"/>
                </a:solidFill>
                <a:latin typeface="Courier New"/>
              </a:rPr>
              <a:t>avg(popularity) OVER (
  PARTITION BY decade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1.3 WINDOW FUNCTIONS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Syntax</a:t>
            </a:r>
          </a:p>
        </p:txBody>
      </p:sp>
      <p:pic>
        <p:nvPicPr>
          <p:cNvPr id="14" name="Picture 13" descr="&lt;function&gt;(&lt;field&gt;) OVER (PARTITION BY &lt;partition&gt; ORDER BY &lt;sorting&gt; &lt;frame&gt;)"/>
          <p:cNvPicPr>
            <a:picLocks noChangeAspect="1"/>
          </p:cNvPicPr>
          <p:nvPr/>
        </p:nvPicPr>
        <p:blipFill>
          <a:blip r:embed="rId4"/>
          <a:stretch>
            <a:fillRect/>
          </a:stretch>
        </p:blipFill>
        <p:spPr>
          <a:xfrm>
            <a:off x="1005840" y="1367028"/>
            <a:ext cx="10315575" cy="628650"/>
          </a:xfrm>
          <a:prstGeom prst="rect">
            <a:avLst/>
          </a:prstGeom>
        </p:spPr>
      </p:pic>
      <p:sp>
        <p:nvSpPr>
          <p:cNvPr id="15" name="Note"/>
          <p:cNvSpPr txBox="1"/>
          <p:nvPr/>
        </p:nvSpPr>
        <p:spPr>
          <a:xfrm>
            <a:off x="1005840" y="2224278"/>
            <a:ext cx="10332720" cy="2011680"/>
          </a:xfrm>
          <a:prstGeom prst="rect">
            <a:avLst/>
          </a:prstGeom>
          <a:noFill/>
        </p:spPr>
        <p:txBody>
          <a:bodyPr wrap="square" lIns="0" tIns="27432" rIns="0" bIns="27432" anchor="t">
            <a:spAutoFit/>
          </a:bodyPr>
          <a:lstStyle/>
          <a:p>
            <a:pPr marL="292608" indent="-292608">
              <a:spcAft>
                <a:spcPts val="720"/>
              </a:spcAft>
              <a:buFont typeface="Arial"/>
              <a:buChar char="•"/>
            </a:pPr>
            <a:r>
              <a:rPr sz="1600" b="1" i="0">
                <a:solidFill>
                  <a:srgbClr val="000000"/>
                </a:solidFill>
                <a:latin typeface="Arial"/>
              </a:rPr>
              <a:t>function</a:t>
            </a:r>
            <a:r>
              <a:rPr sz="1600" b="0" i="0">
                <a:solidFill>
                  <a:srgbClr val="000000"/>
                </a:solidFill>
                <a:latin typeface="Arial"/>
              </a:rPr>
              <a:t> — the window function over the chosen field;</a:t>
            </a:r>
          </a:p>
          <a:p>
            <a:pPr marL="292608" indent="-292608">
              <a:spcAft>
                <a:spcPts val="720"/>
              </a:spcAft>
              <a:buFont typeface="Arial"/>
              <a:buChar char="•"/>
            </a:pPr>
            <a:r>
              <a:rPr sz="1600" b="1" i="0">
                <a:solidFill>
                  <a:srgbClr val="000000"/>
                </a:solidFill>
                <a:latin typeface="Arial"/>
              </a:rPr>
              <a:t>partition</a:t>
            </a:r>
            <a:r>
              <a:rPr sz="1600" b="0" i="0">
                <a:solidFill>
                  <a:srgbClr val="000000"/>
                </a:solidFill>
                <a:latin typeface="Arial"/>
              </a:rPr>
              <a:t> — the field or set of fields defining the group;</a:t>
            </a:r>
          </a:p>
          <a:p>
            <a:pPr marL="292608" indent="-292608">
              <a:spcAft>
                <a:spcPts val="720"/>
              </a:spcAft>
              <a:buFont typeface="Arial"/>
              <a:buChar char="•"/>
            </a:pPr>
            <a:r>
              <a:rPr sz="1600" b="1" i="0">
                <a:solidFill>
                  <a:srgbClr val="000000"/>
                </a:solidFill>
                <a:latin typeface="Arial"/>
              </a:rPr>
              <a:t>sorting</a:t>
            </a:r>
            <a:r>
              <a:rPr sz="1600" b="0" i="0">
                <a:solidFill>
                  <a:srgbClr val="000000"/>
                </a:solidFill>
                <a:latin typeface="Arial"/>
              </a:rPr>
              <a:t> — the field or fields by which rows are ordered inside the partition;</a:t>
            </a:r>
          </a:p>
          <a:p>
            <a:pPr marL="292608" indent="-292608">
              <a:spcAft>
                <a:spcPts val="720"/>
              </a:spcAft>
              <a:buFont typeface="Arial"/>
              <a:buChar char="•"/>
            </a:pPr>
            <a:r>
              <a:rPr sz="1600" b="1" i="0">
                <a:solidFill>
                  <a:srgbClr val="000000"/>
                </a:solidFill>
                <a:latin typeface="Arial"/>
              </a:rPr>
              <a:t>frame</a:t>
            </a:r>
            <a:r>
              <a:rPr sz="1600" b="0" i="0">
                <a:solidFill>
                  <a:srgbClr val="000000"/>
                </a:solidFill>
                <a:latin typeface="Arial"/>
              </a:rPr>
              <a:t> — the set of rows inside the window we operate on (optional).</a:t>
            </a:r>
          </a:p>
          <a:p>
            <a:pPr>
              <a:spcAft>
                <a:spcPts val="720"/>
              </a:spcAft>
            </a:pPr>
            <a:r>
              <a:rPr sz="1600" b="0" i="0">
                <a:solidFill>
                  <a:srgbClr val="000000"/>
                </a:solidFill>
                <a:latin typeface="Arial"/>
              </a:rPr>
              <a:t>First the data is split into partitions, then sorted, and only then is the function applied to each record inside the partition.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2"/>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1.3 WINDOW FUNCTIONS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The three groups of analytic functions</a:t>
            </a:r>
          </a:p>
        </p:txBody>
      </p:sp>
      <p:graphicFrame>
        <p:nvGraphicFramePr>
          <p:cNvPr id="14" name="Table"/>
          <p:cNvGraphicFramePr>
            <a:graphicFrameLocks noGrp="1"/>
          </p:cNvGraphicFramePr>
          <p:nvPr/>
        </p:nvGraphicFramePr>
        <p:xfrm>
          <a:off x="1005840" y="1367028"/>
          <a:ext cx="10332718" cy="2194560"/>
        </p:xfrm>
        <a:graphic>
          <a:graphicData uri="http://schemas.openxmlformats.org/drawingml/2006/table">
            <a:tbl>
              <a:tblPr firstRow="1">
                <a:tableStyleId>{5C22544A-7EE6-4342-B048-85BDC9FD1C3A}</a:tableStyleId>
              </a:tblPr>
              <a:tblGrid>
                <a:gridCol w="2991050">
                  <a:extLst>
                    <a:ext uri="{9D8B030D-6E8A-4147-A177-3AD203B41FA5}">
                      <a16:colId xmlns:a16="http://schemas.microsoft.com/office/drawing/2014/main" val="20000"/>
                    </a:ext>
                  </a:extLst>
                </a:gridCol>
                <a:gridCol w="3534877">
                  <a:extLst>
                    <a:ext uri="{9D8B030D-6E8A-4147-A177-3AD203B41FA5}">
                      <a16:colId xmlns:a16="http://schemas.microsoft.com/office/drawing/2014/main" val="20001"/>
                    </a:ext>
                  </a:extLst>
                </a:gridCol>
                <a:gridCol w="3806791">
                  <a:extLst>
                    <a:ext uri="{9D8B030D-6E8A-4147-A177-3AD203B41FA5}">
                      <a16:colId xmlns:a16="http://schemas.microsoft.com/office/drawing/2014/main" val="20002"/>
                    </a:ext>
                  </a:extLst>
                </a:gridCol>
              </a:tblGrid>
              <a:tr h="304800">
                <a:tc>
                  <a:txBody>
                    <a:bodyPr/>
                    <a:lstStyle/>
                    <a:p>
                      <a:r>
                        <a:rPr sz="1400" b="1" i="0">
                          <a:solidFill>
                            <a:srgbClr val="000000"/>
                          </a:solidFill>
                          <a:latin typeface="Arial"/>
                        </a:rPr>
                        <a:t>AGGREGATION</a:t>
                      </a:r>
                    </a:p>
                  </a:txBody>
                  <a:tcPr>
                    <a:solidFill>
                      <a:srgbClr val="03CDD8"/>
                    </a:solidFill>
                  </a:tcPr>
                </a:tc>
                <a:tc>
                  <a:txBody>
                    <a:bodyPr/>
                    <a:lstStyle/>
                    <a:p>
                      <a:r>
                        <a:rPr sz="1400" b="1" i="0">
                          <a:solidFill>
                            <a:srgbClr val="000000"/>
                          </a:solidFill>
                          <a:latin typeface="Arial"/>
                        </a:rPr>
                        <a:t>OFFSET</a:t>
                      </a:r>
                    </a:p>
                  </a:txBody>
                  <a:tcPr>
                    <a:solidFill>
                      <a:srgbClr val="03CDD8"/>
                    </a:solidFill>
                  </a:tcPr>
                </a:tc>
                <a:tc>
                  <a:txBody>
                    <a:bodyPr/>
                    <a:lstStyle/>
                    <a:p>
                      <a:r>
                        <a:rPr sz="1400" b="1" i="0">
                          <a:solidFill>
                            <a:srgbClr val="000000"/>
                          </a:solidFill>
                          <a:latin typeface="Arial"/>
                        </a:rPr>
                        <a:t>RANKING</a:t>
                      </a:r>
                    </a:p>
                  </a:txBody>
                  <a:tcPr>
                    <a:solidFill>
                      <a:srgbClr val="03CDD8"/>
                    </a:solidFill>
                  </a:tcPr>
                </a:tc>
                <a:extLst>
                  <a:ext uri="{0D108BD9-81ED-4DB2-BD59-A6C34878D82A}">
                    <a16:rowId xmlns:a16="http://schemas.microsoft.com/office/drawing/2014/main" val="10000"/>
                  </a:ext>
                </a:extLst>
              </a:tr>
              <a:tr h="304800">
                <a:tc>
                  <a:txBody>
                    <a:bodyPr/>
                    <a:lstStyle/>
                    <a:p>
                      <a:r>
                        <a:rPr sz="1330" b="0" i="0">
                          <a:solidFill>
                            <a:srgbClr val="007C85"/>
                          </a:solidFill>
                          <a:latin typeface="Consolas"/>
                        </a:rPr>
                        <a:t>AVG()</a:t>
                      </a:r>
                    </a:p>
                  </a:txBody>
                  <a:tcPr>
                    <a:solidFill>
                      <a:srgbClr val="FFFFFF"/>
                    </a:solidFill>
                  </a:tcPr>
                </a:tc>
                <a:tc>
                  <a:txBody>
                    <a:bodyPr/>
                    <a:lstStyle/>
                    <a:p>
                      <a:r>
                        <a:rPr sz="1330" b="0" i="0">
                          <a:solidFill>
                            <a:srgbClr val="007C85"/>
                          </a:solidFill>
                          <a:latin typeface="Consolas"/>
                        </a:rPr>
                        <a:t>FIRST_VALUE()</a:t>
                      </a:r>
                    </a:p>
                  </a:txBody>
                  <a:tcPr>
                    <a:solidFill>
                      <a:srgbClr val="FFFFFF"/>
                    </a:solidFill>
                  </a:tcPr>
                </a:tc>
                <a:tc>
                  <a:txBody>
                    <a:bodyPr/>
                    <a:lstStyle/>
                    <a:p>
                      <a:r>
                        <a:rPr sz="1330" b="0" i="0">
                          <a:solidFill>
                            <a:srgbClr val="007C85"/>
                          </a:solidFill>
                          <a:latin typeface="Consolas"/>
                        </a:rPr>
                        <a:t>ROW_NUMBER()</a:t>
                      </a:r>
                    </a:p>
                  </a:txBody>
                  <a:tcPr>
                    <a:solidFill>
                      <a:srgbClr val="FFFFFF"/>
                    </a:solidFill>
                  </a:tcPr>
                </a:tc>
                <a:extLst>
                  <a:ext uri="{0D108BD9-81ED-4DB2-BD59-A6C34878D82A}">
                    <a16:rowId xmlns:a16="http://schemas.microsoft.com/office/drawing/2014/main" val="10001"/>
                  </a:ext>
                </a:extLst>
              </a:tr>
              <a:tr h="304800">
                <a:tc>
                  <a:txBody>
                    <a:bodyPr/>
                    <a:lstStyle/>
                    <a:p>
                      <a:r>
                        <a:rPr sz="1330" b="0" i="0">
                          <a:solidFill>
                            <a:srgbClr val="007C85"/>
                          </a:solidFill>
                          <a:latin typeface="Consolas"/>
                        </a:rPr>
                        <a:t>COUNT()</a:t>
                      </a:r>
                    </a:p>
                  </a:txBody>
                  <a:tcPr>
                    <a:solidFill>
                      <a:srgbClr val="F3F6F7"/>
                    </a:solidFill>
                  </a:tcPr>
                </a:tc>
                <a:tc>
                  <a:txBody>
                    <a:bodyPr/>
                    <a:lstStyle/>
                    <a:p>
                      <a:r>
                        <a:rPr sz="1330" b="0" i="0">
                          <a:solidFill>
                            <a:srgbClr val="007C85"/>
                          </a:solidFill>
                          <a:latin typeface="Consolas"/>
                        </a:rPr>
                        <a:t>LAST_VALUE()</a:t>
                      </a:r>
                    </a:p>
                  </a:txBody>
                  <a:tcPr>
                    <a:solidFill>
                      <a:srgbClr val="F3F6F7"/>
                    </a:solidFill>
                  </a:tcPr>
                </a:tc>
                <a:tc>
                  <a:txBody>
                    <a:bodyPr/>
                    <a:lstStyle/>
                    <a:p>
                      <a:r>
                        <a:rPr sz="1330" b="0" i="0">
                          <a:solidFill>
                            <a:srgbClr val="007C85"/>
                          </a:solidFill>
                          <a:latin typeface="Consolas"/>
                        </a:rPr>
                        <a:t>RANK()</a:t>
                      </a:r>
                    </a:p>
                  </a:txBody>
                  <a:tcPr>
                    <a:solidFill>
                      <a:srgbClr val="F3F6F7"/>
                    </a:solidFill>
                  </a:tcPr>
                </a:tc>
                <a:extLst>
                  <a:ext uri="{0D108BD9-81ED-4DB2-BD59-A6C34878D82A}">
                    <a16:rowId xmlns:a16="http://schemas.microsoft.com/office/drawing/2014/main" val="10002"/>
                  </a:ext>
                </a:extLst>
              </a:tr>
              <a:tr h="304800">
                <a:tc>
                  <a:txBody>
                    <a:bodyPr/>
                    <a:lstStyle/>
                    <a:p>
                      <a:r>
                        <a:rPr sz="1330" b="0" i="0">
                          <a:solidFill>
                            <a:srgbClr val="007C85"/>
                          </a:solidFill>
                          <a:latin typeface="Consolas"/>
                        </a:rPr>
                        <a:t>MAX()</a:t>
                      </a:r>
                    </a:p>
                  </a:txBody>
                  <a:tcPr>
                    <a:solidFill>
                      <a:srgbClr val="FFFFFF"/>
                    </a:solidFill>
                  </a:tcPr>
                </a:tc>
                <a:tc>
                  <a:txBody>
                    <a:bodyPr/>
                    <a:lstStyle/>
                    <a:p>
                      <a:r>
                        <a:rPr sz="1330" b="0" i="0">
                          <a:solidFill>
                            <a:srgbClr val="007C85"/>
                          </a:solidFill>
                          <a:latin typeface="Consolas"/>
                        </a:rPr>
                        <a:t>LAG()</a:t>
                      </a:r>
                    </a:p>
                  </a:txBody>
                  <a:tcPr>
                    <a:solidFill>
                      <a:srgbClr val="FFFFFF"/>
                    </a:solidFill>
                  </a:tcPr>
                </a:tc>
                <a:tc>
                  <a:txBody>
                    <a:bodyPr/>
                    <a:lstStyle/>
                    <a:p>
                      <a:r>
                        <a:rPr sz="1330" b="0" i="0">
                          <a:solidFill>
                            <a:srgbClr val="007C85"/>
                          </a:solidFill>
                          <a:latin typeface="Consolas"/>
                        </a:rPr>
                        <a:t>DENSE_RANK()</a:t>
                      </a:r>
                    </a:p>
                  </a:txBody>
                  <a:tcPr>
                    <a:solidFill>
                      <a:srgbClr val="FFFFFF"/>
                    </a:solidFill>
                  </a:tcPr>
                </a:tc>
                <a:extLst>
                  <a:ext uri="{0D108BD9-81ED-4DB2-BD59-A6C34878D82A}">
                    <a16:rowId xmlns:a16="http://schemas.microsoft.com/office/drawing/2014/main" val="10003"/>
                  </a:ext>
                </a:extLst>
              </a:tr>
              <a:tr h="304800">
                <a:tc>
                  <a:txBody>
                    <a:bodyPr/>
                    <a:lstStyle/>
                    <a:p>
                      <a:r>
                        <a:rPr sz="1330" b="0" i="0">
                          <a:solidFill>
                            <a:srgbClr val="007C85"/>
                          </a:solidFill>
                          <a:latin typeface="Consolas"/>
                        </a:rPr>
                        <a:t>MIN()</a:t>
                      </a:r>
                    </a:p>
                  </a:txBody>
                  <a:tcPr>
                    <a:solidFill>
                      <a:srgbClr val="F3F6F7"/>
                    </a:solidFill>
                  </a:tcPr>
                </a:tc>
                <a:tc>
                  <a:txBody>
                    <a:bodyPr/>
                    <a:lstStyle/>
                    <a:p>
                      <a:r>
                        <a:rPr sz="1330" b="0" i="0">
                          <a:solidFill>
                            <a:srgbClr val="007C85"/>
                          </a:solidFill>
                          <a:latin typeface="Consolas"/>
                        </a:rPr>
                        <a:t>LEAD()</a:t>
                      </a:r>
                    </a:p>
                  </a:txBody>
                  <a:tcPr>
                    <a:solidFill>
                      <a:srgbClr val="F3F6F7"/>
                    </a:solidFill>
                  </a:tcPr>
                </a:tc>
                <a:tc>
                  <a:txBody>
                    <a:bodyPr/>
                    <a:lstStyle/>
                    <a:p>
                      <a:r>
                        <a:rPr sz="1330" b="0" i="0">
                          <a:solidFill>
                            <a:srgbClr val="007C85"/>
                          </a:solidFill>
                          <a:latin typeface="Consolas"/>
                        </a:rPr>
                        <a:t>NTILE()</a:t>
                      </a:r>
                    </a:p>
                  </a:txBody>
                  <a:tcPr>
                    <a:solidFill>
                      <a:srgbClr val="F3F6F7"/>
                    </a:solidFill>
                  </a:tcPr>
                </a:tc>
                <a:extLst>
                  <a:ext uri="{0D108BD9-81ED-4DB2-BD59-A6C34878D82A}">
                    <a16:rowId xmlns:a16="http://schemas.microsoft.com/office/drawing/2014/main" val="10004"/>
                  </a:ext>
                </a:extLst>
              </a:tr>
              <a:tr h="304800">
                <a:tc>
                  <a:txBody>
                    <a:bodyPr/>
                    <a:lstStyle/>
                    <a:p>
                      <a:r>
                        <a:rPr sz="1330" b="0" i="0">
                          <a:solidFill>
                            <a:srgbClr val="007C85"/>
                          </a:solidFill>
                          <a:latin typeface="Consolas"/>
                        </a:rPr>
                        <a:t>SUM()</a:t>
                      </a:r>
                    </a:p>
                  </a:txBody>
                  <a:tcPr>
                    <a:solidFill>
                      <a:srgbClr val="FFFFFF"/>
                    </a:solidFill>
                  </a:tcPr>
                </a:tc>
                <a:tc>
                  <a:txBody>
                    <a:bodyPr/>
                    <a:lstStyle/>
                    <a:p>
                      <a:r>
                        <a:rPr sz="1330" b="0" i="0">
                          <a:solidFill>
                            <a:srgbClr val="007C85"/>
                          </a:solidFill>
                          <a:latin typeface="Consolas"/>
                        </a:rPr>
                        <a:t>NTH_VALUE()</a:t>
                      </a:r>
                    </a:p>
                  </a:txBody>
                  <a:tcPr>
                    <a:solidFill>
                      <a:srgbClr val="FFFFFF"/>
                    </a:solidFill>
                  </a:tcPr>
                </a:tc>
                <a:tc>
                  <a:txBody>
                    <a:bodyPr/>
                    <a:lstStyle/>
                    <a:p>
                      <a:r>
                        <a:rPr sz="1330" b="0" i="0">
                          <a:solidFill>
                            <a:srgbClr val="007C85"/>
                          </a:solidFill>
                          <a:latin typeface="Consolas"/>
                        </a:rPr>
                        <a:t>CUME_DIST()</a:t>
                      </a:r>
                    </a:p>
                  </a:txBody>
                  <a:tcPr>
                    <a:solidFill>
                      <a:srgbClr val="FFFFFF"/>
                    </a:solidFill>
                  </a:tcPr>
                </a:tc>
                <a:extLst>
                  <a:ext uri="{0D108BD9-81ED-4DB2-BD59-A6C34878D82A}">
                    <a16:rowId xmlns:a16="http://schemas.microsoft.com/office/drawing/2014/main" val="10005"/>
                  </a:ext>
                </a:extLst>
              </a:tr>
              <a:tr h="304800">
                <a:tc>
                  <a:txBody>
                    <a:bodyPr/>
                    <a:lstStyle/>
                    <a:p>
                      <a:endParaRPr/>
                    </a:p>
                  </a:txBody>
                  <a:tcPr>
                    <a:solidFill>
                      <a:srgbClr val="F3F6F7"/>
                    </a:solidFill>
                  </a:tcPr>
                </a:tc>
                <a:tc>
                  <a:txBody>
                    <a:bodyPr/>
                    <a:lstStyle/>
                    <a:p>
                      <a:endParaRPr/>
                    </a:p>
                  </a:txBody>
                  <a:tcPr>
                    <a:solidFill>
                      <a:srgbClr val="F3F6F7"/>
                    </a:solidFill>
                  </a:tcPr>
                </a:tc>
                <a:tc>
                  <a:txBody>
                    <a:bodyPr/>
                    <a:lstStyle/>
                    <a:p>
                      <a:r>
                        <a:rPr sz="1330" b="0" i="0">
                          <a:solidFill>
                            <a:srgbClr val="007C85"/>
                          </a:solidFill>
                          <a:latin typeface="Consolas"/>
                        </a:rPr>
                        <a:t>PERCENT_RANK()</a:t>
                      </a:r>
                    </a:p>
                  </a:txBody>
                  <a:tcPr>
                    <a:solidFill>
                      <a:srgbClr val="F3F6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1.3 WINDOW FUNCTIONS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Aggregate window functions</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520" b="0" i="0">
                <a:solidFill>
                  <a:srgbClr val="007C85"/>
                </a:solidFill>
                <a:latin typeface="Consolas"/>
              </a:rPr>
              <a:t>AVG</a:t>
            </a:r>
            <a:r>
              <a:rPr sz="1600" b="0" i="0">
                <a:solidFill>
                  <a:srgbClr val="000000"/>
                </a:solidFill>
                <a:latin typeface="Arial"/>
              </a:rPr>
              <a:t>, </a:t>
            </a:r>
            <a:r>
              <a:rPr sz="1520" b="0" i="0">
                <a:solidFill>
                  <a:srgbClr val="007C85"/>
                </a:solidFill>
                <a:latin typeface="Consolas"/>
              </a:rPr>
              <a:t>COUNT</a:t>
            </a:r>
            <a:r>
              <a:rPr sz="1600" b="0" i="0">
                <a:solidFill>
                  <a:srgbClr val="000000"/>
                </a:solidFill>
                <a:latin typeface="Arial"/>
              </a:rPr>
              <a:t>, </a:t>
            </a:r>
            <a:r>
              <a:rPr sz="1520" b="0" i="0">
                <a:solidFill>
                  <a:srgbClr val="007C85"/>
                </a:solidFill>
                <a:latin typeface="Consolas"/>
              </a:rPr>
              <a:t>MAX</a:t>
            </a:r>
            <a:r>
              <a:rPr sz="1600" b="0" i="0">
                <a:solidFill>
                  <a:srgbClr val="000000"/>
                </a:solidFill>
                <a:latin typeface="Arial"/>
              </a:rPr>
              <a:t>, </a:t>
            </a:r>
            <a:r>
              <a:rPr sz="1520" b="0" i="0">
                <a:solidFill>
                  <a:srgbClr val="007C85"/>
                </a:solidFill>
                <a:latin typeface="Consolas"/>
              </a:rPr>
              <a:t>MIN</a:t>
            </a:r>
            <a:r>
              <a:rPr sz="1600" b="0" i="0">
                <a:solidFill>
                  <a:srgbClr val="000000"/>
                </a:solidFill>
                <a:latin typeface="Arial"/>
              </a:rPr>
              <a:t>, </a:t>
            </a:r>
            <a:r>
              <a:rPr sz="1520" b="0" i="0">
                <a:solidFill>
                  <a:srgbClr val="007C85"/>
                </a:solidFill>
                <a:latin typeface="Consolas"/>
              </a:rPr>
              <a:t>SUM</a:t>
            </a:r>
            <a:r>
              <a:rPr sz="1600" b="0" i="0">
                <a:solidFill>
                  <a:srgbClr val="000000"/>
                </a:solidFill>
                <a:latin typeface="Arial"/>
              </a:rPr>
              <a:t> — cumulative values inside a window:</a:t>
            </a:r>
          </a:p>
        </p:txBody>
      </p:sp>
      <p:pic>
        <p:nvPicPr>
          <p:cNvPr id="15" name="Picture 14" descr="WITH artist_decade AS (&#10;    SELECT a.name AS artist,&#10;           (EXTRACT(YEAR FROM t.release_date)::int / 10) * 10 AS decade,&#10;           count(*) AS track_cnt&#10;      FROM artists AS a&#10;      JOIN track_artists AS ta ON ta.artist_id = a.id&#10;      JOIN tracks AS t ON t.id = ta.track_id&#10;     WHERE a.name IN ('David Bowie', 'Bob Dylan')&#10;     GROUP BY 1, 2&#10;)&#10;SELECT artist,&#10;       decade,&#10;       track_cnt,&#10;       SUM(track_cnt) OVER w ::int          AS running_sum,&#10;       round(AVG(track_cnt) OVER w, 2)      AS running_avg,&#10;       MIN(track_cnt) OVER w ::int          AS running_min,&#10;       MAX(track_cnt) OVER w ::int          AS running_max&#10;  FROM artist_decade&#10;WINDOW w AS (PARTITION BY artist ORDER BY decade)&#10; ORDER BY artist, decade;"/>
          <p:cNvPicPr>
            <a:picLocks noChangeAspect="1"/>
          </p:cNvPicPr>
          <p:nvPr/>
        </p:nvPicPr>
        <p:blipFill>
          <a:blip r:embed="rId4"/>
          <a:stretch>
            <a:fillRect/>
          </a:stretch>
        </p:blipFill>
        <p:spPr>
          <a:xfrm>
            <a:off x="1005840" y="1885187"/>
            <a:ext cx="6849001" cy="458419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1.3 WINDOW FUNCTIONS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Aggregate window functions</a:t>
            </a:r>
          </a:p>
        </p:txBody>
      </p:sp>
      <p:pic>
        <p:nvPicPr>
          <p:cNvPr id="14" name="Picture 13" descr="WITH artist_decade AS (&#10;    SELECT a.name AS artist,&#10;           (EXTRACT(YEAR FROM t.release_date)::int / 10) * 10 AS decade,&#10;           count(*) AS track_cnt&#10;      FROM artists AS a&#10;      JOIN track_artists AS ta ON ta.artist_id = a.id&#10;      JOIN tracks AS t ON t.id = ta.track_id&#10;     WHERE a.name IN ('David Bowie', 'Bob Dylan')&#10;     GROUP BY 1, 2&#10;)&#10;SELECT artist,&#10;       decade,&#10;       track_cnt,&#10;       SUM(track_cnt) OVER w ::int          AS running_sum,&#10;       round(AVG(track_cnt) OVER w, 2)      AS running_avg,&#10;       MIN(track_cnt) OVER w ::int          AS running_min,&#10;       MAX(track_cnt) OVER w ::int          AS running_max&#10;  FROM artist_decade&#10;WINDOW w AS (PARTITION BY artist ORDER BY decade)&#10; ORDER BY artist, decade;"/>
          <p:cNvPicPr>
            <a:picLocks noChangeAspect="1"/>
          </p:cNvPicPr>
          <p:nvPr/>
        </p:nvPicPr>
        <p:blipFill>
          <a:blip r:embed="rId4"/>
          <a:stretch>
            <a:fillRect/>
          </a:stretch>
        </p:blipFill>
        <p:spPr>
          <a:xfrm>
            <a:off x="1005840" y="1367028"/>
            <a:ext cx="8515350" cy="34671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1.3 WINDOW FUNCTIONS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Offset functions</a:t>
            </a:r>
          </a:p>
        </p:txBody>
      </p:sp>
      <p:sp>
        <p:nvSpPr>
          <p:cNvPr id="14" name="Lead"/>
          <p:cNvSpPr txBox="1"/>
          <p:nvPr/>
        </p:nvSpPr>
        <p:spPr>
          <a:xfrm>
            <a:off x="1005840" y="1367028"/>
            <a:ext cx="3108960" cy="405384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Offset functions reach into neighbouring rows:</a:t>
            </a:r>
          </a:p>
          <a:p>
            <a:pPr marL="292608" indent="-292608">
              <a:spcAft>
                <a:spcPts val="720"/>
              </a:spcAft>
              <a:buFont typeface="Arial"/>
              <a:buChar char="•"/>
            </a:pPr>
            <a:r>
              <a:rPr sz="1520" b="0" i="0">
                <a:solidFill>
                  <a:srgbClr val="007C85"/>
                </a:solidFill>
                <a:latin typeface="Consolas"/>
              </a:rPr>
              <a:t>FIRST_VALUE</a:t>
            </a:r>
            <a:r>
              <a:rPr sz="1600" b="0" i="0">
                <a:solidFill>
                  <a:srgbClr val="000000"/>
                </a:solidFill>
                <a:latin typeface="Arial"/>
              </a:rPr>
              <a:t> — the first row in the frame</a:t>
            </a:r>
          </a:p>
          <a:p>
            <a:pPr marL="292608" indent="-292608">
              <a:spcAft>
                <a:spcPts val="720"/>
              </a:spcAft>
              <a:buFont typeface="Arial"/>
              <a:buChar char="•"/>
            </a:pPr>
            <a:r>
              <a:rPr sz="1520" b="0" i="0">
                <a:solidFill>
                  <a:srgbClr val="007C85"/>
                </a:solidFill>
                <a:latin typeface="Consolas"/>
              </a:rPr>
              <a:t>LAST_VALUE</a:t>
            </a:r>
            <a:r>
              <a:rPr sz="1600" b="0" i="0">
                <a:solidFill>
                  <a:srgbClr val="000000"/>
                </a:solidFill>
                <a:latin typeface="Arial"/>
              </a:rPr>
              <a:t> — the last row in the frame</a:t>
            </a:r>
          </a:p>
          <a:p>
            <a:pPr marL="292608" indent="-292608">
              <a:spcAft>
                <a:spcPts val="720"/>
              </a:spcAft>
              <a:buFont typeface="Arial"/>
              <a:buChar char="•"/>
            </a:pPr>
            <a:r>
              <a:rPr sz="1520" b="0" i="0">
                <a:solidFill>
                  <a:srgbClr val="007C85"/>
                </a:solidFill>
                <a:latin typeface="Consolas"/>
              </a:rPr>
              <a:t>LAG</a:t>
            </a:r>
            <a:r>
              <a:rPr sz="1600" b="0" i="0">
                <a:solidFill>
                  <a:srgbClr val="000000"/>
                </a:solidFill>
                <a:latin typeface="Arial"/>
              </a:rPr>
              <a:t> — the value in the previous row of the partition</a:t>
            </a:r>
          </a:p>
          <a:p>
            <a:pPr marL="292608" indent="-292608">
              <a:spcAft>
                <a:spcPts val="720"/>
              </a:spcAft>
              <a:buFont typeface="Arial"/>
              <a:buChar char="•"/>
            </a:pPr>
            <a:r>
              <a:rPr sz="1520" b="0" i="0">
                <a:solidFill>
                  <a:srgbClr val="007C85"/>
                </a:solidFill>
                <a:latin typeface="Consolas"/>
              </a:rPr>
              <a:t>LEAD</a:t>
            </a:r>
            <a:r>
              <a:rPr sz="1600" b="0" i="0">
                <a:solidFill>
                  <a:srgbClr val="000000"/>
                </a:solidFill>
                <a:latin typeface="Arial"/>
              </a:rPr>
              <a:t> — the value in the next row of the partition</a:t>
            </a:r>
          </a:p>
          <a:p>
            <a:pPr marL="292608" indent="-292608">
              <a:spcAft>
                <a:spcPts val="720"/>
              </a:spcAft>
              <a:buFont typeface="Arial"/>
              <a:buChar char="•"/>
            </a:pPr>
            <a:r>
              <a:rPr sz="1520" b="0" i="0">
                <a:solidFill>
                  <a:srgbClr val="007C85"/>
                </a:solidFill>
                <a:latin typeface="Consolas"/>
              </a:rPr>
              <a:t>NTH_VALUE</a:t>
            </a:r>
            <a:r>
              <a:rPr sz="1600" b="0" i="0">
                <a:solidFill>
                  <a:srgbClr val="000000"/>
                </a:solidFill>
                <a:latin typeface="Arial"/>
              </a:rPr>
              <a:t> — the value in row number N (the second argument)</a:t>
            </a:r>
          </a:p>
        </p:txBody>
      </p:sp>
      <p:pic>
        <p:nvPicPr>
          <p:cNvPr id="15" name="Picture 14" descr="WITH artist_decade AS (&#10;    SELECT a.name AS artist,&#10;           (EXTRACT(YEAR FROM t.release_date)::int / 10) * 10 AS decade,&#10;           count(*) AS track_cnt&#10;      FROM artists AS a&#10;      JOIN track_artists AS ta ON ta.artist_id = a.id&#10;      JOIN tracks AS t ON t.id = ta.track_id&#10;     WHERE a.name IN ('David Bowie', 'Bob Dylan')&#10;     GROUP BY 1, 2&#10;)&#10;SELECT artist,&#10;       decade,&#10;       track_cnt,&#10;       FIRST_VALUE(track_cnt)  OVER w AS first_decade,&#10;       LAG(track_cnt)          OVER w AS prev_decade,&#10;       LEAD(track_cnt)         OVER w AS next_decade,&#10;       track_cnt - LAG(track_cnt) OVER w AS change,&#10;       NTH_VALUE(track_cnt, 2) OVER w AS second_decade&#10;  FROM artist_decade&#10;WINDOW w AS (PARTITION BY artist ORDER BY decade)&#10; ORDER BY artist, decade;"/>
          <p:cNvPicPr>
            <a:picLocks noChangeAspect="1"/>
          </p:cNvPicPr>
          <p:nvPr/>
        </p:nvPicPr>
        <p:blipFill>
          <a:blip r:embed="rId4"/>
          <a:stretch>
            <a:fillRect/>
          </a:stretch>
        </p:blipFill>
        <p:spPr>
          <a:xfrm>
            <a:off x="4480560" y="1367028"/>
            <a:ext cx="6858000" cy="480879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1.3 WINDOW FUNCTIONS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Offset functions</a:t>
            </a:r>
          </a:p>
        </p:txBody>
      </p:sp>
      <p:pic>
        <p:nvPicPr>
          <p:cNvPr id="14" name="Picture 13" descr="WITH artist_decade AS (&#10;    SELECT a.name AS artist,&#10;           (EXTRACT(YEAR FROM t.release_date)::int / 10) * 10 AS decade,&#10;           count(*) AS track_cnt&#10;      FROM artists AS a&#10;      JOIN track_artists AS ta ON ta.artist_id = a.id&#10;      JOIN tracks AS t ON t.id = ta.track_id&#10;     WHERE a.name IN ('David Bowie', 'Bob Dylan')&#10;     GROUP BY 1, 2&#10;)&#10;SELECT artist,&#10;       decade,&#10;       track_cnt,&#10;       FIRST_VALUE(track_cnt)  OVER w AS first_decade,&#10;       LAG(track_cnt)          OVER w AS prev_decade,&#10;       LEAD(track_cnt)         OVER w AS next_decade,&#10;       track_cnt - LAG(track_cnt) OVER w AS change,&#10;       NTH_VALUE(track_cnt, 2) OVER w AS second_decade&#10;  FROM artist_decade&#10;WINDOW w AS (PARTITION BY artist ORDER BY decade)&#10; ORDER BY artist, decade;"/>
          <p:cNvPicPr>
            <a:picLocks noChangeAspect="1"/>
          </p:cNvPicPr>
          <p:nvPr/>
        </p:nvPicPr>
        <p:blipFill>
          <a:blip r:embed="rId4"/>
          <a:stretch>
            <a:fillRect/>
          </a:stretch>
        </p:blipFill>
        <p:spPr>
          <a:xfrm>
            <a:off x="1005840" y="1367028"/>
            <a:ext cx="9544050" cy="3467100"/>
          </a:xfrm>
          <a:prstGeom prst="rect">
            <a:avLst/>
          </a:prstGeom>
        </p:spPr>
      </p:pic>
      <p:sp>
        <p:nvSpPr>
          <p:cNvPr id="15" name="Note"/>
          <p:cNvSpPr txBox="1"/>
          <p:nvPr/>
        </p:nvSpPr>
        <p:spPr>
          <a:xfrm>
            <a:off x="1005840" y="5062728"/>
            <a:ext cx="10332720" cy="670560"/>
          </a:xfrm>
          <a:prstGeom prst="rect">
            <a:avLst/>
          </a:prstGeom>
          <a:noFill/>
        </p:spPr>
        <p:txBody>
          <a:bodyPr wrap="square" lIns="0" tIns="27432" rIns="0" bIns="27432" anchor="t">
            <a:spAutoFit/>
          </a:bodyPr>
          <a:lstStyle/>
          <a:p>
            <a:pPr>
              <a:spcAft>
                <a:spcPts val="720"/>
              </a:spcAft>
            </a:pPr>
            <a:r>
              <a:rPr sz="1520" b="0" i="0">
                <a:solidFill>
                  <a:srgbClr val="007C85"/>
                </a:solidFill>
                <a:latin typeface="Consolas"/>
              </a:rPr>
              <a:t>LAG</a:t>
            </a:r>
            <a:r>
              <a:rPr sz="1600" b="0" i="0">
                <a:solidFill>
                  <a:srgbClr val="000000"/>
                </a:solidFill>
                <a:latin typeface="Arial"/>
              </a:rPr>
              <a:t> is how you compute any change-over-time: the value minus the previous value. Note the </a:t>
            </a:r>
            <a:r>
              <a:rPr sz="1520" b="0" i="0">
                <a:solidFill>
                  <a:srgbClr val="007C85"/>
                </a:solidFill>
                <a:latin typeface="Consolas"/>
              </a:rPr>
              <a:t>NULL</a:t>
            </a:r>
            <a:r>
              <a:rPr sz="1600" b="0" i="0">
                <a:solidFill>
                  <a:srgbClr val="000000"/>
                </a:solidFill>
                <a:latin typeface="Arial"/>
              </a:rPr>
              <a:t> in the first row of each partition — there is no previous row, so the difference is unknown, not zero.</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1.3 WINDOW FUNCTIONS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Ranking functions</a:t>
            </a:r>
          </a:p>
        </p:txBody>
      </p:sp>
      <p:sp>
        <p:nvSpPr>
          <p:cNvPr id="14" name="Lead"/>
          <p:cNvSpPr txBox="1"/>
          <p:nvPr/>
        </p:nvSpPr>
        <p:spPr>
          <a:xfrm>
            <a:off x="1005840" y="1367028"/>
            <a:ext cx="3108960" cy="5364480"/>
          </a:xfrm>
          <a:prstGeom prst="rect">
            <a:avLst/>
          </a:prstGeom>
          <a:noFill/>
        </p:spPr>
        <p:txBody>
          <a:bodyPr wrap="square" lIns="0" tIns="27432" rIns="0" bIns="27432" anchor="t">
            <a:spAutoFit/>
          </a:bodyPr>
          <a:lstStyle/>
          <a:p>
            <a:pPr marL="292608" indent="-292608">
              <a:spcAft>
                <a:spcPts val="720"/>
              </a:spcAft>
              <a:buFont typeface="Arial"/>
              <a:buChar char="•"/>
            </a:pPr>
            <a:r>
              <a:rPr sz="1520" b="0" i="0">
                <a:solidFill>
                  <a:srgbClr val="007C85"/>
                </a:solidFill>
                <a:latin typeface="Consolas"/>
              </a:rPr>
              <a:t>ROW_NUMBER</a:t>
            </a:r>
            <a:r>
              <a:rPr sz="1600" b="0" i="0">
                <a:solidFill>
                  <a:srgbClr val="000000"/>
                </a:solidFill>
                <a:latin typeface="Arial"/>
              </a:rPr>
              <a:t> — the row number inside the partition</a:t>
            </a:r>
          </a:p>
          <a:p>
            <a:pPr marL="292608" indent="-292608">
              <a:spcAft>
                <a:spcPts val="720"/>
              </a:spcAft>
              <a:buFont typeface="Arial"/>
              <a:buChar char="•"/>
            </a:pPr>
            <a:r>
              <a:rPr sz="1520" b="0" i="0">
                <a:solidFill>
                  <a:srgbClr val="007C85"/>
                </a:solidFill>
                <a:latin typeface="Consolas"/>
              </a:rPr>
              <a:t>RANK</a:t>
            </a:r>
            <a:r>
              <a:rPr sz="1600" b="0" i="0">
                <a:solidFill>
                  <a:srgbClr val="000000"/>
                </a:solidFill>
                <a:latin typeface="Arial"/>
              </a:rPr>
              <a:t> — the rank within the partition, skipping the next rank when values repeat</a:t>
            </a:r>
          </a:p>
          <a:p>
            <a:pPr marL="292608" indent="-292608">
              <a:spcAft>
                <a:spcPts val="720"/>
              </a:spcAft>
              <a:buFont typeface="Arial"/>
              <a:buChar char="•"/>
            </a:pPr>
            <a:r>
              <a:rPr sz="1520" b="0" i="0">
                <a:solidFill>
                  <a:srgbClr val="007C85"/>
                </a:solidFill>
                <a:latin typeface="Consolas"/>
              </a:rPr>
              <a:t>DENSE_RANK</a:t>
            </a:r>
            <a:r>
              <a:rPr sz="1600" b="0" i="0">
                <a:solidFill>
                  <a:srgbClr val="000000"/>
                </a:solidFill>
                <a:latin typeface="Arial"/>
              </a:rPr>
              <a:t> — the rank without gaps when values repeat</a:t>
            </a:r>
          </a:p>
          <a:p>
            <a:pPr marL="292608" indent="-292608">
              <a:spcAft>
                <a:spcPts val="720"/>
              </a:spcAft>
              <a:buFont typeface="Arial"/>
              <a:buChar char="•"/>
            </a:pPr>
            <a:r>
              <a:rPr sz="1520" b="0" i="0">
                <a:solidFill>
                  <a:srgbClr val="007C85"/>
                </a:solidFill>
                <a:latin typeface="Consolas"/>
              </a:rPr>
              <a:t>NTILE</a:t>
            </a:r>
            <a:r>
              <a:rPr sz="1600" b="0" i="0">
                <a:solidFill>
                  <a:srgbClr val="000000"/>
                </a:solidFill>
                <a:latin typeface="Arial"/>
              </a:rPr>
              <a:t> — splits the window into the given number of groups and returns the group number</a:t>
            </a:r>
          </a:p>
          <a:p>
            <a:pPr marL="292608" indent="-292608">
              <a:spcAft>
                <a:spcPts val="720"/>
              </a:spcAft>
              <a:buFont typeface="Arial"/>
              <a:buChar char="•"/>
            </a:pPr>
            <a:r>
              <a:rPr sz="1520" b="0" i="0">
                <a:solidFill>
                  <a:srgbClr val="007C85"/>
                </a:solidFill>
                <a:latin typeface="Consolas"/>
              </a:rPr>
              <a:t>CUME_DIST</a:t>
            </a:r>
            <a:r>
              <a:rPr sz="1600" b="0" i="0">
                <a:solidFill>
                  <a:srgbClr val="000000"/>
                </a:solidFill>
                <a:latin typeface="Arial"/>
              </a:rPr>
              <a:t> — the cumulative distribution, RANK/COUNT</a:t>
            </a:r>
          </a:p>
          <a:p>
            <a:pPr marL="292608" indent="-292608">
              <a:spcAft>
                <a:spcPts val="720"/>
              </a:spcAft>
              <a:buFont typeface="Arial"/>
              <a:buChar char="•"/>
            </a:pPr>
            <a:r>
              <a:rPr sz="1520" b="0" i="0">
                <a:solidFill>
                  <a:srgbClr val="007C85"/>
                </a:solidFill>
                <a:latin typeface="Consolas"/>
              </a:rPr>
              <a:t>PERCENT_RANK</a:t>
            </a:r>
            <a:r>
              <a:rPr sz="1600" b="0" i="0">
                <a:solidFill>
                  <a:srgbClr val="000000"/>
                </a:solidFill>
                <a:latin typeface="Arial"/>
              </a:rPr>
              <a:t> — the relative rank, (RANK-1)/(COUNT-1)</a:t>
            </a:r>
          </a:p>
          <a:p>
            <a:pPr>
              <a:spcAft>
                <a:spcPts val="720"/>
              </a:spcAft>
            </a:pPr>
            <a:r>
              <a:rPr sz="1600" b="0" i="0">
                <a:solidFill>
                  <a:srgbClr val="000000"/>
                </a:solidFill>
                <a:latin typeface="Arial"/>
              </a:rPr>
              <a:t>Ties are what separate these functions, and popularity scores are full of ties:</a:t>
            </a:r>
          </a:p>
        </p:txBody>
      </p:sp>
      <p:pic>
        <p:nvPicPr>
          <p:cNvPr id="15" name="Picture 14" descr="WITH bowie AS (&#10;    SELECT t.name, t.popularity&#10;      FROM tracks AS t&#10;      JOIN track_artists AS ta ON ta.track_id = t.id&#10;      JOIN artists AS a        ON a.id = ta.artist_id&#10;     WHERE a.name = 'David Bowie'&#10;     ORDER BY t.popularity DESC, t.name&#10;     LIMIT 8&#10;)&#10;SELECT name,&#10;       popularity,&#10;       ROW_NUMBER()   OVER w AS rn,&#10;       RANK()         OVER w AS rank,&#10;       DENSE_RANK()   OVER w AS dense_rank,&#10;       NTILE(2)       OVER w AS ntile_2,&#10;       round((CUME_DIST()    OVER w)::numeric, 2) AS cume_dist,&#10;       round((PERCENT_RANK() OVER w)::numeric, 2) AS percent_rank&#10;  FROM bowie&#10;WINDOW w AS (ORDER BY popularity DESC);"/>
          <p:cNvPicPr>
            <a:picLocks noChangeAspect="1"/>
          </p:cNvPicPr>
          <p:nvPr/>
        </p:nvPicPr>
        <p:blipFill>
          <a:blip r:embed="rId4"/>
          <a:stretch>
            <a:fillRect/>
          </a:stretch>
        </p:blipFill>
        <p:spPr>
          <a:xfrm>
            <a:off x="4480560" y="1367028"/>
            <a:ext cx="6858000" cy="481791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1.3 WINDOW FUNCTIONS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Ranking functions</a:t>
            </a:r>
          </a:p>
        </p:txBody>
      </p:sp>
      <p:pic>
        <p:nvPicPr>
          <p:cNvPr id="14" name="Picture 13" descr="WITH bowie AS (&#10;    SELECT t.name, t.popularity&#10;      FROM tracks AS t&#10;      JOIN track_artists AS ta ON ta.track_id = t.id&#10;      JOIN artists AS a        ON a.id = ta.artist_id&#10;     WHERE a.name = 'David Bowie'&#10;     ORDER BY t.popularity DESC, t.name&#10;     LIMIT 8&#10;)&#10;SELECT name,&#10;       popularity,&#10;       ROW_NUMBER()   OVER w AS rn,&#10;       RANK()         OVER w AS rank,&#10;       DENSE_RANK()   OVER w AS dense_rank,&#10;       NTILE(2)       OVER w AS ntile_2,&#10;       round((CUME_DIST()    OVER w)::numeric, 2) AS cume_dist,&#10;       round((PERCENT_RANK() OVER w)::numeric, 2) AS percent_rank&#10;  FROM bowie&#10;WINDOW w AS (ORDER BY popularity DESC);"/>
          <p:cNvPicPr>
            <a:picLocks noChangeAspect="1"/>
          </p:cNvPicPr>
          <p:nvPr/>
        </p:nvPicPr>
        <p:blipFill>
          <a:blip r:embed="rId4"/>
          <a:stretch>
            <a:fillRect/>
          </a:stretch>
        </p:blipFill>
        <p:spPr>
          <a:xfrm>
            <a:off x="1005840" y="1367028"/>
            <a:ext cx="10029825" cy="34671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3.png"/>
          <p:cNvPicPr>
            <a:picLocks noChangeAspect="1"/>
          </p:cNvPicPr>
          <p:nvPr/>
        </p:nvPicPr>
        <p:blipFill>
          <a:blip r:embed="rId2"/>
          <a:stretch>
            <a:fillRect/>
          </a:stretch>
        </p:blipFill>
        <p:spPr>
          <a:xfrm>
            <a:off x="7086600" y="0"/>
            <a:ext cx="5102352" cy="6858000"/>
          </a:xfrm>
          <a:prstGeom prst="rect">
            <a:avLst/>
          </a:prstGeom>
        </p:spPr>
      </p:pic>
      <p:pic>
        <p:nvPicPr>
          <p:cNvPr id="3" name="Picture 2" descr="image2.png"/>
          <p:cNvPicPr>
            <a:picLocks noChangeAspect="1"/>
          </p:cNvPicPr>
          <p:nvPr/>
        </p:nvPicPr>
        <p:blipFill>
          <a:blip r:embed="rId3"/>
          <a:stretch>
            <a:fillRect/>
          </a:stretch>
        </p:blipFill>
        <p:spPr>
          <a:xfrm>
            <a:off x="320040" y="256032"/>
            <a:ext cx="219456" cy="219456"/>
          </a:xfrm>
          <a:prstGeom prst="rect">
            <a:avLst/>
          </a:prstGeom>
        </p:spPr>
      </p:pic>
      <p:sp>
        <p:nvSpPr>
          <p:cNvPr id="4" name="Rounded Rectangle 3"/>
          <p:cNvSpPr/>
          <p:nvPr/>
        </p:nvSpPr>
        <p:spPr>
          <a:xfrm>
            <a:off x="658368" y="960120"/>
            <a:ext cx="1417320" cy="347472"/>
          </a:xfrm>
          <a:prstGeom prst="roundRect">
            <a:avLst/>
          </a:prstGeom>
          <a:solidFill>
            <a:srgbClr val="13C5C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731519" y="1014984"/>
            <a:ext cx="1271016" cy="201168"/>
          </a:xfrm>
          <a:prstGeom prst="rect">
            <a:avLst/>
          </a:prstGeom>
          <a:noFill/>
        </p:spPr>
        <p:txBody>
          <a:bodyPr wrap="square" anchor="t">
            <a:spAutoFit/>
          </a:bodyPr>
          <a:lstStyle/>
          <a:p>
            <a:pPr algn="ctr"/>
            <a:r>
              <a:rPr sz="1000" b="1">
                <a:solidFill>
                  <a:srgbClr val="080808"/>
                </a:solidFill>
                <a:latin typeface="Arial"/>
              </a:rPr>
              <a:t>1.4</a:t>
            </a:r>
          </a:p>
        </p:txBody>
      </p:sp>
      <p:sp>
        <p:nvSpPr>
          <p:cNvPr id="6" name="TextBox 5"/>
          <p:cNvSpPr txBox="1"/>
          <p:nvPr/>
        </p:nvSpPr>
        <p:spPr>
          <a:xfrm>
            <a:off x="658368" y="1572768"/>
            <a:ext cx="5760720" cy="1417320"/>
          </a:xfrm>
          <a:prstGeom prst="rect">
            <a:avLst/>
          </a:prstGeom>
          <a:noFill/>
        </p:spPr>
        <p:txBody>
          <a:bodyPr wrap="square" anchor="t">
            <a:spAutoFit/>
          </a:bodyPr>
          <a:lstStyle/>
          <a:p>
            <a:pPr algn="l"/>
            <a:r>
              <a:rPr sz="4200" b="1">
                <a:solidFill>
                  <a:srgbClr val="080808"/>
                </a:solidFill>
                <a:latin typeface="Arial"/>
              </a:rPr>
              <a:t>Subqueries and CTEs</a:t>
            </a:r>
          </a:p>
        </p:txBody>
      </p:sp>
      <p:sp>
        <p:nvSpPr>
          <p:cNvPr id="7" name="TextBox 6"/>
          <p:cNvSpPr txBox="1"/>
          <p:nvPr/>
        </p:nvSpPr>
        <p:spPr>
          <a:xfrm>
            <a:off x="685800" y="3310128"/>
            <a:ext cx="5303520" cy="1143000"/>
          </a:xfrm>
          <a:prstGeom prst="rect">
            <a:avLst/>
          </a:prstGeom>
          <a:noFill/>
        </p:spPr>
        <p:txBody>
          <a:bodyPr wrap="square" anchor="t">
            <a:spAutoFit/>
          </a:bodyPr>
          <a:lstStyle/>
          <a:p>
            <a:pPr algn="l"/>
            <a:r>
              <a:rPr sz="1900" b="0">
                <a:solidFill>
                  <a:srgbClr val="697076"/>
                </a:solidFill>
                <a:latin typeface="Arial"/>
              </a:rPr>
              <a:t>Use them when a query is easier to solve in steps.</a:t>
            </a:r>
          </a:p>
        </p:txBody>
      </p:sp>
      <p:sp>
        <p:nvSpPr>
          <p:cNvPr id="8" name="TextBox 7"/>
          <p:cNvSpPr txBox="1"/>
          <p:nvPr/>
        </p:nvSpPr>
        <p:spPr>
          <a:xfrm>
            <a:off x="685800" y="6080760"/>
            <a:ext cx="731520" cy="320040"/>
          </a:xfrm>
          <a:prstGeom prst="rect">
            <a:avLst/>
          </a:prstGeom>
          <a:noFill/>
        </p:spPr>
        <p:txBody>
          <a:bodyPr wrap="square" anchor="t">
            <a:spAutoFit/>
          </a:bodyPr>
          <a:lstStyle/>
          <a:p>
            <a:pPr algn="l"/>
            <a:fld id="{B6F15528-21DE-4FAA-801E-634DDDAF4B2B}" type="slidenum">
              <a:rPr sz="1100" b="1">
                <a:solidFill>
                  <a:srgbClr val="697076"/>
                </a:solidFill>
                <a:latin typeface="Arial"/>
              </a:rPr>
              <a:t>45</a:t>
            </a:fld>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5.png"/>
          <p:cNvPicPr>
            <a:picLocks noChangeAspect="1"/>
          </p:cNvPicPr>
          <p:nvPr/>
        </p:nvPicPr>
        <p:blipFill>
          <a:blip r:embed="rId2"/>
          <a:stretch>
            <a:fillRect/>
          </a:stretch>
        </p:blipFill>
        <p:spPr>
          <a:xfrm>
            <a:off x="9646920" y="0"/>
            <a:ext cx="2542032" cy="1344168"/>
          </a:xfrm>
          <a:prstGeom prst="rect">
            <a:avLst/>
          </a:prstGeom>
        </p:spPr>
      </p:pic>
      <p:pic>
        <p:nvPicPr>
          <p:cNvPr id="3" name="Picture 2" descr="image2.png"/>
          <p:cNvPicPr>
            <a:picLocks noChangeAspect="1"/>
          </p:cNvPicPr>
          <p:nvPr/>
        </p:nvPicPr>
        <p:blipFill>
          <a:blip r:embed="rId3"/>
          <a:stretch>
            <a:fillRect/>
          </a:stretch>
        </p:blipFill>
        <p:spPr>
          <a:xfrm>
            <a:off x="256032" y="201168"/>
            <a:ext cx="201168" cy="201168"/>
          </a:xfrm>
          <a:prstGeom prst="rect">
            <a:avLst/>
          </a:prstGeom>
        </p:spPr>
      </p:pic>
      <p:sp>
        <p:nvSpPr>
          <p:cNvPr id="4" name="TextBox 3"/>
          <p:cNvSpPr txBox="1"/>
          <p:nvPr/>
        </p:nvSpPr>
        <p:spPr>
          <a:xfrm>
            <a:off x="566928" y="384048"/>
            <a:ext cx="10241280" cy="658368"/>
          </a:xfrm>
          <a:prstGeom prst="rect">
            <a:avLst/>
          </a:prstGeom>
          <a:noFill/>
        </p:spPr>
        <p:txBody>
          <a:bodyPr wrap="square" anchor="t">
            <a:spAutoFit/>
          </a:bodyPr>
          <a:lstStyle/>
          <a:p>
            <a:pPr algn="l"/>
            <a:r>
              <a:rPr sz="3000" b="1">
                <a:solidFill>
                  <a:srgbClr val="080808"/>
                </a:solidFill>
                <a:latin typeface="Arial"/>
              </a:rPr>
              <a:t>Subqueries: use one query inside another</a:t>
            </a:r>
          </a:p>
        </p:txBody>
      </p:sp>
      <p:sp>
        <p:nvSpPr>
          <p:cNvPr id="5" name="TextBox 4"/>
          <p:cNvSpPr txBox="1"/>
          <p:nvPr/>
        </p:nvSpPr>
        <p:spPr>
          <a:xfrm>
            <a:off x="566928" y="6510528"/>
            <a:ext cx="4114800" cy="201168"/>
          </a:xfrm>
          <a:prstGeom prst="rect">
            <a:avLst/>
          </a:prstGeom>
          <a:noFill/>
        </p:spPr>
        <p:txBody>
          <a:bodyPr wrap="square" anchor="t">
            <a:spAutoFit/>
          </a:bodyPr>
          <a:lstStyle/>
          <a:p>
            <a:pPr algn="l"/>
            <a:r>
              <a:rPr sz="850" b="1">
                <a:solidFill>
                  <a:srgbClr val="697076"/>
                </a:solidFill>
                <a:latin typeface="Arial"/>
              </a:rPr>
              <a:t>1.4 · SUBQUERIES &amp; CTE</a:t>
            </a:r>
          </a:p>
        </p:txBody>
      </p:sp>
      <p:sp>
        <p:nvSpPr>
          <p:cNvPr id="6" name="TextBox 5"/>
          <p:cNvSpPr txBox="1"/>
          <p:nvPr/>
        </p:nvSpPr>
        <p:spPr>
          <a:xfrm>
            <a:off x="11018520" y="6473952"/>
            <a:ext cx="502920" cy="219456"/>
          </a:xfrm>
          <a:prstGeom prst="rect">
            <a:avLst/>
          </a:prstGeom>
          <a:noFill/>
        </p:spPr>
        <p:txBody>
          <a:bodyPr wrap="square" anchor="t">
            <a:spAutoFit/>
          </a:bodyPr>
          <a:lstStyle/>
          <a:p>
            <a:pPr algn="r"/>
            <a:fld id="{B6F15528-21DE-4FAA-801E-634DDDAF4B2B}" type="slidenum">
              <a:rPr sz="900" b="1">
                <a:solidFill>
                  <a:srgbClr val="697076"/>
                </a:solidFill>
                <a:latin typeface="Arial"/>
              </a:rPr>
              <a:t>46</a:t>
            </a:fld>
          </a:p>
        </p:txBody>
      </p:sp>
      <p:sp>
        <p:nvSpPr>
          <p:cNvPr id="7" name="TextBox 6"/>
          <p:cNvSpPr txBox="1"/>
          <p:nvPr/>
        </p:nvSpPr>
        <p:spPr>
          <a:xfrm>
            <a:off x="685800" y="1572768"/>
            <a:ext cx="5120640" cy="502920"/>
          </a:xfrm>
          <a:prstGeom prst="rect">
            <a:avLst/>
          </a:prstGeom>
          <a:noFill/>
        </p:spPr>
        <p:txBody>
          <a:bodyPr wrap="square" anchor="t">
            <a:spAutoFit/>
          </a:bodyPr>
          <a:lstStyle/>
          <a:p>
            <a:pPr algn="l"/>
            <a:r>
              <a:rPr sz="2300" b="1">
                <a:solidFill>
                  <a:srgbClr val="080808"/>
                </a:solidFill>
                <a:latin typeface="Arial"/>
              </a:rPr>
              <a:t>Find tracks more popular than the catalogue average.</a:t>
            </a:r>
          </a:p>
        </p:txBody>
      </p:sp>
      <p:sp>
        <p:nvSpPr>
          <p:cNvPr id="8" name="Rounded Rectangle 7"/>
          <p:cNvSpPr/>
          <p:nvPr/>
        </p:nvSpPr>
        <p:spPr>
          <a:xfrm>
            <a:off x="685800" y="2331720"/>
            <a:ext cx="5074920" cy="2423160"/>
          </a:xfrm>
          <a:prstGeom prst="roundRect">
            <a:avLst/>
          </a:prstGeom>
          <a:solidFill>
            <a:srgbClr val="12141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685800" y="2331720"/>
            <a:ext cx="73152" cy="2423160"/>
          </a:xfrm>
          <a:prstGeom prst="rect">
            <a:avLst/>
          </a:prstGeom>
          <a:solidFill>
            <a:srgbClr val="13C5C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941832" y="2532888"/>
            <a:ext cx="4617720" cy="2103120"/>
          </a:xfrm>
          <a:prstGeom prst="rect">
            <a:avLst/>
          </a:prstGeom>
          <a:noFill/>
        </p:spPr>
        <p:txBody>
          <a:bodyPr wrap="square" lIns="0" rIns="0" anchor="t">
            <a:spAutoFit/>
          </a:bodyPr>
          <a:lstStyle/>
          <a:p>
            <a:pPr algn="l"/>
            <a:r>
              <a:rPr sz="1500" b="0">
                <a:solidFill>
                  <a:srgbClr val="FFFFFF"/>
                </a:solidFill>
                <a:latin typeface="Courier New"/>
              </a:rPr>
              <a:t>SELECT name, popularity
FROM tracks
WHERE popularity &gt; (
    SELECT avg(popularity)
    FROM tracks
)
ORDER BY popularity DESC;</a:t>
            </a:r>
          </a:p>
        </p:txBody>
      </p:sp>
      <p:sp>
        <p:nvSpPr>
          <p:cNvPr id="11" name="Rounded Rectangle 10"/>
          <p:cNvSpPr/>
          <p:nvPr/>
        </p:nvSpPr>
        <p:spPr>
          <a:xfrm>
            <a:off x="6400800" y="1874519"/>
            <a:ext cx="4297680" cy="960120"/>
          </a:xfrm>
          <a:prstGeom prst="round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675120" y="2084831"/>
            <a:ext cx="1554480" cy="274320"/>
          </a:xfrm>
          <a:prstGeom prst="rect">
            <a:avLst/>
          </a:prstGeom>
          <a:noFill/>
        </p:spPr>
        <p:txBody>
          <a:bodyPr wrap="square" anchor="t">
            <a:spAutoFit/>
          </a:bodyPr>
          <a:lstStyle/>
          <a:p>
            <a:pPr algn="l"/>
            <a:r>
              <a:rPr sz="1400" b="1">
                <a:solidFill>
                  <a:srgbClr val="13C5CF"/>
                </a:solidFill>
                <a:latin typeface="Arial"/>
              </a:rPr>
              <a:t>1. inner query</a:t>
            </a:r>
          </a:p>
        </p:txBody>
      </p:sp>
      <p:sp>
        <p:nvSpPr>
          <p:cNvPr id="13" name="TextBox 12"/>
          <p:cNvSpPr txBox="1"/>
          <p:nvPr/>
        </p:nvSpPr>
        <p:spPr>
          <a:xfrm>
            <a:off x="8366760" y="2084831"/>
            <a:ext cx="1920240" cy="274320"/>
          </a:xfrm>
          <a:prstGeom prst="rect">
            <a:avLst/>
          </a:prstGeom>
          <a:noFill/>
        </p:spPr>
        <p:txBody>
          <a:bodyPr wrap="square" anchor="t">
            <a:spAutoFit/>
          </a:bodyPr>
          <a:lstStyle/>
          <a:p>
            <a:pPr algn="l"/>
            <a:r>
              <a:rPr sz="1500" b="1">
                <a:solidFill>
                  <a:srgbClr val="080808"/>
                </a:solidFill>
                <a:latin typeface="Arial"/>
              </a:rPr>
              <a:t>average popularity</a:t>
            </a:r>
          </a:p>
        </p:txBody>
      </p:sp>
      <p:sp>
        <p:nvSpPr>
          <p:cNvPr id="14" name="TextBox 13"/>
          <p:cNvSpPr txBox="1"/>
          <p:nvPr/>
        </p:nvSpPr>
        <p:spPr>
          <a:xfrm>
            <a:off x="8275320" y="2971800"/>
            <a:ext cx="457200" cy="365760"/>
          </a:xfrm>
          <a:prstGeom prst="rect">
            <a:avLst/>
          </a:prstGeom>
          <a:noFill/>
        </p:spPr>
        <p:txBody>
          <a:bodyPr wrap="square" anchor="t">
            <a:spAutoFit/>
          </a:bodyPr>
          <a:lstStyle/>
          <a:p>
            <a:pPr algn="ctr"/>
            <a:r>
              <a:rPr sz="2600" b="1">
                <a:solidFill>
                  <a:srgbClr val="13C5CF"/>
                </a:solidFill>
                <a:latin typeface="Arial"/>
              </a:rPr>
              <a:t>↓</a:t>
            </a:r>
          </a:p>
        </p:txBody>
      </p:sp>
      <p:sp>
        <p:nvSpPr>
          <p:cNvPr id="15" name="Rounded Rectangle 14"/>
          <p:cNvSpPr/>
          <p:nvPr/>
        </p:nvSpPr>
        <p:spPr>
          <a:xfrm>
            <a:off x="6400800" y="3474720"/>
            <a:ext cx="4297680" cy="960120"/>
          </a:xfrm>
          <a:prstGeom prst="roundRect">
            <a:avLst/>
          </a:prstGeom>
          <a:solidFill>
            <a:srgbClr val="F4F6F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675120" y="3685032"/>
            <a:ext cx="1554480" cy="274320"/>
          </a:xfrm>
          <a:prstGeom prst="rect">
            <a:avLst/>
          </a:prstGeom>
          <a:noFill/>
        </p:spPr>
        <p:txBody>
          <a:bodyPr wrap="square" anchor="t">
            <a:spAutoFit/>
          </a:bodyPr>
          <a:lstStyle/>
          <a:p>
            <a:pPr algn="l"/>
            <a:r>
              <a:rPr sz="1400" b="1">
                <a:solidFill>
                  <a:srgbClr val="13C5CF"/>
                </a:solidFill>
                <a:latin typeface="Arial"/>
              </a:rPr>
              <a:t>2. outer query</a:t>
            </a:r>
          </a:p>
        </p:txBody>
      </p:sp>
      <p:sp>
        <p:nvSpPr>
          <p:cNvPr id="17" name="TextBox 16"/>
          <p:cNvSpPr txBox="1"/>
          <p:nvPr/>
        </p:nvSpPr>
        <p:spPr>
          <a:xfrm>
            <a:off x="8366760" y="3685032"/>
            <a:ext cx="1920240" cy="274320"/>
          </a:xfrm>
          <a:prstGeom prst="rect">
            <a:avLst/>
          </a:prstGeom>
          <a:noFill/>
        </p:spPr>
        <p:txBody>
          <a:bodyPr wrap="square" anchor="t">
            <a:spAutoFit/>
          </a:bodyPr>
          <a:lstStyle/>
          <a:p>
            <a:pPr algn="l"/>
            <a:r>
              <a:rPr sz="1500" b="1">
                <a:solidFill>
                  <a:srgbClr val="080808"/>
                </a:solidFill>
                <a:latin typeface="Arial"/>
              </a:rPr>
              <a:t>compare every track</a:t>
            </a:r>
          </a:p>
        </p:txBody>
      </p:sp>
      <p:sp>
        <p:nvSpPr>
          <p:cNvPr id="18" name="TextBox 17"/>
          <p:cNvSpPr txBox="1"/>
          <p:nvPr/>
        </p:nvSpPr>
        <p:spPr>
          <a:xfrm>
            <a:off x="6400800" y="4892040"/>
            <a:ext cx="4389120" cy="731520"/>
          </a:xfrm>
          <a:prstGeom prst="rect">
            <a:avLst/>
          </a:prstGeom>
          <a:noFill/>
        </p:spPr>
        <p:txBody>
          <a:bodyPr wrap="square" anchor="t">
            <a:spAutoFit/>
          </a:bodyPr>
          <a:lstStyle/>
          <a:p>
            <a:pPr algn="l"/>
            <a:r>
              <a:rPr sz="1400" b="0">
                <a:solidFill>
                  <a:srgbClr val="697076"/>
                </a:solidFill>
                <a:latin typeface="Arial"/>
              </a:rPr>
              <a:t>Correlated subqueries run with values from the outer row; scalar subqueries return one value.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12648" y="228600"/>
            <a:ext cx="1554480" cy="228600"/>
          </a:xfrm>
          <a:prstGeom prst="rect">
            <a:avLst/>
          </a:prstGeom>
          <a:noFill/>
        </p:spPr>
        <p:txBody>
          <a:bodyPr wrap="square" lIns="0" tIns="0" rIns="0" bIns="0" anchor="t">
            <a:spAutoFit/>
          </a:bodyPr>
          <a:lstStyle/>
          <a:p>
            <a:pPr algn="l">
              <a:spcAft>
                <a:spcPts val="0"/>
              </a:spcAft>
            </a:pPr>
            <a:r>
              <a:rPr sz="1300" b="1">
                <a:solidFill>
                  <a:srgbClr val="061022"/>
                </a:solidFill>
                <a:latin typeface="Arial"/>
              </a:rPr>
              <a:t>TBC Explorers</a:t>
            </a:r>
          </a:p>
        </p:txBody>
      </p:sp>
      <p:sp>
        <p:nvSpPr>
          <p:cNvPr id="3" name="TextBox 2"/>
          <p:cNvSpPr txBox="1"/>
          <p:nvPr/>
        </p:nvSpPr>
        <p:spPr>
          <a:xfrm>
            <a:off x="11384280" y="219456"/>
            <a:ext cx="320040" cy="201168"/>
          </a:xfrm>
          <a:prstGeom prst="rect">
            <a:avLst/>
          </a:prstGeom>
          <a:noFill/>
        </p:spPr>
        <p:txBody>
          <a:bodyPr wrap="square" lIns="0" tIns="0" rIns="0" bIns="0" anchor="t">
            <a:spAutoFit/>
          </a:bodyPr>
          <a:lstStyle/>
          <a:p>
            <a:pPr algn="r">
              <a:spcAft>
                <a:spcPts val="0"/>
              </a:spcAft>
            </a:pPr>
            <a:fld id="{B6F15528-21DE-4FAA-801E-634DDDAF4B2B}" type="slidenum">
              <a:rPr sz="900" b="0">
                <a:solidFill>
                  <a:srgbClr val="061022"/>
                </a:solidFill>
                <a:latin typeface="Arial"/>
              </a:rPr>
              <a:t>47</a:t>
            </a:fld>
          </a:p>
        </p:txBody>
      </p:sp>
      <p:sp>
        <p:nvSpPr>
          <p:cNvPr id="4" name="TextBox 3"/>
          <p:cNvSpPr txBox="1"/>
          <p:nvPr/>
        </p:nvSpPr>
        <p:spPr>
          <a:xfrm>
            <a:off x="384048" y="548640"/>
            <a:ext cx="3108960" cy="182880"/>
          </a:xfrm>
          <a:prstGeom prst="rect">
            <a:avLst/>
          </a:prstGeom>
          <a:noFill/>
        </p:spPr>
        <p:txBody>
          <a:bodyPr wrap="square" lIns="0" tIns="0" rIns="0" bIns="0" anchor="t">
            <a:spAutoFit/>
          </a:bodyPr>
          <a:lstStyle/>
          <a:p>
            <a:pPr algn="l">
              <a:spcAft>
                <a:spcPts val="0"/>
              </a:spcAft>
            </a:pPr>
            <a:r>
              <a:rPr sz="900" b="1">
                <a:solidFill>
                  <a:srgbClr val="061022"/>
                </a:solidFill>
                <a:latin typeface="Arial"/>
              </a:rPr>
              <a:t>SUBQUERIES AND CTES</a:t>
            </a:r>
          </a:p>
        </p:txBody>
      </p:sp>
      <p:sp>
        <p:nvSpPr>
          <p:cNvPr id="5" name="TextBox 4"/>
          <p:cNvSpPr txBox="1"/>
          <p:nvPr/>
        </p:nvSpPr>
        <p:spPr>
          <a:xfrm>
            <a:off x="438912" y="932688"/>
            <a:ext cx="5212080" cy="457200"/>
          </a:xfrm>
          <a:prstGeom prst="rect">
            <a:avLst/>
          </a:prstGeom>
          <a:noFill/>
        </p:spPr>
        <p:txBody>
          <a:bodyPr wrap="square" lIns="0" tIns="0" rIns="0" bIns="0" anchor="t">
            <a:spAutoFit/>
          </a:bodyPr>
          <a:lstStyle/>
          <a:p>
            <a:pPr algn="l">
              <a:spcAft>
                <a:spcPts val="0"/>
              </a:spcAft>
            </a:pPr>
            <a:r>
              <a:rPr sz="2800" b="1">
                <a:solidFill>
                  <a:srgbClr val="061022"/>
                </a:solidFill>
                <a:latin typeface="Arial"/>
              </a:rPr>
              <a:t>CTEs: split a query</a:t>
            </a:r>
          </a:p>
        </p:txBody>
      </p:sp>
      <p:sp>
        <p:nvSpPr>
          <p:cNvPr id="6" name="TextBox 5"/>
          <p:cNvSpPr txBox="1"/>
          <p:nvPr/>
        </p:nvSpPr>
        <p:spPr>
          <a:xfrm>
            <a:off x="438912" y="1353312"/>
            <a:ext cx="5212080" cy="502920"/>
          </a:xfrm>
          <a:prstGeom prst="rect">
            <a:avLst/>
          </a:prstGeom>
          <a:noFill/>
        </p:spPr>
        <p:txBody>
          <a:bodyPr wrap="square" lIns="0" tIns="0" rIns="0" bIns="0" anchor="t">
            <a:spAutoFit/>
          </a:bodyPr>
          <a:lstStyle/>
          <a:p>
            <a:pPr algn="l">
              <a:spcAft>
                <a:spcPts val="0"/>
              </a:spcAft>
            </a:pPr>
            <a:r>
              <a:rPr sz="2800" b="1">
                <a:solidFill>
                  <a:srgbClr val="10C6D3"/>
                </a:solidFill>
                <a:latin typeface="Arial"/>
              </a:rPr>
              <a:t>into readable steps</a:t>
            </a:r>
          </a:p>
        </p:txBody>
      </p:sp>
      <p:sp>
        <p:nvSpPr>
          <p:cNvPr id="7" name="TextBox 6"/>
          <p:cNvSpPr txBox="1"/>
          <p:nvPr/>
        </p:nvSpPr>
        <p:spPr>
          <a:xfrm>
            <a:off x="457200" y="1920240"/>
            <a:ext cx="5623560" cy="640080"/>
          </a:xfrm>
          <a:prstGeom prst="rect">
            <a:avLst/>
          </a:prstGeom>
          <a:noFill/>
        </p:spPr>
        <p:txBody>
          <a:bodyPr wrap="square" lIns="0" tIns="0" rIns="0" bIns="0" anchor="t">
            <a:spAutoFit/>
          </a:bodyPr>
          <a:lstStyle/>
          <a:p>
            <a:pPr algn="l">
              <a:spcAft>
                <a:spcPts val="0"/>
              </a:spcAft>
            </a:pPr>
            <a:r>
              <a:rPr sz="1400" b="0">
                <a:solidFill>
                  <a:srgbClr val="636F84"/>
                </a:solidFill>
                <a:latin typeface="Arial"/>
              </a:rPr>
              <a:t>CTEs (Common Table Expressions) let you break a query
into smaller parts, making it easier to read and maintain.</a:t>
            </a:r>
          </a:p>
        </p:txBody>
      </p:sp>
      <p:sp>
        <p:nvSpPr>
          <p:cNvPr id="8" name="Rounded Rectangle 7"/>
          <p:cNvSpPr/>
          <p:nvPr/>
        </p:nvSpPr>
        <p:spPr>
          <a:xfrm>
            <a:off x="457200" y="2816352"/>
            <a:ext cx="6172200" cy="2880360"/>
          </a:xfrm>
          <a:prstGeom prst="roundRect">
            <a:avLst/>
          </a:prstGeom>
          <a:solidFill>
            <a:srgbClr val="12141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58368" y="2953512"/>
            <a:ext cx="457200" cy="182880"/>
          </a:xfrm>
          <a:prstGeom prst="rect">
            <a:avLst/>
          </a:prstGeom>
          <a:noFill/>
        </p:spPr>
        <p:txBody>
          <a:bodyPr wrap="square" lIns="0" tIns="0" rIns="0" bIns="0" anchor="t">
            <a:spAutoFit/>
          </a:bodyPr>
          <a:lstStyle/>
          <a:p>
            <a:pPr algn="l">
              <a:spcAft>
                <a:spcPts val="0"/>
              </a:spcAft>
            </a:pPr>
            <a:r>
              <a:rPr sz="1000" b="1">
                <a:solidFill>
                  <a:srgbClr val="FFFFFF"/>
                </a:solidFill>
                <a:latin typeface="Arial"/>
              </a:rPr>
              <a:t>SQL</a:t>
            </a:r>
          </a:p>
        </p:txBody>
      </p:sp>
      <p:sp>
        <p:nvSpPr>
          <p:cNvPr id="10" name="TextBox 9"/>
          <p:cNvSpPr txBox="1"/>
          <p:nvPr/>
        </p:nvSpPr>
        <p:spPr>
          <a:xfrm>
            <a:off x="685800" y="3255264"/>
            <a:ext cx="5715000" cy="2313432"/>
          </a:xfrm>
          <a:prstGeom prst="rect">
            <a:avLst/>
          </a:prstGeom>
          <a:noFill/>
        </p:spPr>
        <p:txBody>
          <a:bodyPr wrap="square" lIns="0" tIns="0" rIns="0" bIns="0" anchor="t">
            <a:spAutoFit/>
          </a:bodyPr>
          <a:lstStyle/>
          <a:p>
            <a:pPr algn="l">
              <a:spcAft>
                <a:spcPts val="0"/>
              </a:spcAft>
            </a:pPr>
            <a:r>
              <a:rPr sz="1100" b="0">
                <a:solidFill>
                  <a:srgbClr val="FFFFFF"/>
                </a:solidFill>
                <a:latin typeface="Courier New"/>
              </a:rPr>
              <a:t>WITH top_artists AS (
  SELECT artist_name, AVG(popularity) AS avg_pop
  FROM tracks
  GROUP BY artist_name
  HAVING AVG(popularity) &gt; 70
)
SELECT *
FROM top_artists
ORDER BY avg_pop DESC;</a:t>
            </a:r>
          </a:p>
        </p:txBody>
      </p:sp>
      <p:pic>
        <p:nvPicPr>
          <p:cNvPr id="11" name="Picture 10" descr="refcat_cte2.png"/>
          <p:cNvPicPr>
            <a:picLocks noChangeAspect="1"/>
          </p:cNvPicPr>
          <p:nvPr/>
        </p:nvPicPr>
        <p:blipFill>
          <a:blip r:embed="rId2"/>
          <a:stretch>
            <a:fillRect/>
          </a:stretch>
        </p:blipFill>
        <p:spPr>
          <a:xfrm>
            <a:off x="8549640" y="1325880"/>
            <a:ext cx="2788920" cy="46482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1.4 SUBQUERIES AND CTE</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Common Table Expression (CTE)</a:t>
            </a:r>
          </a:p>
        </p:txBody>
      </p:sp>
      <p:sp>
        <p:nvSpPr>
          <p:cNvPr id="14" name="Lead"/>
          <p:cNvSpPr txBox="1"/>
          <p:nvPr/>
        </p:nvSpPr>
        <p:spPr>
          <a:xfrm>
            <a:off x="1005840" y="1367028"/>
            <a:ext cx="3108960" cy="3870960"/>
          </a:xfrm>
          <a:prstGeom prst="rect">
            <a:avLst/>
          </a:prstGeom>
          <a:noFill/>
        </p:spPr>
        <p:txBody>
          <a:bodyPr wrap="square" lIns="0" tIns="27432" rIns="0" bIns="27432" anchor="t">
            <a:spAutoFit/>
          </a:bodyPr>
          <a:lstStyle/>
          <a:p>
            <a:pPr>
              <a:spcAft>
                <a:spcPts val="720"/>
              </a:spcAft>
            </a:pPr>
            <a:r>
              <a:rPr sz="1600" b="1" i="0">
                <a:solidFill>
                  <a:srgbClr val="000000"/>
                </a:solidFill>
                <a:latin typeface="Arial"/>
              </a:rPr>
              <a:t>Advantages:</a:t>
            </a:r>
          </a:p>
          <a:p>
            <a:pPr marL="292608" indent="-292608">
              <a:spcAft>
                <a:spcPts val="720"/>
              </a:spcAft>
              <a:buFont typeface="Arial"/>
              <a:buAutoNum type="arabicPeriod"/>
            </a:pPr>
            <a:r>
              <a:rPr sz="1600" b="1" i="0">
                <a:solidFill>
                  <a:srgbClr val="000000"/>
                </a:solidFill>
                <a:latin typeface="Arial"/>
              </a:rPr>
              <a:t>Improved readability</a:t>
            </a:r>
            <a:r>
              <a:rPr sz="1600" b="0" i="0">
                <a:solidFill>
                  <a:srgbClr val="000000"/>
                </a:solidFill>
                <a:latin typeface="Arial"/>
              </a:rPr>
              <a:t> — a complex query is split into understandable parts.</a:t>
            </a:r>
          </a:p>
          <a:p>
            <a:pPr marL="292608" indent="-292608">
              <a:spcAft>
                <a:spcPts val="720"/>
              </a:spcAft>
              <a:buFont typeface="Arial"/>
              <a:buAutoNum type="arabicPeriod" startAt="2"/>
            </a:pPr>
            <a:r>
              <a:rPr sz="1600" b="1" i="0">
                <a:solidFill>
                  <a:srgbClr val="000000"/>
                </a:solidFill>
                <a:latin typeface="Arial"/>
              </a:rPr>
              <a:t>Reuse</a:t>
            </a:r>
            <a:r>
              <a:rPr sz="1600" b="0" i="0">
                <a:solidFill>
                  <a:srgbClr val="000000"/>
                </a:solidFill>
                <a:latin typeface="Arial"/>
              </a:rPr>
              <a:t> — the CTE's result can be referenced several times without repeating the text of the subquery.</a:t>
            </a:r>
          </a:p>
          <a:p>
            <a:pPr>
              <a:spcAft>
                <a:spcPts val="720"/>
              </a:spcAft>
            </a:pPr>
            <a:r>
              <a:rPr sz="1600" b="0" i="0">
                <a:solidFill>
                  <a:srgbClr val="000000"/>
                </a:solidFill>
                <a:latin typeface="Arial"/>
              </a:rPr>
              <a:t>There can be several CTEs in one query: </a:t>
            </a:r>
            <a:r>
              <a:rPr sz="1520" b="0" i="0">
                <a:solidFill>
                  <a:srgbClr val="007C85"/>
                </a:solidFill>
                <a:latin typeface="Consolas"/>
              </a:rPr>
              <a:t>WITH</a:t>
            </a:r>
            <a:r>
              <a:rPr sz="1600" b="0" i="0">
                <a:solidFill>
                  <a:srgbClr val="000000"/>
                </a:solidFill>
                <a:latin typeface="Arial"/>
              </a:rPr>
              <a:t> is written once and the CTEs are listed separated by commas. A later CTE may reference an earlier one:</a:t>
            </a:r>
          </a:p>
        </p:txBody>
      </p:sp>
      <p:pic>
        <p:nvPicPr>
          <p:cNvPr id="15" name="Picture 14" descr="WITH artist_tracks AS (&#10;    SELECT a.id, a.name, t.popularity&#10;      FROM artists AS a&#10;      JOIN track_artists AS ta ON ta.artist_id = a.id&#10;      JOIN tracks AS t         ON t.id = ta.track_id&#10;),&#10;artist_stats AS (&#10;    SELECT id,&#10;           name,&#10;           count(*)                  AS track_cnt,&#10;           round(avg(popularity), 1) AS avg_popularity&#10;      FROM artist_tracks&#10;     GROUP BY id, name&#10;)&#10;SELECT name, track_cnt, avg_popularity&#10;  FROM artist_stats&#10; WHERE track_cnt &gt;= 30&#10; ORDER BY avg_popularity DESC&#10; LIMIT 10;"/>
          <p:cNvPicPr>
            <a:picLocks noChangeAspect="1"/>
          </p:cNvPicPr>
          <p:nvPr/>
        </p:nvPicPr>
        <p:blipFill>
          <a:blip r:embed="rId4"/>
          <a:stretch>
            <a:fillRect/>
          </a:stretch>
        </p:blipFill>
        <p:spPr>
          <a:xfrm>
            <a:off x="4480560" y="1367028"/>
            <a:ext cx="6098905" cy="510235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colorful object&#10;&#10;AI-generated content may be incorrect.">
            <a:extLst>
              <a:ext uri="{FF2B5EF4-FFF2-40B4-BE49-F238E27FC236}">
                <a16:creationId xmlns:a16="http://schemas.microsoft.com/office/drawing/2014/main" id="{94BE2C03-EF74-F5AD-32D8-416E3638685C}"/>
              </a:ext>
            </a:extLst>
          </p:cNvPr>
          <p:cNvPicPr>
            <a:picLocks noGrp="1" noChangeAspect="1"/>
          </p:cNvPicPr>
          <p:nvPr>
            <p:ph idx="1"/>
          </p:nvPr>
        </p:nvPicPr>
        <p:blipFill>
          <a:blip r:embed="rId2"/>
          <a:stretch>
            <a:fillRect/>
          </a:stretch>
        </p:blipFill>
        <p:spPr>
          <a:xfrm>
            <a:off x="0" y="0"/>
            <a:ext cx="12192000" cy="6858000"/>
          </a:xfrm>
        </p:spPr>
      </p:pic>
      <p:pic>
        <p:nvPicPr>
          <p:cNvPr id="10" name="Picture 9" descr="A black background with a black square&#10;&#10;AI-generated content may be incorrect.">
            <a:extLst>
              <a:ext uri="{FF2B5EF4-FFF2-40B4-BE49-F238E27FC236}">
                <a16:creationId xmlns:a16="http://schemas.microsoft.com/office/drawing/2014/main" id="{B665C1B3-FAA8-E5C8-582A-771B8F2A5AF1}"/>
              </a:ext>
            </a:extLst>
          </p:cNvPr>
          <p:cNvPicPr>
            <a:picLocks noChangeAspect="1"/>
          </p:cNvPicPr>
          <p:nvPr/>
        </p:nvPicPr>
        <p:blipFill>
          <a:blip r:embed="rId3"/>
          <a:stretch>
            <a:fillRect/>
          </a:stretch>
        </p:blipFill>
        <p:spPr>
          <a:xfrm>
            <a:off x="11606498" y="198723"/>
            <a:ext cx="332804" cy="332804"/>
          </a:xfrm>
          <a:prstGeom prst="rect">
            <a:avLst/>
          </a:prstGeom>
        </p:spPr>
      </p:pic>
      <p:sp>
        <p:nvSpPr>
          <p:cNvPr id="11" name="Title"/>
          <p:cNvSpPr txBox="1"/>
          <p:nvPr/>
        </p:nvSpPr>
        <p:spPr>
          <a:xfrm>
            <a:off x="6035040" y="685800"/>
            <a:ext cx="5394960" cy="670953"/>
          </a:xfrm>
          <a:prstGeom prst="rect">
            <a:avLst/>
          </a:prstGeom>
          <a:noFill/>
        </p:spPr>
        <p:txBody>
          <a:bodyPr wrap="square" lIns="0" tIns="27432" rIns="0" bIns="27432" anchor="t">
            <a:spAutoFit/>
          </a:bodyPr>
          <a:lstStyle/>
          <a:p>
            <a:r>
              <a:rPr sz="4000" b="1" i="0" dirty="0">
                <a:solidFill>
                  <a:srgbClr val="000000"/>
                </a:solidFill>
                <a:latin typeface="Arial"/>
              </a:rPr>
              <a:t>Joins and unions</a:t>
            </a:r>
          </a:p>
        </p:txBody>
      </p:sp>
      <p:sp>
        <p:nvSpPr>
          <p:cNvPr id="12" name="Body"/>
          <p:cNvSpPr txBox="1"/>
          <p:nvPr/>
        </p:nvSpPr>
        <p:spPr>
          <a:xfrm>
            <a:off x="6035040" y="1635759"/>
            <a:ext cx="5394960" cy="4719320"/>
          </a:xfrm>
          <a:prstGeom prst="rect">
            <a:avLst/>
          </a:prstGeom>
          <a:noFill/>
        </p:spPr>
        <p:txBody>
          <a:bodyPr wrap="square" lIns="0" tIns="27432" rIns="0" bIns="27432" anchor="t">
            <a:spAutoFit/>
          </a:bodyPr>
          <a:lstStyle/>
          <a:p>
            <a:pPr marL="292608" indent="-292608">
              <a:spcAft>
                <a:spcPts val="810"/>
              </a:spcAft>
              <a:buFont typeface="Arial"/>
              <a:buChar char="•"/>
            </a:pPr>
            <a:r>
              <a:rPr sz="1800" b="0" i="0">
                <a:solidFill>
                  <a:srgbClr val="000000"/>
                </a:solidFill>
                <a:latin typeface="Arial"/>
              </a:rPr>
              <a:t>DISTINCT</a:t>
            </a:r>
          </a:p>
          <a:p>
            <a:pPr marL="292608" indent="-292608">
              <a:spcAft>
                <a:spcPts val="810"/>
              </a:spcAft>
              <a:buFont typeface="Arial"/>
              <a:buChar char="•"/>
            </a:pPr>
            <a:r>
              <a:rPr sz="1800" b="0" i="0">
                <a:solidFill>
                  <a:srgbClr val="000000"/>
                </a:solidFill>
                <a:latin typeface="Arial"/>
              </a:rPr>
              <a:t>UNION and UNION ALL</a:t>
            </a:r>
          </a:p>
          <a:p>
            <a:pPr marL="292608" indent="-292608">
              <a:spcAft>
                <a:spcPts val="810"/>
              </a:spcAft>
              <a:buFont typeface="Arial"/>
              <a:buChar char="•"/>
            </a:pPr>
            <a:r>
              <a:rPr sz="1800" b="0" i="0">
                <a:solidFill>
                  <a:srgbClr val="000000"/>
                </a:solidFill>
                <a:latin typeface="Arial"/>
              </a:rPr>
              <a:t>JOIN</a:t>
            </a:r>
          </a:p>
          <a:p>
            <a:pPr marL="292608" indent="-292608">
              <a:spcAft>
                <a:spcPts val="810"/>
              </a:spcAft>
              <a:buFont typeface="Arial"/>
              <a:buChar char="•"/>
            </a:pPr>
            <a:r>
              <a:rPr sz="1800" b="0" i="0">
                <a:solidFill>
                  <a:srgbClr val="000000"/>
                </a:solidFill>
                <a:latin typeface="Arial"/>
              </a:rPr>
              <a:t>Joins on the real data</a:t>
            </a:r>
          </a:p>
          <a:p>
            <a:pPr marL="292608" indent="-292608">
              <a:spcAft>
                <a:spcPts val="810"/>
              </a:spcAft>
              <a:buFont typeface="Arial"/>
              <a:buChar char="•"/>
            </a:pPr>
            <a:r>
              <a:rPr sz="1800" b="0" i="0">
                <a:solidFill>
                  <a:srgbClr val="000000"/>
                </a:solidFill>
                <a:latin typeface="Arial"/>
              </a:rPr>
              <a:t>Special types of JOIN</a:t>
            </a:r>
          </a:p>
          <a:p>
            <a:pPr marL="292608" indent="-292608">
              <a:spcAft>
                <a:spcPts val="810"/>
              </a:spcAft>
              <a:buFont typeface="Arial"/>
              <a:buChar char="•"/>
            </a:pPr>
            <a:r>
              <a:rPr sz="1800" b="0" i="0">
                <a:solidFill>
                  <a:srgbClr val="000000"/>
                </a:solidFill>
                <a:latin typeface="Arial"/>
              </a:rPr>
              <a:t>Venn diagrams</a:t>
            </a:r>
          </a:p>
          <a:p>
            <a:pPr marL="292608" indent="-292608">
              <a:spcAft>
                <a:spcPts val="810"/>
              </a:spcAft>
              <a:buFont typeface="Arial"/>
              <a:buChar char="•"/>
            </a:pPr>
            <a:r>
              <a:rPr sz="1800" b="0" i="0">
                <a:solidFill>
                  <a:srgbClr val="000000"/>
                </a:solidFill>
                <a:latin typeface="Arial"/>
              </a:rPr>
              <a:t>Joining and aggregating together</a:t>
            </a:r>
          </a:p>
          <a:p>
            <a:pPr marL="292608" indent="-292608">
              <a:spcAft>
                <a:spcPts val="810"/>
              </a:spcAft>
              <a:buFont typeface="Arial"/>
              <a:buChar char="•"/>
            </a:pPr>
            <a:r>
              <a:rPr sz="1800" b="0" i="0">
                <a:solidFill>
                  <a:srgbClr val="000000"/>
                </a:solidFill>
                <a:latin typeface="Arial"/>
              </a:rPr>
              <a:t>Check yourself</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1.5 JOINS AND UNIONS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DISTINCT</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520" b="0" i="0">
                <a:solidFill>
                  <a:srgbClr val="007C85"/>
                </a:solidFill>
                <a:latin typeface="Consolas"/>
              </a:rPr>
              <a:t>DISTINCT</a:t>
            </a:r>
            <a:r>
              <a:rPr sz="1600" b="0" i="0">
                <a:solidFill>
                  <a:srgbClr val="000000"/>
                </a:solidFill>
                <a:latin typeface="Arial"/>
              </a:rPr>
              <a:t> removes duplicate rows from the query result:</a:t>
            </a:r>
          </a:p>
        </p:txBody>
      </p:sp>
      <p:pic>
        <p:nvPicPr>
          <p:cNvPr id="15" name="Picture 14" descr="SELECT DISTINCT column1 FROM table_name;&#10;SELECT DISTINCT column1, column2 FROM table_name;   -- unique combinations"/>
          <p:cNvPicPr>
            <a:picLocks noChangeAspect="1"/>
          </p:cNvPicPr>
          <p:nvPr/>
        </p:nvPicPr>
        <p:blipFill>
          <a:blip r:embed="rId4"/>
          <a:stretch>
            <a:fillRect/>
          </a:stretch>
        </p:blipFill>
        <p:spPr>
          <a:xfrm>
            <a:off x="1005840" y="1885187"/>
            <a:ext cx="9810750" cy="933449"/>
          </a:xfrm>
          <a:prstGeom prst="rect">
            <a:avLst/>
          </a:prstGeom>
        </p:spPr>
      </p:pic>
      <p:sp>
        <p:nvSpPr>
          <p:cNvPr id="16" name="Note"/>
          <p:cNvSpPr txBox="1"/>
          <p:nvPr/>
        </p:nvSpPr>
        <p:spPr>
          <a:xfrm>
            <a:off x="1005840" y="3047237"/>
            <a:ext cx="10332720" cy="670560"/>
          </a:xfrm>
          <a:prstGeom prst="rect">
            <a:avLst/>
          </a:prstGeom>
          <a:noFill/>
        </p:spPr>
        <p:txBody>
          <a:bodyPr wrap="square" lIns="0" tIns="27432" rIns="0" bIns="27432" anchor="t">
            <a:spAutoFit/>
          </a:bodyPr>
          <a:lstStyle/>
          <a:p>
            <a:pPr>
              <a:spcAft>
                <a:spcPts val="720"/>
              </a:spcAft>
            </a:pPr>
            <a:r>
              <a:rPr sz="1520" b="0" i="0">
                <a:solidFill>
                  <a:srgbClr val="007C85"/>
                </a:solidFill>
                <a:latin typeface="Consolas"/>
              </a:rPr>
              <a:t>DISTINCT</a:t>
            </a:r>
            <a:r>
              <a:rPr sz="1600" b="0" i="0">
                <a:solidFill>
                  <a:srgbClr val="000000"/>
                </a:solidFill>
                <a:latin typeface="Arial"/>
              </a:rPr>
              <a:t> is written once, right after </a:t>
            </a:r>
            <a:r>
              <a:rPr sz="1520" b="0" i="0">
                <a:solidFill>
                  <a:srgbClr val="007C85"/>
                </a:solidFill>
                <a:latin typeface="Consolas"/>
              </a:rPr>
              <a:t>SELECT</a:t>
            </a:r>
            <a:r>
              <a:rPr sz="1600" b="0" i="0">
                <a:solidFill>
                  <a:srgbClr val="000000"/>
                </a:solidFill>
                <a:latin typeface="Arial"/>
              </a:rPr>
              <a:t>. The DBMS has to remember every unique value and compare it with the following ones, which can slow the query down.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close-up of a bunch of paint brushes&#10;&#10;AI-generated content may be incorrect.">
            <a:extLst>
              <a:ext uri="{FF2B5EF4-FFF2-40B4-BE49-F238E27FC236}">
                <a16:creationId xmlns:a16="http://schemas.microsoft.com/office/drawing/2014/main" id="{34B42168-D1AC-F5B4-26AE-D6D4372602E9}"/>
              </a:ext>
            </a:extLst>
          </p:cNvPr>
          <p:cNvPicPr>
            <a:picLocks noGrp="1" noChangeAspect="1"/>
          </p:cNvPicPr>
          <p:nvPr>
            <p:ph idx="1"/>
          </p:nvPr>
        </p:nvPicPr>
        <p:blipFill>
          <a:blip r:embed="rId2"/>
          <a:srcRect b="19"/>
          <a:stretch>
            <a:fillRect/>
          </a:stretch>
        </p:blipFill>
        <p:spPr>
          <a:xfrm>
            <a:off x="20" y="1282"/>
            <a:ext cx="12191980" cy="6856718"/>
          </a:xfrm>
          <a:prstGeom prst="rect">
            <a:avLst/>
          </a:prstGeom>
        </p:spPr>
      </p:pic>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6035040" cy="292608"/>
          </a:xfrm>
          <a:prstGeom prst="rect">
            <a:avLst/>
          </a:prstGeom>
          <a:noFill/>
        </p:spPr>
        <p:txBody>
          <a:bodyPr wrap="square" lIns="0" tIns="27432" rIns="0" bIns="27432" anchor="t">
            <a:spAutoFit/>
          </a:bodyPr>
          <a:lstStyle/>
          <a:p>
            <a:r>
              <a:rPr sz="1200" b="1" i="0">
                <a:solidFill>
                  <a:srgbClr val="007C85"/>
                </a:solidFill>
                <a:latin typeface="Arial"/>
              </a:rPr>
              <a:t>1.5 JOINS AND UNIONS</a:t>
            </a:r>
          </a:p>
        </p:txBody>
      </p:sp>
      <p:sp>
        <p:nvSpPr>
          <p:cNvPr id="13" name="Title"/>
          <p:cNvSpPr txBox="1"/>
          <p:nvPr/>
        </p:nvSpPr>
        <p:spPr>
          <a:xfrm>
            <a:off x="1005840" y="566928"/>
            <a:ext cx="6035040" cy="617219"/>
          </a:xfrm>
          <a:prstGeom prst="rect">
            <a:avLst/>
          </a:prstGeom>
          <a:noFill/>
        </p:spPr>
        <p:txBody>
          <a:bodyPr wrap="square" lIns="0" tIns="27432" rIns="0" bIns="27432" anchor="t">
            <a:spAutoFit/>
          </a:bodyPr>
          <a:lstStyle/>
          <a:p>
            <a:r>
              <a:rPr sz="3600" b="1" i="0">
                <a:solidFill>
                  <a:srgbClr val="000000"/>
                </a:solidFill>
                <a:latin typeface="Arial"/>
              </a:rPr>
              <a:t>UNION and UNION ALL</a:t>
            </a:r>
          </a:p>
        </p:txBody>
      </p:sp>
      <p:sp>
        <p:nvSpPr>
          <p:cNvPr id="14" name="Body"/>
          <p:cNvSpPr txBox="1"/>
          <p:nvPr/>
        </p:nvSpPr>
        <p:spPr>
          <a:xfrm>
            <a:off x="1005840" y="2057400"/>
            <a:ext cx="6766560" cy="4297680"/>
          </a:xfrm>
          <a:prstGeom prst="rect">
            <a:avLst/>
          </a:prstGeom>
          <a:noFill/>
        </p:spPr>
        <p:txBody>
          <a:bodyPr wrap="square" lIns="0" tIns="27432" rIns="0" bIns="27432" anchor="t">
            <a:spAutoFit/>
          </a:bodyPr>
          <a:lstStyle/>
          <a:p>
            <a:pPr>
              <a:spcAft>
                <a:spcPts val="810"/>
              </a:spcAft>
            </a:pPr>
            <a:r>
              <a:rPr sz="1709" b="0" i="0">
                <a:solidFill>
                  <a:srgbClr val="007C85"/>
                </a:solidFill>
                <a:latin typeface="Consolas"/>
              </a:rPr>
              <a:t>UNION</a:t>
            </a:r>
            <a:r>
              <a:rPr sz="1800" b="0" i="0">
                <a:solidFill>
                  <a:srgbClr val="000000"/>
                </a:solidFill>
                <a:latin typeface="Arial"/>
              </a:rPr>
              <a:t> and </a:t>
            </a:r>
            <a:r>
              <a:rPr sz="1709" b="0" i="0">
                <a:solidFill>
                  <a:srgbClr val="007C85"/>
                </a:solidFill>
                <a:latin typeface="Consolas"/>
              </a:rPr>
              <a:t>UNION ALL</a:t>
            </a:r>
            <a:r>
              <a:rPr sz="1800" b="0" i="0">
                <a:solidFill>
                  <a:srgbClr val="000000"/>
                </a:solidFill>
                <a:latin typeface="Arial"/>
              </a:rPr>
              <a:t> combine the results of two or more queries </a:t>
            </a:r>
            <a:r>
              <a:rPr sz="1800" b="1" i="0">
                <a:solidFill>
                  <a:srgbClr val="000000"/>
                </a:solidFill>
                <a:latin typeface="Arial"/>
              </a:rPr>
              <a:t>vertically</a:t>
            </a:r>
            <a:r>
              <a:rPr sz="1800" b="0" i="0">
                <a:solidFill>
                  <a:srgbClr val="000000"/>
                </a:solidFill>
                <a:latin typeface="Arial"/>
              </a:rPr>
              <a:t>:</a:t>
            </a:r>
          </a:p>
          <a:p>
            <a:pPr marL="292608" indent="-292608">
              <a:spcAft>
                <a:spcPts val="810"/>
              </a:spcAft>
              <a:buFont typeface="Arial"/>
              <a:buChar char="•"/>
            </a:pPr>
            <a:r>
              <a:rPr sz="1709" b="0" i="0">
                <a:solidFill>
                  <a:srgbClr val="007C85"/>
                </a:solidFill>
                <a:latin typeface="Consolas"/>
              </a:rPr>
              <a:t>UNION</a:t>
            </a:r>
            <a:r>
              <a:rPr sz="1800" b="0" i="0">
                <a:solidFill>
                  <a:srgbClr val="000000"/>
                </a:solidFill>
                <a:latin typeface="Arial"/>
              </a:rPr>
              <a:t> combines the results, excluding duplicate rows;</a:t>
            </a:r>
          </a:p>
          <a:p>
            <a:pPr marL="292608" indent="-292608">
              <a:spcAft>
                <a:spcPts val="810"/>
              </a:spcAft>
              <a:buFont typeface="Arial"/>
              <a:buChar char="•"/>
            </a:pPr>
            <a:r>
              <a:rPr sz="1709" b="0" i="0">
                <a:solidFill>
                  <a:srgbClr val="007C85"/>
                </a:solidFill>
                <a:latin typeface="Consolas"/>
              </a:rPr>
              <a:t>UNION ALL</a:t>
            </a:r>
            <a:r>
              <a:rPr sz="1800" b="0" i="0">
                <a:solidFill>
                  <a:srgbClr val="000000"/>
                </a:solidFill>
                <a:latin typeface="Arial"/>
              </a:rPr>
              <a:t> does the same but keeps duplicates.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12648" y="228600"/>
            <a:ext cx="1554480" cy="228600"/>
          </a:xfrm>
          <a:prstGeom prst="rect">
            <a:avLst/>
          </a:prstGeom>
          <a:noFill/>
        </p:spPr>
        <p:txBody>
          <a:bodyPr wrap="square" lIns="0" tIns="0" rIns="0" bIns="0" anchor="t">
            <a:spAutoFit/>
          </a:bodyPr>
          <a:lstStyle/>
          <a:p>
            <a:pPr algn="l">
              <a:spcAft>
                <a:spcPts val="0"/>
              </a:spcAft>
            </a:pPr>
            <a:r>
              <a:rPr sz="1300" b="1">
                <a:solidFill>
                  <a:srgbClr val="061022"/>
                </a:solidFill>
                <a:latin typeface="Arial"/>
              </a:rPr>
              <a:t>TBC Explorers</a:t>
            </a:r>
          </a:p>
        </p:txBody>
      </p:sp>
      <p:sp>
        <p:nvSpPr>
          <p:cNvPr id="3" name="TextBox 2"/>
          <p:cNvSpPr txBox="1"/>
          <p:nvPr/>
        </p:nvSpPr>
        <p:spPr>
          <a:xfrm>
            <a:off x="11384280" y="219456"/>
            <a:ext cx="320040" cy="201168"/>
          </a:xfrm>
          <a:prstGeom prst="rect">
            <a:avLst/>
          </a:prstGeom>
          <a:noFill/>
        </p:spPr>
        <p:txBody>
          <a:bodyPr wrap="square" lIns="0" tIns="0" rIns="0" bIns="0" anchor="t">
            <a:spAutoFit/>
          </a:bodyPr>
          <a:lstStyle/>
          <a:p>
            <a:pPr algn="r">
              <a:spcAft>
                <a:spcPts val="0"/>
              </a:spcAft>
            </a:pPr>
            <a:fld id="{B6F15528-21DE-4FAA-801E-634DDDAF4B2B}" type="slidenum">
              <a:rPr sz="900" b="0">
                <a:solidFill>
                  <a:srgbClr val="061022"/>
                </a:solidFill>
                <a:latin typeface="Arial"/>
              </a:rPr>
              <a:t>52</a:t>
            </a:fld>
          </a:p>
        </p:txBody>
      </p:sp>
      <p:sp>
        <p:nvSpPr>
          <p:cNvPr id="4" name="TextBox 3"/>
          <p:cNvSpPr txBox="1"/>
          <p:nvPr/>
        </p:nvSpPr>
        <p:spPr>
          <a:xfrm>
            <a:off x="384048" y="548640"/>
            <a:ext cx="3108960" cy="182880"/>
          </a:xfrm>
          <a:prstGeom prst="rect">
            <a:avLst/>
          </a:prstGeom>
          <a:noFill/>
        </p:spPr>
        <p:txBody>
          <a:bodyPr wrap="square" lIns="0" tIns="0" rIns="0" bIns="0" anchor="t">
            <a:spAutoFit/>
          </a:bodyPr>
          <a:lstStyle/>
          <a:p>
            <a:pPr algn="l">
              <a:spcAft>
                <a:spcPts val="0"/>
              </a:spcAft>
            </a:pPr>
            <a:r>
              <a:rPr sz="900" b="1">
                <a:solidFill>
                  <a:srgbClr val="061022"/>
                </a:solidFill>
                <a:latin typeface="Arial"/>
              </a:rPr>
              <a:t>JOINS</a:t>
            </a:r>
          </a:p>
        </p:txBody>
      </p:sp>
      <p:sp>
        <p:nvSpPr>
          <p:cNvPr id="5" name="TextBox 4"/>
          <p:cNvSpPr txBox="1"/>
          <p:nvPr/>
        </p:nvSpPr>
        <p:spPr>
          <a:xfrm>
            <a:off x="438912" y="932688"/>
            <a:ext cx="4937760" cy="457200"/>
          </a:xfrm>
          <a:prstGeom prst="rect">
            <a:avLst/>
          </a:prstGeom>
          <a:noFill/>
        </p:spPr>
        <p:txBody>
          <a:bodyPr wrap="square" lIns="0" tIns="0" rIns="0" bIns="0" anchor="t">
            <a:spAutoFit/>
          </a:bodyPr>
          <a:lstStyle/>
          <a:p>
            <a:pPr algn="l">
              <a:spcAft>
                <a:spcPts val="0"/>
              </a:spcAft>
            </a:pPr>
            <a:r>
              <a:rPr sz="2900" b="1">
                <a:solidFill>
                  <a:srgbClr val="061022"/>
                </a:solidFill>
                <a:latin typeface="Arial"/>
              </a:rPr>
              <a:t>Combining tables</a:t>
            </a:r>
          </a:p>
        </p:txBody>
      </p:sp>
      <p:sp>
        <p:nvSpPr>
          <p:cNvPr id="6" name="TextBox 5"/>
          <p:cNvSpPr txBox="1"/>
          <p:nvPr/>
        </p:nvSpPr>
        <p:spPr>
          <a:xfrm>
            <a:off x="438912" y="1362456"/>
            <a:ext cx="3657600" cy="502920"/>
          </a:xfrm>
          <a:prstGeom prst="rect">
            <a:avLst/>
          </a:prstGeom>
          <a:noFill/>
        </p:spPr>
        <p:txBody>
          <a:bodyPr wrap="square" lIns="0" tIns="0" rIns="0" bIns="0" anchor="t">
            <a:spAutoFit/>
          </a:bodyPr>
          <a:lstStyle/>
          <a:p>
            <a:pPr algn="l">
              <a:spcAft>
                <a:spcPts val="0"/>
              </a:spcAft>
            </a:pPr>
            <a:r>
              <a:rPr sz="2900" b="1">
                <a:solidFill>
                  <a:srgbClr val="10C6D3"/>
                </a:solidFill>
                <a:latin typeface="Arial"/>
              </a:rPr>
              <a:t>with JOIN</a:t>
            </a:r>
          </a:p>
        </p:txBody>
      </p:sp>
      <p:sp>
        <p:nvSpPr>
          <p:cNvPr id="7" name="TextBox 6"/>
          <p:cNvSpPr txBox="1"/>
          <p:nvPr/>
        </p:nvSpPr>
        <p:spPr>
          <a:xfrm>
            <a:off x="457200" y="1938528"/>
            <a:ext cx="5303520" cy="621792"/>
          </a:xfrm>
          <a:prstGeom prst="rect">
            <a:avLst/>
          </a:prstGeom>
          <a:noFill/>
        </p:spPr>
        <p:txBody>
          <a:bodyPr wrap="square" lIns="0" tIns="0" rIns="0" bIns="0" anchor="t">
            <a:spAutoFit/>
          </a:bodyPr>
          <a:lstStyle/>
          <a:p>
            <a:pPr algn="l">
              <a:spcAft>
                <a:spcPts val="0"/>
              </a:spcAft>
            </a:pPr>
            <a:r>
              <a:rPr sz="1500" b="0">
                <a:solidFill>
                  <a:srgbClr val="636F84"/>
                </a:solidFill>
                <a:latin typeface="Arial"/>
              </a:rPr>
              <a:t>JOIN lets you combine related data from multiple tables
using a matching key.</a:t>
            </a:r>
          </a:p>
        </p:txBody>
      </p:sp>
      <p:sp>
        <p:nvSpPr>
          <p:cNvPr id="8" name="Rounded Rectangle 7"/>
          <p:cNvSpPr/>
          <p:nvPr/>
        </p:nvSpPr>
        <p:spPr>
          <a:xfrm>
            <a:off x="530352" y="2834640"/>
            <a:ext cx="2514600" cy="2606040"/>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31519" y="3035808"/>
            <a:ext cx="1828800" cy="228600"/>
          </a:xfrm>
          <a:prstGeom prst="rect">
            <a:avLst/>
          </a:prstGeom>
          <a:noFill/>
        </p:spPr>
        <p:txBody>
          <a:bodyPr wrap="square" lIns="0" tIns="0" rIns="0" bIns="0" anchor="t">
            <a:spAutoFit/>
          </a:bodyPr>
          <a:lstStyle/>
          <a:p>
            <a:pPr algn="l">
              <a:spcAft>
                <a:spcPts val="0"/>
              </a:spcAft>
            </a:pPr>
            <a:r>
              <a:rPr sz="1400" b="1">
                <a:solidFill>
                  <a:srgbClr val="061022"/>
                </a:solidFill>
                <a:latin typeface="Arial"/>
              </a:rPr>
              <a:t>tracks</a:t>
            </a:r>
          </a:p>
        </p:txBody>
      </p:sp>
      <p:sp>
        <p:nvSpPr>
          <p:cNvPr id="10" name="Rounded Rectangle 9"/>
          <p:cNvSpPr/>
          <p:nvPr/>
        </p:nvSpPr>
        <p:spPr>
          <a:xfrm>
            <a:off x="699516" y="4066122"/>
            <a:ext cx="2176272" cy="274320"/>
          </a:xfrm>
          <a:prstGeom prst="roundRect">
            <a:avLst/>
          </a:prstGeom>
          <a:solidFill>
            <a:srgbClr val="DCEA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04671" y="3401568"/>
            <a:ext cx="1828800" cy="210312"/>
          </a:xfrm>
          <a:prstGeom prst="rect">
            <a:avLst/>
          </a:prstGeom>
          <a:noFill/>
        </p:spPr>
        <p:txBody>
          <a:bodyPr wrap="square" lIns="0" tIns="0" rIns="0" bIns="0" anchor="t">
            <a:spAutoFit/>
          </a:bodyPr>
          <a:lstStyle/>
          <a:p>
            <a:pPr algn="l">
              <a:spcAft>
                <a:spcPts val="0"/>
              </a:spcAft>
            </a:pPr>
            <a:r>
              <a:rPr sz="1000" b="0">
                <a:solidFill>
                  <a:srgbClr val="061022"/>
                </a:solidFill>
                <a:latin typeface="Arial"/>
              </a:rPr>
              <a:t>track_id</a:t>
            </a:r>
          </a:p>
        </p:txBody>
      </p:sp>
      <p:sp>
        <p:nvSpPr>
          <p:cNvPr id="12" name="TextBox 11"/>
          <p:cNvSpPr txBox="1"/>
          <p:nvPr/>
        </p:nvSpPr>
        <p:spPr>
          <a:xfrm>
            <a:off x="804671" y="3767328"/>
            <a:ext cx="1828800" cy="210312"/>
          </a:xfrm>
          <a:prstGeom prst="rect">
            <a:avLst/>
          </a:prstGeom>
          <a:noFill/>
        </p:spPr>
        <p:txBody>
          <a:bodyPr wrap="square" lIns="0" tIns="0" rIns="0" bIns="0" anchor="t">
            <a:spAutoFit/>
          </a:bodyPr>
          <a:lstStyle/>
          <a:p>
            <a:pPr algn="l">
              <a:spcAft>
                <a:spcPts val="0"/>
              </a:spcAft>
            </a:pPr>
            <a:r>
              <a:rPr sz="1000" b="0">
                <a:solidFill>
                  <a:srgbClr val="061022"/>
                </a:solidFill>
                <a:latin typeface="Arial"/>
              </a:rPr>
              <a:t>track_name</a:t>
            </a:r>
          </a:p>
        </p:txBody>
      </p:sp>
      <p:sp>
        <p:nvSpPr>
          <p:cNvPr id="13" name="TextBox 12"/>
          <p:cNvSpPr txBox="1"/>
          <p:nvPr/>
        </p:nvSpPr>
        <p:spPr>
          <a:xfrm>
            <a:off x="804671" y="4133088"/>
            <a:ext cx="1828800" cy="210312"/>
          </a:xfrm>
          <a:prstGeom prst="rect">
            <a:avLst/>
          </a:prstGeom>
          <a:noFill/>
        </p:spPr>
        <p:txBody>
          <a:bodyPr wrap="square" lIns="0" tIns="0" rIns="0" bIns="0" anchor="t">
            <a:spAutoFit/>
          </a:bodyPr>
          <a:lstStyle/>
          <a:p>
            <a:pPr algn="l">
              <a:spcAft>
                <a:spcPts val="0"/>
              </a:spcAft>
            </a:pPr>
            <a:r>
              <a:rPr sz="1000" b="0">
                <a:solidFill>
                  <a:srgbClr val="061022"/>
                </a:solidFill>
                <a:latin typeface="Arial"/>
              </a:rPr>
              <a:t>artist_id</a:t>
            </a:r>
          </a:p>
        </p:txBody>
      </p:sp>
      <p:sp>
        <p:nvSpPr>
          <p:cNvPr id="14" name="TextBox 13"/>
          <p:cNvSpPr txBox="1"/>
          <p:nvPr/>
        </p:nvSpPr>
        <p:spPr>
          <a:xfrm>
            <a:off x="804671" y="4498848"/>
            <a:ext cx="1828800" cy="210312"/>
          </a:xfrm>
          <a:prstGeom prst="rect">
            <a:avLst/>
          </a:prstGeom>
          <a:noFill/>
        </p:spPr>
        <p:txBody>
          <a:bodyPr wrap="square" lIns="0" tIns="0" rIns="0" bIns="0" anchor="t">
            <a:spAutoFit/>
          </a:bodyPr>
          <a:lstStyle/>
          <a:p>
            <a:pPr algn="l">
              <a:spcAft>
                <a:spcPts val="0"/>
              </a:spcAft>
            </a:pPr>
            <a:r>
              <a:rPr sz="1000" b="0">
                <a:solidFill>
                  <a:srgbClr val="061022"/>
                </a:solidFill>
                <a:latin typeface="Arial"/>
              </a:rPr>
              <a:t>album_id</a:t>
            </a:r>
          </a:p>
        </p:txBody>
      </p:sp>
      <p:sp>
        <p:nvSpPr>
          <p:cNvPr id="15" name="TextBox 14"/>
          <p:cNvSpPr txBox="1"/>
          <p:nvPr/>
        </p:nvSpPr>
        <p:spPr>
          <a:xfrm>
            <a:off x="804671" y="4864608"/>
            <a:ext cx="1828800" cy="210312"/>
          </a:xfrm>
          <a:prstGeom prst="rect">
            <a:avLst/>
          </a:prstGeom>
          <a:noFill/>
        </p:spPr>
        <p:txBody>
          <a:bodyPr wrap="square" lIns="0" tIns="0" rIns="0" bIns="0" anchor="t">
            <a:spAutoFit/>
          </a:bodyPr>
          <a:lstStyle/>
          <a:p>
            <a:pPr algn="l">
              <a:spcAft>
                <a:spcPts val="0"/>
              </a:spcAft>
            </a:pPr>
            <a:r>
              <a:rPr sz="1000" b="0">
                <a:solidFill>
                  <a:srgbClr val="061022"/>
                </a:solidFill>
                <a:latin typeface="Arial"/>
              </a:rPr>
              <a:t>popularity</a:t>
            </a:r>
          </a:p>
        </p:txBody>
      </p:sp>
      <p:sp>
        <p:nvSpPr>
          <p:cNvPr id="16" name="Rounded Rectangle 15"/>
          <p:cNvSpPr/>
          <p:nvPr/>
        </p:nvSpPr>
        <p:spPr>
          <a:xfrm>
            <a:off x="6492240" y="2834640"/>
            <a:ext cx="2514600" cy="2606040"/>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693407" y="3035808"/>
            <a:ext cx="1828800" cy="228600"/>
          </a:xfrm>
          <a:prstGeom prst="rect">
            <a:avLst/>
          </a:prstGeom>
          <a:noFill/>
        </p:spPr>
        <p:txBody>
          <a:bodyPr wrap="square" lIns="0" tIns="0" rIns="0" bIns="0" anchor="t">
            <a:spAutoFit/>
          </a:bodyPr>
          <a:lstStyle/>
          <a:p>
            <a:pPr algn="l">
              <a:spcAft>
                <a:spcPts val="0"/>
              </a:spcAft>
            </a:pPr>
            <a:r>
              <a:rPr sz="1400" b="1">
                <a:solidFill>
                  <a:srgbClr val="061022"/>
                </a:solidFill>
                <a:latin typeface="Arial"/>
              </a:rPr>
              <a:t>artists</a:t>
            </a:r>
          </a:p>
        </p:txBody>
      </p:sp>
      <p:sp>
        <p:nvSpPr>
          <p:cNvPr id="18" name="Rounded Rectangle 17"/>
          <p:cNvSpPr/>
          <p:nvPr/>
        </p:nvSpPr>
        <p:spPr>
          <a:xfrm>
            <a:off x="6656831" y="3383280"/>
            <a:ext cx="2176272" cy="274320"/>
          </a:xfrm>
          <a:prstGeom prst="roundRect">
            <a:avLst/>
          </a:prstGeom>
          <a:solidFill>
            <a:srgbClr val="DCEA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766559" y="3401568"/>
            <a:ext cx="1828800" cy="210312"/>
          </a:xfrm>
          <a:prstGeom prst="rect">
            <a:avLst/>
          </a:prstGeom>
          <a:noFill/>
        </p:spPr>
        <p:txBody>
          <a:bodyPr wrap="square" lIns="0" tIns="0" rIns="0" bIns="0" anchor="t">
            <a:spAutoFit/>
          </a:bodyPr>
          <a:lstStyle/>
          <a:p>
            <a:pPr algn="l">
              <a:spcAft>
                <a:spcPts val="0"/>
              </a:spcAft>
            </a:pPr>
            <a:r>
              <a:rPr sz="1000" b="0">
                <a:solidFill>
                  <a:srgbClr val="061022"/>
                </a:solidFill>
                <a:latin typeface="Arial"/>
              </a:rPr>
              <a:t>artist_id</a:t>
            </a:r>
          </a:p>
        </p:txBody>
      </p:sp>
      <p:sp>
        <p:nvSpPr>
          <p:cNvPr id="20" name="TextBox 19"/>
          <p:cNvSpPr txBox="1"/>
          <p:nvPr/>
        </p:nvSpPr>
        <p:spPr>
          <a:xfrm>
            <a:off x="6766559" y="3767328"/>
            <a:ext cx="1828800" cy="210312"/>
          </a:xfrm>
          <a:prstGeom prst="rect">
            <a:avLst/>
          </a:prstGeom>
          <a:noFill/>
        </p:spPr>
        <p:txBody>
          <a:bodyPr wrap="square" lIns="0" tIns="0" rIns="0" bIns="0" anchor="t">
            <a:spAutoFit/>
          </a:bodyPr>
          <a:lstStyle/>
          <a:p>
            <a:pPr algn="l">
              <a:spcAft>
                <a:spcPts val="0"/>
              </a:spcAft>
            </a:pPr>
            <a:r>
              <a:rPr sz="1000" b="0">
                <a:solidFill>
                  <a:srgbClr val="061022"/>
                </a:solidFill>
                <a:latin typeface="Arial"/>
              </a:rPr>
              <a:t>artist_name</a:t>
            </a:r>
          </a:p>
        </p:txBody>
      </p:sp>
      <p:sp>
        <p:nvSpPr>
          <p:cNvPr id="21" name="TextBox 20"/>
          <p:cNvSpPr txBox="1"/>
          <p:nvPr/>
        </p:nvSpPr>
        <p:spPr>
          <a:xfrm>
            <a:off x="6766559" y="4133088"/>
            <a:ext cx="1828800" cy="210312"/>
          </a:xfrm>
          <a:prstGeom prst="rect">
            <a:avLst/>
          </a:prstGeom>
          <a:noFill/>
        </p:spPr>
        <p:txBody>
          <a:bodyPr wrap="square" lIns="0" tIns="0" rIns="0" bIns="0" anchor="t">
            <a:spAutoFit/>
          </a:bodyPr>
          <a:lstStyle/>
          <a:p>
            <a:pPr algn="l">
              <a:spcAft>
                <a:spcPts val="0"/>
              </a:spcAft>
            </a:pPr>
            <a:r>
              <a:rPr sz="1000" b="0">
                <a:solidFill>
                  <a:srgbClr val="061022"/>
                </a:solidFill>
                <a:latin typeface="Arial"/>
              </a:rPr>
              <a:t>followers</a:t>
            </a:r>
          </a:p>
        </p:txBody>
      </p:sp>
      <p:sp>
        <p:nvSpPr>
          <p:cNvPr id="22" name="TextBox 21"/>
          <p:cNvSpPr txBox="1"/>
          <p:nvPr/>
        </p:nvSpPr>
        <p:spPr>
          <a:xfrm>
            <a:off x="6766559" y="4498848"/>
            <a:ext cx="1828800" cy="210312"/>
          </a:xfrm>
          <a:prstGeom prst="rect">
            <a:avLst/>
          </a:prstGeom>
          <a:noFill/>
        </p:spPr>
        <p:txBody>
          <a:bodyPr wrap="square" lIns="0" tIns="0" rIns="0" bIns="0" anchor="t">
            <a:spAutoFit/>
          </a:bodyPr>
          <a:lstStyle/>
          <a:p>
            <a:pPr algn="l">
              <a:spcAft>
                <a:spcPts val="0"/>
              </a:spcAft>
            </a:pPr>
            <a:r>
              <a:rPr sz="1000" b="0">
                <a:solidFill>
                  <a:srgbClr val="061022"/>
                </a:solidFill>
                <a:latin typeface="Arial"/>
              </a:rPr>
              <a:t>genres</a:t>
            </a:r>
          </a:p>
        </p:txBody>
      </p:sp>
      <p:sp>
        <p:nvSpPr>
          <p:cNvPr id="23" name="TextBox 22"/>
          <p:cNvSpPr txBox="1"/>
          <p:nvPr/>
        </p:nvSpPr>
        <p:spPr>
          <a:xfrm>
            <a:off x="4297680" y="3246120"/>
            <a:ext cx="1005840" cy="237744"/>
          </a:xfrm>
          <a:prstGeom prst="rect">
            <a:avLst/>
          </a:prstGeom>
          <a:noFill/>
        </p:spPr>
        <p:txBody>
          <a:bodyPr wrap="square" lIns="0" tIns="0" rIns="0" bIns="0" anchor="t">
            <a:spAutoFit/>
          </a:bodyPr>
          <a:lstStyle/>
          <a:p>
            <a:pPr algn="ctr">
              <a:spcAft>
                <a:spcPts val="0"/>
              </a:spcAft>
            </a:pPr>
            <a:r>
              <a:rPr sz="1400" b="1">
                <a:solidFill>
                  <a:srgbClr val="061022"/>
                </a:solidFill>
                <a:latin typeface="Arial"/>
              </a:rPr>
              <a:t>JOIN</a:t>
            </a:r>
          </a:p>
        </p:txBody>
      </p:sp>
      <p:sp>
        <p:nvSpPr>
          <p:cNvPr id="24" name="TextBox 23"/>
          <p:cNvSpPr txBox="1"/>
          <p:nvPr/>
        </p:nvSpPr>
        <p:spPr>
          <a:xfrm>
            <a:off x="3749039" y="4041648"/>
            <a:ext cx="2103120" cy="502920"/>
          </a:xfrm>
          <a:prstGeom prst="rect">
            <a:avLst/>
          </a:prstGeom>
          <a:noFill/>
        </p:spPr>
        <p:txBody>
          <a:bodyPr wrap="square" lIns="0" tIns="0" rIns="0" bIns="0" anchor="t">
            <a:spAutoFit/>
          </a:bodyPr>
          <a:lstStyle/>
          <a:p>
            <a:pPr algn="ctr">
              <a:spcAft>
                <a:spcPts val="0"/>
              </a:spcAft>
            </a:pPr>
            <a:r>
              <a:rPr sz="1000" b="0">
                <a:solidFill>
                  <a:srgbClr val="636F84"/>
                </a:solidFill>
                <a:latin typeface="Arial"/>
              </a:rPr>
              <a:t>ON tracks.artist_id
= artists.artist_id</a:t>
            </a:r>
          </a:p>
        </p:txBody>
      </p:sp>
      <p:cxnSp>
        <p:nvCxnSpPr>
          <p:cNvPr id="25" name="Connector 24"/>
          <p:cNvCxnSpPr>
            <a:cxnSpLocks/>
            <a:stCxn id="8" idx="3"/>
          </p:cNvCxnSpPr>
          <p:nvPr/>
        </p:nvCxnSpPr>
        <p:spPr>
          <a:xfrm flipV="1">
            <a:off x="3044952" y="3730752"/>
            <a:ext cx="1115568" cy="406908"/>
          </a:xfrm>
          <a:prstGeom prst="line">
            <a:avLst/>
          </a:prstGeom>
          <a:ln w="19050">
            <a:solidFill>
              <a:srgbClr val="10C6D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a:cxnSpLocks/>
          </p:cNvCxnSpPr>
          <p:nvPr/>
        </p:nvCxnSpPr>
        <p:spPr>
          <a:xfrm flipV="1">
            <a:off x="5440680" y="3506724"/>
            <a:ext cx="1051560" cy="224028"/>
          </a:xfrm>
          <a:prstGeom prst="line">
            <a:avLst/>
          </a:prstGeom>
          <a:ln w="19050">
            <a:solidFill>
              <a:srgbClr val="10C6D3"/>
            </a:solidFill>
          </a:ln>
        </p:spPr>
        <p:style>
          <a:lnRef idx="2">
            <a:schemeClr val="accent1"/>
          </a:lnRef>
          <a:fillRef idx="0">
            <a:schemeClr val="accent1"/>
          </a:fillRef>
          <a:effectRef idx="1">
            <a:schemeClr val="accent1"/>
          </a:effectRef>
          <a:fontRef idx="minor">
            <a:schemeClr val="tx1"/>
          </a:fontRef>
        </p:style>
      </p:cxnSp>
      <p:pic>
        <p:nvPicPr>
          <p:cNvPr id="27" name="Picture 26" descr="refcat_join2.png"/>
          <p:cNvPicPr>
            <a:picLocks noChangeAspect="1"/>
          </p:cNvPicPr>
          <p:nvPr/>
        </p:nvPicPr>
        <p:blipFill>
          <a:blip r:embed="rId2"/>
          <a:stretch>
            <a:fillRect/>
          </a:stretch>
        </p:blipFill>
        <p:spPr>
          <a:xfrm>
            <a:off x="9738360" y="1554480"/>
            <a:ext cx="2103120" cy="4050453"/>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1.5 JOINS AND UNIONS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JOIN</a:t>
            </a:r>
          </a:p>
        </p:txBody>
      </p:sp>
      <p:sp>
        <p:nvSpPr>
          <p:cNvPr id="14" name="Lead"/>
          <p:cNvSpPr txBox="1"/>
          <p:nvPr/>
        </p:nvSpPr>
        <p:spPr>
          <a:xfrm>
            <a:off x="1005840" y="1367028"/>
            <a:ext cx="10332720" cy="670560"/>
          </a:xfrm>
          <a:prstGeom prst="rect">
            <a:avLst/>
          </a:prstGeom>
          <a:noFill/>
        </p:spPr>
        <p:txBody>
          <a:bodyPr wrap="square" lIns="0" tIns="27432" rIns="0" bIns="27432" anchor="t">
            <a:spAutoFit/>
          </a:bodyPr>
          <a:lstStyle/>
          <a:p>
            <a:pPr>
              <a:spcAft>
                <a:spcPts val="720"/>
              </a:spcAft>
            </a:pPr>
            <a:r>
              <a:rPr sz="1520" b="0" i="0">
                <a:solidFill>
                  <a:srgbClr val="007C85"/>
                </a:solidFill>
                <a:latin typeface="Consolas"/>
              </a:rPr>
              <a:t>JOIN</a:t>
            </a:r>
            <a:r>
              <a:rPr sz="1600" b="0" i="0">
                <a:solidFill>
                  <a:srgbClr val="000000"/>
                </a:solidFill>
                <a:latin typeface="Arial"/>
              </a:rPr>
              <a:t> enriches data from one table with data from another — a </a:t>
            </a:r>
            <a:r>
              <a:rPr sz="1600" b="1" i="0">
                <a:solidFill>
                  <a:srgbClr val="000000"/>
                </a:solidFill>
                <a:latin typeface="Arial"/>
              </a:rPr>
              <a:t>horizontal</a:t>
            </a:r>
            <a:r>
              <a:rPr sz="1600" b="0" i="0">
                <a:solidFill>
                  <a:srgbClr val="000000"/>
                </a:solidFill>
                <a:latin typeface="Arial"/>
              </a:rPr>
              <a:t> combination. Every row in one table is matched against the second by some condition, and matching rows are combined.</a:t>
            </a:r>
          </a:p>
        </p:txBody>
      </p:sp>
      <p:pic>
        <p:nvPicPr>
          <p:cNvPr id="15" name="Picture 14" descr="SELECT a.column1, b.column2&#10;  FROM table1 a&#10;  JOIN table2 b ON a.id = b.table2_id;"/>
          <p:cNvPicPr>
            <a:picLocks noChangeAspect="1"/>
          </p:cNvPicPr>
          <p:nvPr/>
        </p:nvPicPr>
        <p:blipFill>
          <a:blip r:embed="rId4"/>
          <a:stretch>
            <a:fillRect/>
          </a:stretch>
        </p:blipFill>
        <p:spPr>
          <a:xfrm>
            <a:off x="1005840" y="2129028"/>
            <a:ext cx="5267325" cy="1238250"/>
          </a:xfrm>
          <a:prstGeom prst="rect">
            <a:avLst/>
          </a:prstGeom>
        </p:spPr>
      </p:pic>
      <p:sp>
        <p:nvSpPr>
          <p:cNvPr id="16" name="Note"/>
          <p:cNvSpPr txBox="1"/>
          <p:nvPr/>
        </p:nvSpPr>
        <p:spPr>
          <a:xfrm>
            <a:off x="1005840" y="3595878"/>
            <a:ext cx="10332720" cy="67056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Tables can be given aliases so that you do not have to write their names out in full; </a:t>
            </a:r>
            <a:r>
              <a:rPr sz="1520" b="0" i="0">
                <a:solidFill>
                  <a:srgbClr val="007C85"/>
                </a:solidFill>
                <a:latin typeface="Consolas"/>
              </a:rPr>
              <a:t>AS</a:t>
            </a:r>
            <a:r>
              <a:rPr sz="1600" b="0" i="0">
                <a:solidFill>
                  <a:srgbClr val="000000"/>
                </a:solidFill>
                <a:latin typeface="Arial"/>
              </a:rPr>
              <a:t> may be omitted here.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1.5 JOINS AND UNIONS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JOIN</a:t>
            </a:r>
          </a:p>
        </p:txBody>
      </p:sp>
      <p:sp>
        <p:nvSpPr>
          <p:cNvPr id="14" name="Lead"/>
          <p:cNvSpPr txBox="1"/>
          <p:nvPr/>
        </p:nvSpPr>
        <p:spPr>
          <a:xfrm>
            <a:off x="1005840" y="1367028"/>
            <a:ext cx="10332720" cy="426720"/>
          </a:xfrm>
          <a:prstGeom prst="rect">
            <a:avLst/>
          </a:prstGeom>
          <a:noFill/>
        </p:spPr>
        <p:txBody>
          <a:bodyPr wrap="square" lIns="0" tIns="27432" rIns="0" bIns="27432" anchor="t">
            <a:spAutoFit/>
          </a:bodyPr>
          <a:lstStyle/>
          <a:p>
            <a:pPr>
              <a:spcAft>
                <a:spcPts val="720"/>
              </a:spcAft>
            </a:pPr>
            <a:r>
              <a:rPr sz="1520" b="1" i="0">
                <a:solidFill>
                  <a:srgbClr val="007C85"/>
                </a:solidFill>
                <a:latin typeface="Consolas"/>
              </a:rPr>
              <a:t>INNER JOIN</a:t>
            </a:r>
            <a:r>
              <a:rPr sz="1600" b="0" i="0">
                <a:solidFill>
                  <a:srgbClr val="000000"/>
                </a:solidFill>
                <a:latin typeface="Arial"/>
              </a:rPr>
              <a:t> returns the rows that have a match in both tables:</a:t>
            </a:r>
          </a:p>
        </p:txBody>
      </p:sp>
      <p:pic>
        <p:nvPicPr>
          <p:cNvPr id="15" name="Picture 14" descr="WITH releases(release_id, title, label_id) AS (VALUES&#10;        (1, 'Space Oddity', 1), (2, 'Heroes', 2), (3, 'Blackstar', 9),&#10;        (4, 'Blonde on Blonde', 3), (5, 'Bedroom Demo', NULL), (6, 'Lodger', 2)&#10;),&#10;labels(label_id, label_name) AS (VALUES&#10;        (1, 'Philips'), (2, 'RCA'), (3, 'Columbia'), (4, 'Sub Pop')&#10;)&#10;SELECT r.release_id, r.title, l.label_name&#10;  FROM releases AS r&#10; INNER JOIN labels AS l ON r.label_id = l.label_id&#10; ORDER BY r.release_id;"/>
          <p:cNvPicPr>
            <a:picLocks noChangeAspect="1"/>
          </p:cNvPicPr>
          <p:nvPr/>
        </p:nvPicPr>
        <p:blipFill>
          <a:blip r:embed="rId4"/>
          <a:stretch>
            <a:fillRect/>
          </a:stretch>
        </p:blipFill>
        <p:spPr>
          <a:xfrm>
            <a:off x="1005840" y="1885187"/>
            <a:ext cx="6084743" cy="2135484"/>
          </a:xfrm>
          <a:prstGeom prst="rect">
            <a:avLst/>
          </a:prstGeom>
        </p:spPr>
      </p:pic>
      <p:pic>
        <p:nvPicPr>
          <p:cNvPr id="16" name="Picture 15" descr="WITH releases(release_id, title, label_id) AS (VALUES&#10;        (1, 'Space Oddity', 1), (2, 'Heroes', 2), (3, 'Blackstar', 9),&#10;        (4, 'Blonde on Blonde', 3), (5, 'Bedroom Demo', NULL), (6, 'Lodger', 2)&#10;),&#10;labels(label_id, label_name) AS (VALUES&#10;        (1, 'Philips'), (2, 'RCA'), (3, 'Columbia'), (4, 'Sub Pop')&#10;)&#10;SELECT r.release_id, r.title, l.label_name&#10;  FROM releases AS r&#10; INNER JOIN labels AS l ON r.label_id = l.label_id&#10; ORDER BY r.release_id;"/>
          <p:cNvPicPr>
            <a:picLocks noChangeAspect="1"/>
          </p:cNvPicPr>
          <p:nvPr/>
        </p:nvPicPr>
        <p:blipFill>
          <a:blip r:embed="rId5"/>
          <a:stretch>
            <a:fillRect/>
          </a:stretch>
        </p:blipFill>
        <p:spPr>
          <a:xfrm>
            <a:off x="8090725" y="1793748"/>
            <a:ext cx="3095435" cy="1569827"/>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1.5 JOINS AND UNIONS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JOIN</a:t>
            </a:r>
          </a:p>
        </p:txBody>
      </p:sp>
      <p:sp>
        <p:nvSpPr>
          <p:cNvPr id="14" name="Lead"/>
          <p:cNvSpPr txBox="1"/>
          <p:nvPr/>
        </p:nvSpPr>
        <p:spPr>
          <a:xfrm>
            <a:off x="1005840" y="1367028"/>
            <a:ext cx="10332720" cy="547842"/>
          </a:xfrm>
          <a:prstGeom prst="rect">
            <a:avLst/>
          </a:prstGeom>
          <a:noFill/>
        </p:spPr>
        <p:txBody>
          <a:bodyPr wrap="square" lIns="0" tIns="27432" rIns="0" bIns="27432" anchor="t">
            <a:spAutoFit/>
          </a:bodyPr>
          <a:lstStyle/>
          <a:p>
            <a:pPr>
              <a:spcAft>
                <a:spcPts val="720"/>
              </a:spcAft>
            </a:pPr>
            <a:r>
              <a:rPr sz="1520" b="1" i="0" dirty="0">
                <a:solidFill>
                  <a:srgbClr val="007C85"/>
                </a:solidFill>
                <a:latin typeface="Consolas"/>
              </a:rPr>
              <a:t>LEFT JOIN</a:t>
            </a:r>
            <a:r>
              <a:rPr sz="1600" b="0" i="0" dirty="0">
                <a:solidFill>
                  <a:srgbClr val="000000"/>
                </a:solidFill>
                <a:latin typeface="Arial"/>
              </a:rPr>
              <a:t> returns all rows from the left table and the matching rows from the right one; where there is no match, </a:t>
            </a:r>
            <a:r>
              <a:rPr sz="1520" b="0" i="0" dirty="0">
                <a:solidFill>
                  <a:srgbClr val="007C85"/>
                </a:solidFill>
                <a:latin typeface="Consolas"/>
              </a:rPr>
              <a:t>NULL</a:t>
            </a:r>
            <a:r>
              <a:rPr sz="1600" b="0" i="0" dirty="0">
                <a:solidFill>
                  <a:srgbClr val="000000"/>
                </a:solidFill>
                <a:latin typeface="Arial"/>
              </a:rPr>
              <a:t>:</a:t>
            </a:r>
          </a:p>
        </p:txBody>
      </p:sp>
      <p:pic>
        <p:nvPicPr>
          <p:cNvPr id="15" name="Picture 14" descr="WITH releases(release_id, title, label_id) AS (VALUES&#10;        (1, 'Space Oddity', 1), (2, 'Heroes', 2), (3, 'Blackstar', 9),&#10;        (4, 'Blonde on Blonde', 3), (5, 'Bedroom Demo', NULL), (6, 'Lodger', 2)&#10;),&#10;labels(label_id, label_name) AS (VALUES&#10;        (1, 'Philips'), (2, 'RCA'), (3, 'Columbia'), (4, 'Sub Pop')&#10;)&#10;SELECT r.release_id, r.title, l.label_name&#10;  FROM releases AS r&#10;  LEFT JOIN labels AS l ON r.label_id = l.label_id&#10; ORDER BY r.release_id;"/>
          <p:cNvPicPr>
            <a:picLocks noChangeAspect="1"/>
          </p:cNvPicPr>
          <p:nvPr/>
        </p:nvPicPr>
        <p:blipFill>
          <a:blip r:embed="rId4"/>
          <a:stretch>
            <a:fillRect/>
          </a:stretch>
        </p:blipFill>
        <p:spPr>
          <a:xfrm>
            <a:off x="837509" y="2649072"/>
            <a:ext cx="6536581" cy="2294060"/>
          </a:xfrm>
          <a:prstGeom prst="rect">
            <a:avLst/>
          </a:prstGeom>
        </p:spPr>
      </p:pic>
      <p:pic>
        <p:nvPicPr>
          <p:cNvPr id="2" name="Picture 1" descr="WITH releases(release_id, title, label_id) AS (VALUES&#10;        (1, 'Space Oddity', 1), (2, 'Heroes', 2), (3, 'Blackstar', 9),&#10;        (4, 'Blonde on Blonde', 3), (5, 'Bedroom Demo', NULL), (6, 'Lodger', 2)&#10;),&#10;labels(label_id, label_name) AS (VALUES&#10;        (1, 'Philips'), (2, 'RCA'), (3, 'Columbia'), (4, 'Sub Pop')&#10;)&#10;SELECT r.release_id, r.title, l.label_name&#10;  FROM releases AS r&#10;  LEFT JOIN labels AS l ON r.label_id = l.label_id&#10; ORDER BY r.release_id;">
            <a:extLst>
              <a:ext uri="{FF2B5EF4-FFF2-40B4-BE49-F238E27FC236}">
                <a16:creationId xmlns:a16="http://schemas.microsoft.com/office/drawing/2014/main" id="{870440C4-F8AB-0E38-4586-709FF0F6DE5E}"/>
              </a:ext>
            </a:extLst>
          </p:cNvPr>
          <p:cNvPicPr>
            <a:picLocks noChangeAspect="1"/>
          </p:cNvPicPr>
          <p:nvPr/>
        </p:nvPicPr>
        <p:blipFill>
          <a:blip r:embed="rId5"/>
          <a:stretch>
            <a:fillRect/>
          </a:stretch>
        </p:blipFill>
        <p:spPr>
          <a:xfrm>
            <a:off x="7742817" y="2449276"/>
            <a:ext cx="4000500" cy="275272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1.5 JOINS AND UNIONS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JOIN</a:t>
            </a:r>
          </a:p>
        </p:txBody>
      </p:sp>
      <p:sp>
        <p:nvSpPr>
          <p:cNvPr id="14" name="Lead"/>
          <p:cNvSpPr txBox="1"/>
          <p:nvPr/>
        </p:nvSpPr>
        <p:spPr>
          <a:xfrm>
            <a:off x="1005840" y="1367028"/>
            <a:ext cx="10332720" cy="670560"/>
          </a:xfrm>
          <a:prstGeom prst="rect">
            <a:avLst/>
          </a:prstGeom>
          <a:noFill/>
        </p:spPr>
        <p:txBody>
          <a:bodyPr wrap="square" lIns="0" tIns="27432" rIns="0" bIns="27432" anchor="t">
            <a:spAutoFit/>
          </a:bodyPr>
          <a:lstStyle/>
          <a:p>
            <a:pPr>
              <a:spcAft>
                <a:spcPts val="720"/>
              </a:spcAft>
            </a:pPr>
            <a:r>
              <a:rPr sz="1520" b="1" i="0">
                <a:solidFill>
                  <a:srgbClr val="007C85"/>
                </a:solidFill>
                <a:latin typeface="Consolas"/>
              </a:rPr>
              <a:t>RIGHT JOIN</a:t>
            </a:r>
            <a:r>
              <a:rPr sz="1600" b="0" i="0">
                <a:solidFill>
                  <a:srgbClr val="000000"/>
                </a:solidFill>
                <a:latin typeface="Arial"/>
              </a:rPr>
              <a:t> is the mirror image — all rows from the right table plus matches from the left. It shows which labels exist even if they have no releases:</a:t>
            </a:r>
          </a:p>
        </p:txBody>
      </p:sp>
      <p:pic>
        <p:nvPicPr>
          <p:cNvPr id="15" name="Picture 14" descr="WITH releases(release_id, title, label_id) AS (VALUES&#10;        (1, 'Space Oddity', 1), (2, 'Heroes', 2), (3, 'Blackstar', 9),&#10;        (4, 'Blonde on Blonde', 3), (5, 'Bedroom Demo', NULL), (6, 'Lodger', 2)&#10;),&#10;labels(label_id, label_name) AS (VALUES&#10;        (1, 'Philips'), (2, 'RCA'), (3, 'Columbia'), (4, 'Sub Pop')&#10;)&#10;SELECT r.release_id, r.title, l.label_name&#10;  FROM releases AS r&#10; RIGHT JOIN labels AS l ON r.label_id = l.label_id&#10; ORDER BY l.label_name;"/>
          <p:cNvPicPr>
            <a:picLocks noChangeAspect="1"/>
          </p:cNvPicPr>
          <p:nvPr/>
        </p:nvPicPr>
        <p:blipFill>
          <a:blip r:embed="rId4"/>
          <a:stretch>
            <a:fillRect/>
          </a:stretch>
        </p:blipFill>
        <p:spPr>
          <a:xfrm>
            <a:off x="1005840" y="2129028"/>
            <a:ext cx="6960884" cy="2442972"/>
          </a:xfrm>
          <a:prstGeom prst="rect">
            <a:avLst/>
          </a:prstGeom>
        </p:spPr>
      </p:pic>
      <p:pic>
        <p:nvPicPr>
          <p:cNvPr id="2" name="Picture 1" descr="WITH releases(release_id, title, label_id) AS (VALUES&#10;        (1, 'Space Oddity', 1), (2, 'Heroes', 2), (3, 'Blackstar', 9),&#10;        (4, 'Blonde on Blonde', 3), (5, 'Bedroom Demo', NULL), (6, 'Lodger', 2)&#10;),&#10;labels(label_id, label_name) AS (VALUES&#10;        (1, 'Philips'), (2, 'RCA'), (3, 'Columbia'), (4, 'Sub Pop')&#10;)&#10;SELECT r.release_id, r.title, l.label_name&#10;  FROM releases AS r&#10; RIGHT JOIN labels AS l ON r.label_id = l.label_id&#10; ORDER BY l.label_name;">
            <a:extLst>
              <a:ext uri="{FF2B5EF4-FFF2-40B4-BE49-F238E27FC236}">
                <a16:creationId xmlns:a16="http://schemas.microsoft.com/office/drawing/2014/main" id="{85E3AB30-A5B0-3255-AD8E-96FE97FAE0F8}"/>
              </a:ext>
            </a:extLst>
          </p:cNvPr>
          <p:cNvPicPr>
            <a:picLocks noChangeAspect="1"/>
          </p:cNvPicPr>
          <p:nvPr/>
        </p:nvPicPr>
        <p:blipFill>
          <a:blip r:embed="rId5"/>
          <a:stretch>
            <a:fillRect/>
          </a:stretch>
        </p:blipFill>
        <p:spPr>
          <a:xfrm>
            <a:off x="8338764" y="2037588"/>
            <a:ext cx="3337317" cy="199444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1.5 JOINS AND UNIONS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JOIN</a:t>
            </a:r>
          </a:p>
        </p:txBody>
      </p:sp>
      <p:sp>
        <p:nvSpPr>
          <p:cNvPr id="14" name="Lead"/>
          <p:cNvSpPr txBox="1"/>
          <p:nvPr/>
        </p:nvSpPr>
        <p:spPr>
          <a:xfrm>
            <a:off x="1005840" y="1367028"/>
            <a:ext cx="10332720" cy="670560"/>
          </a:xfrm>
          <a:prstGeom prst="rect">
            <a:avLst/>
          </a:prstGeom>
          <a:noFill/>
        </p:spPr>
        <p:txBody>
          <a:bodyPr wrap="square" lIns="0" tIns="27432" rIns="0" bIns="27432" anchor="t">
            <a:spAutoFit/>
          </a:bodyPr>
          <a:lstStyle/>
          <a:p>
            <a:pPr>
              <a:spcAft>
                <a:spcPts val="720"/>
              </a:spcAft>
            </a:pPr>
            <a:r>
              <a:rPr sz="1520" b="1" i="0">
                <a:solidFill>
                  <a:srgbClr val="007C85"/>
                </a:solidFill>
                <a:latin typeface="Consolas"/>
              </a:rPr>
              <a:t>FULL JOIN</a:t>
            </a:r>
            <a:r>
              <a:rPr sz="1600" b="0" i="0">
                <a:solidFill>
                  <a:srgbClr val="000000"/>
                </a:solidFill>
                <a:latin typeface="Arial"/>
              </a:rPr>
              <a:t> returns all rows from both tables, filling the missing values with </a:t>
            </a:r>
            <a:r>
              <a:rPr sz="1520" b="0" i="0">
                <a:solidFill>
                  <a:srgbClr val="007C85"/>
                </a:solidFill>
                <a:latin typeface="Consolas"/>
              </a:rPr>
              <a:t>NULL</a:t>
            </a:r>
            <a:r>
              <a:rPr sz="1600" b="0" i="0">
                <a:solidFill>
                  <a:srgbClr val="000000"/>
                </a:solidFill>
                <a:latin typeface="Arial"/>
              </a:rPr>
              <a:t> — every release </a:t>
            </a:r>
            <a:r>
              <a:rPr sz="1600" b="0" i="1">
                <a:solidFill>
                  <a:srgbClr val="000000"/>
                </a:solidFill>
                <a:latin typeface="Arial"/>
              </a:rPr>
              <a:t>and</a:t>
            </a:r>
            <a:r>
              <a:rPr sz="1600" b="0" i="0">
                <a:solidFill>
                  <a:srgbClr val="000000"/>
                </a:solidFill>
                <a:latin typeface="Arial"/>
              </a:rPr>
              <a:t> every label, matched where possible:</a:t>
            </a:r>
          </a:p>
        </p:txBody>
      </p:sp>
      <p:pic>
        <p:nvPicPr>
          <p:cNvPr id="15" name="Picture 14" descr="WITH releases(release_id, title, label_id) AS (VALUES&#10;        (1, 'Space Oddity', 1), (2, 'Heroes', 2), (3, 'Blackstar', 9),&#10;        (4, 'Blonde on Blonde', 3), (5, 'Bedroom Demo', NULL), (6, 'Lodger', 2)&#10;),&#10;labels(label_id, label_name) AS (VALUES&#10;        (1, 'Philips'), (2, 'RCA'), (3, 'Columbia'), (4, 'Sub Pop')&#10;)&#10;SELECT r.release_id, r.title, l.label_name&#10;  FROM releases AS r&#10;  FULL JOIN labels AS l ON r.label_id = l.label_id&#10; ORDER BY r.release_id NULLS LAST;"/>
          <p:cNvPicPr>
            <a:picLocks noChangeAspect="1"/>
          </p:cNvPicPr>
          <p:nvPr/>
        </p:nvPicPr>
        <p:blipFill>
          <a:blip r:embed="rId4"/>
          <a:stretch>
            <a:fillRect/>
          </a:stretch>
        </p:blipFill>
        <p:spPr>
          <a:xfrm>
            <a:off x="1005840" y="2129028"/>
            <a:ext cx="6003001" cy="2106796"/>
          </a:xfrm>
          <a:prstGeom prst="rect">
            <a:avLst/>
          </a:prstGeom>
        </p:spPr>
      </p:pic>
      <p:pic>
        <p:nvPicPr>
          <p:cNvPr id="2" name="Picture 1" descr="WITH releases(release_id, title, label_id) AS (VALUES&#10;        (1, 'Space Oddity', 1), (2, 'Heroes', 2), (3, 'Blackstar', 9),&#10;        (4, 'Blonde on Blonde', 3), (5, 'Bedroom Demo', NULL), (6, 'Lodger', 2)&#10;),&#10;labels(label_id, label_name) AS (VALUES&#10;        (1, 'Philips'), (2, 'RCA'), (3, 'Columbia'), (4, 'Sub Pop')&#10;)&#10;SELECT r.release_id, r.title, l.label_name&#10;  FROM releases AS r&#10;  FULL JOIN labels AS l ON r.label_id = l.label_id&#10; ORDER BY r.release_id NULLS LAST;">
            <a:extLst>
              <a:ext uri="{FF2B5EF4-FFF2-40B4-BE49-F238E27FC236}">
                <a16:creationId xmlns:a16="http://schemas.microsoft.com/office/drawing/2014/main" id="{13382A3D-6CEA-548F-75B1-A18D35FA2661}"/>
              </a:ext>
            </a:extLst>
          </p:cNvPr>
          <p:cNvPicPr>
            <a:picLocks noChangeAspect="1"/>
          </p:cNvPicPr>
          <p:nvPr/>
        </p:nvPicPr>
        <p:blipFill>
          <a:blip r:embed="rId5"/>
          <a:stretch>
            <a:fillRect/>
          </a:stretch>
        </p:blipFill>
        <p:spPr>
          <a:xfrm>
            <a:off x="8138211" y="2037587"/>
            <a:ext cx="3047950" cy="2373047"/>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1.5 JOINS AND UNIONS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Special types of JOIN</a:t>
            </a:r>
          </a:p>
        </p:txBody>
      </p:sp>
      <p:sp>
        <p:nvSpPr>
          <p:cNvPr id="14" name="Lead"/>
          <p:cNvSpPr txBox="1"/>
          <p:nvPr/>
        </p:nvSpPr>
        <p:spPr>
          <a:xfrm>
            <a:off x="1005840" y="1367028"/>
            <a:ext cx="3108960" cy="2133600"/>
          </a:xfrm>
          <a:prstGeom prst="rect">
            <a:avLst/>
          </a:prstGeom>
          <a:noFill/>
        </p:spPr>
        <p:txBody>
          <a:bodyPr wrap="square" lIns="0" tIns="27432" rIns="0" bIns="27432" anchor="t">
            <a:spAutoFit/>
          </a:bodyPr>
          <a:lstStyle/>
          <a:p>
            <a:pPr>
              <a:spcAft>
                <a:spcPts val="720"/>
              </a:spcAft>
            </a:pPr>
            <a:r>
              <a:rPr sz="1520" b="1" i="0">
                <a:solidFill>
                  <a:srgbClr val="007C85"/>
                </a:solidFill>
                <a:latin typeface="Consolas"/>
              </a:rPr>
              <a:t>CROSS JOIN</a:t>
            </a:r>
            <a:r>
              <a:rPr sz="1600" b="0" i="0">
                <a:solidFill>
                  <a:srgbClr val="000000"/>
                </a:solidFill>
                <a:latin typeface="Arial"/>
              </a:rPr>
              <a:t> — a join without a condition, producing the Cartesian product of two tables. Useful when every row of one table must be matched with every row of another, but dangerous: the row count grows multiplicatively.</a:t>
            </a:r>
          </a:p>
        </p:txBody>
      </p:sp>
      <p:pic>
        <p:nvPicPr>
          <p:cNvPr id="15" name="Picture 14" descr="WITH top3 AS (&#10;    SELECT name FROM tracks ORDER BY popularity DESC, name LIMIT 3&#10;)&#10;SELECT a.name AS track_1, b.name AS track_2&#10;  FROM top3 AS a&#10; CROSS JOIN top3 AS b&#10; WHERE a.name &lt;&gt; b.name&#10; ORDER BY 1, 2;"/>
          <p:cNvPicPr>
            <a:picLocks noChangeAspect="1"/>
          </p:cNvPicPr>
          <p:nvPr/>
        </p:nvPicPr>
        <p:blipFill>
          <a:blip r:embed="rId4"/>
          <a:stretch>
            <a:fillRect/>
          </a:stretch>
        </p:blipFill>
        <p:spPr>
          <a:xfrm>
            <a:off x="4480560" y="1367028"/>
            <a:ext cx="6858000" cy="2144980"/>
          </a:xfrm>
          <a:prstGeom prst="rect">
            <a:avLst/>
          </a:prstGeom>
        </p:spPr>
      </p:pic>
      <p:pic>
        <p:nvPicPr>
          <p:cNvPr id="16" name="Picture 15" descr="WITH top3 AS (&#10;    SELECT name FROM tracks ORDER BY popularity DESC, name LIMIT 3&#10;)&#10;SELECT a.name AS track_1, b.name AS track_2&#10;  FROM top3 AS a&#10; CROSS JOIN top3 AS b&#10; WHERE a.name &lt;&gt; b.name&#10; ORDER BY 1, 2;"/>
          <p:cNvPicPr>
            <a:picLocks noChangeAspect="1"/>
          </p:cNvPicPr>
          <p:nvPr/>
        </p:nvPicPr>
        <p:blipFill>
          <a:blip r:embed="rId5"/>
          <a:stretch>
            <a:fillRect/>
          </a:stretch>
        </p:blipFill>
        <p:spPr>
          <a:xfrm>
            <a:off x="4480560" y="3740608"/>
            <a:ext cx="5388428" cy="214498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1.5 JOINS AND UNIONS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Special types of JOIN</a:t>
            </a:r>
          </a:p>
        </p:txBody>
      </p:sp>
      <p:sp>
        <p:nvSpPr>
          <p:cNvPr id="14" name="Lead"/>
          <p:cNvSpPr txBox="1"/>
          <p:nvPr/>
        </p:nvSpPr>
        <p:spPr>
          <a:xfrm>
            <a:off x="1005840" y="1367028"/>
            <a:ext cx="10332720" cy="124968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Three rows crossed with three rows give nine, less the three where a track meets itself. Do this to </a:t>
            </a:r>
            <a:r>
              <a:rPr sz="1520" b="0" i="0">
                <a:solidFill>
                  <a:srgbClr val="007C85"/>
                </a:solidFill>
                <a:latin typeface="Consolas"/>
              </a:rPr>
              <a:t>tracks</a:t>
            </a:r>
            <a:r>
              <a:rPr sz="1600" b="0" i="0">
                <a:solidFill>
                  <a:srgbClr val="000000"/>
                </a:solidFill>
                <a:latin typeface="Arial"/>
              </a:rPr>
              <a:t> unfiltered and you ask for 3.6 billion rows.</a:t>
            </a:r>
          </a:p>
          <a:p>
            <a:pPr>
              <a:spcAft>
                <a:spcPts val="720"/>
              </a:spcAft>
            </a:pPr>
            <a:r>
              <a:rPr sz="1520" b="1" i="0">
                <a:solidFill>
                  <a:srgbClr val="007C85"/>
                </a:solidFill>
                <a:latin typeface="Consolas"/>
              </a:rPr>
              <a:t>SELF JOIN</a:t>
            </a:r>
            <a:r>
              <a:rPr sz="1600" b="0" i="0">
                <a:solidFill>
                  <a:srgbClr val="000000"/>
                </a:solidFill>
                <a:latin typeface="Arial"/>
              </a:rPr>
              <a:t> — joining a table with itself. </a:t>
            </a:r>
            <a:r>
              <a:rPr sz="1520" b="0" i="0">
                <a:solidFill>
                  <a:srgbClr val="007C85"/>
                </a:solidFill>
                <a:latin typeface="Consolas"/>
              </a:rPr>
              <a:t>artist_related</a:t>
            </a:r>
            <a:r>
              <a:rPr sz="1600" b="0" i="0">
                <a:solidFill>
                  <a:srgbClr val="000000"/>
                </a:solidFill>
                <a:latin typeface="Arial"/>
              </a:rPr>
              <a:t> links artists to artists, so reading it means joining </a:t>
            </a:r>
            <a:r>
              <a:rPr sz="1520" b="0" i="0">
                <a:solidFill>
                  <a:srgbClr val="007C85"/>
                </a:solidFill>
                <a:latin typeface="Consolas"/>
              </a:rPr>
              <a:t>artists</a:t>
            </a:r>
            <a:r>
              <a:rPr sz="1600" b="0" i="0">
                <a:solidFill>
                  <a:srgbClr val="000000"/>
                </a:solidFill>
                <a:latin typeface="Arial"/>
              </a:rPr>
              <a:t> twice:</a:t>
            </a:r>
          </a:p>
        </p:txBody>
      </p:sp>
      <p:pic>
        <p:nvPicPr>
          <p:cNvPr id="15" name="Picture 14" descr="SELECT a.name AS artist,&#10;       r.name AS also_liked&#10;  FROM artist_related AS ar&#10;  JOIN artists AS a ON a.id = ar.artist_id&#10;  JOIN artists AS r ON r.id = ar.related_artist_id&#10; WHERE a.name = 'David Bowie'&#10; ORDER BY ar.position&#10; LIMIT 8;"/>
          <p:cNvPicPr>
            <a:picLocks noChangeAspect="1"/>
          </p:cNvPicPr>
          <p:nvPr/>
        </p:nvPicPr>
        <p:blipFill>
          <a:blip r:embed="rId4"/>
          <a:stretch>
            <a:fillRect/>
          </a:stretch>
        </p:blipFill>
        <p:spPr>
          <a:xfrm>
            <a:off x="1005840" y="2708148"/>
            <a:ext cx="6700270" cy="2719632"/>
          </a:xfrm>
          <a:prstGeom prst="rect">
            <a:avLst/>
          </a:prstGeom>
        </p:spPr>
      </p:pic>
      <p:pic>
        <p:nvPicPr>
          <p:cNvPr id="16" name="Picture 15" descr="SELECT a.name AS artist,&#10;       r.name AS also_liked&#10;  FROM artist_related AS ar&#10;  JOIN artists AS a ON a.id = ar.artist_id&#10;  JOIN artists AS r ON r.id = ar.related_artist_id&#10; WHERE a.name = 'David Bowie'&#10; ORDER BY ar.position&#10; LIMIT 8;"/>
          <p:cNvPicPr>
            <a:picLocks noChangeAspect="1"/>
          </p:cNvPicPr>
          <p:nvPr/>
        </p:nvPicPr>
        <p:blipFill>
          <a:blip r:embed="rId5"/>
          <a:stretch>
            <a:fillRect/>
          </a:stretch>
        </p:blipFill>
        <p:spPr>
          <a:xfrm>
            <a:off x="7934710" y="2708148"/>
            <a:ext cx="3406598" cy="3425419"/>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1.5 JOINS AND UNIONS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Special types of JOIN</a:t>
            </a:r>
          </a:p>
        </p:txBody>
      </p:sp>
      <p:sp>
        <p:nvSpPr>
          <p:cNvPr id="14" name="Lead"/>
          <p:cNvSpPr txBox="1"/>
          <p:nvPr/>
        </p:nvSpPr>
        <p:spPr>
          <a:xfrm>
            <a:off x="1005840" y="1367028"/>
            <a:ext cx="3108960" cy="2133600"/>
          </a:xfrm>
          <a:prstGeom prst="rect">
            <a:avLst/>
          </a:prstGeom>
          <a:noFill/>
        </p:spPr>
        <p:txBody>
          <a:bodyPr wrap="square" lIns="0" tIns="27432" rIns="0" bIns="27432" anchor="t">
            <a:spAutoFit/>
          </a:bodyPr>
          <a:lstStyle/>
          <a:p>
            <a:pPr>
              <a:spcAft>
                <a:spcPts val="720"/>
              </a:spcAft>
            </a:pPr>
            <a:r>
              <a:rPr sz="1600" b="1" i="0">
                <a:solidFill>
                  <a:srgbClr val="000000"/>
                </a:solidFill>
                <a:latin typeface="Arial"/>
              </a:rPr>
              <a:t>Anti-join</a:t>
            </a:r>
            <a:r>
              <a:rPr sz="1600" b="0" i="0">
                <a:solidFill>
                  <a:srgbClr val="000000"/>
                </a:solidFill>
                <a:latin typeface="Arial"/>
              </a:rPr>
              <a:t> — not an official join type, but a common pattern: rows in one table with no match in another. Our sample has 1,099 tracks whose credited artist was missing from the source, and this is how you find them:</a:t>
            </a:r>
          </a:p>
        </p:txBody>
      </p:sp>
      <p:pic>
        <p:nvPicPr>
          <p:cNvPr id="15" name="Picture 14" descr="SELECT t.name, t.release_date, t.popularity&#10;  FROM tracks AS t&#10;  LEFT JOIN track_artists AS ta ON ta.track_id = t.id&#10; WHERE ta.track_id IS NULL&#10; ORDER BY t.popularity DESC&#10; LIMIT 5;"/>
          <p:cNvPicPr>
            <a:picLocks noChangeAspect="1"/>
          </p:cNvPicPr>
          <p:nvPr/>
        </p:nvPicPr>
        <p:blipFill>
          <a:blip r:embed="rId4"/>
          <a:stretch>
            <a:fillRect/>
          </a:stretch>
        </p:blipFill>
        <p:spPr>
          <a:xfrm>
            <a:off x="4480560" y="1367028"/>
            <a:ext cx="6858000" cy="2051928"/>
          </a:xfrm>
          <a:prstGeom prst="rect">
            <a:avLst/>
          </a:prstGeom>
        </p:spPr>
      </p:pic>
      <p:pic>
        <p:nvPicPr>
          <p:cNvPr id="16" name="Picture 15" descr="SELECT t.name, t.release_date, t.popularity&#10;  FROM tracks AS t&#10;  LEFT JOIN track_artists AS ta ON ta.track_id = t.id&#10; WHERE ta.track_id IS NULL&#10; ORDER BY t.popularity DESC&#10; LIMIT 5;"/>
          <p:cNvPicPr>
            <a:picLocks noChangeAspect="1"/>
          </p:cNvPicPr>
          <p:nvPr/>
        </p:nvPicPr>
        <p:blipFill>
          <a:blip r:embed="rId5"/>
          <a:stretch>
            <a:fillRect/>
          </a:stretch>
        </p:blipFill>
        <p:spPr>
          <a:xfrm>
            <a:off x="4480560" y="3647556"/>
            <a:ext cx="4368327" cy="228903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close-up of a colorful background&#10;&#10;AI-generated content may be incorrect.">
            <a:extLst>
              <a:ext uri="{FF2B5EF4-FFF2-40B4-BE49-F238E27FC236}">
                <a16:creationId xmlns:a16="http://schemas.microsoft.com/office/drawing/2014/main" id="{FB6389BF-F4D2-40D5-62DD-3C105EE3C230}"/>
              </a:ext>
            </a:extLst>
          </p:cNvPr>
          <p:cNvPicPr>
            <a:picLocks noChangeAspect="1"/>
          </p:cNvPicPr>
          <p:nvPr/>
        </p:nvPicPr>
        <p:blipFill>
          <a:blip r:embed="rId2"/>
          <a:stretch>
            <a:fillRect/>
          </a:stretch>
        </p:blipFill>
        <p:spPr>
          <a:xfrm>
            <a:off x="0" y="0"/>
            <a:ext cx="12188952" cy="6856286"/>
          </a:xfrm>
          <a:prstGeom prst="rect">
            <a:avLst/>
          </a:prstGeom>
        </p:spPr>
      </p:pic>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5" name="Picture 14" descr="A black background with a black square&#10;&#10;AI-generated content may be incorrect.">
            <a:extLst>
              <a:ext uri="{FF2B5EF4-FFF2-40B4-BE49-F238E27FC236}">
                <a16:creationId xmlns:a16="http://schemas.microsoft.com/office/drawing/2014/main" id="{4501C81A-DBE5-E6A0-4619-C2A3D5341FF3}"/>
              </a:ext>
            </a:extLst>
          </p:cNvPr>
          <p:cNvPicPr>
            <a:picLocks noChangeAspect="1"/>
          </p:cNvPicPr>
          <p:nvPr/>
        </p:nvPicPr>
        <p:blipFill>
          <a:blip r:embed="rId3"/>
          <a:stretch>
            <a:fillRect/>
          </a:stretch>
        </p:blipFill>
        <p:spPr>
          <a:xfrm>
            <a:off x="205078" y="262042"/>
            <a:ext cx="332804" cy="332804"/>
          </a:xfrm>
          <a:prstGeom prst="rect">
            <a:avLst/>
          </a:prstGeom>
        </p:spPr>
      </p:pic>
      <p:sp>
        <p:nvSpPr>
          <p:cNvPr id="16" name="Title"/>
          <p:cNvSpPr txBox="1"/>
          <p:nvPr/>
        </p:nvSpPr>
        <p:spPr>
          <a:xfrm>
            <a:off x="548640" y="1188720"/>
            <a:ext cx="5120640" cy="1286506"/>
          </a:xfrm>
          <a:prstGeom prst="rect">
            <a:avLst/>
          </a:prstGeom>
          <a:noFill/>
        </p:spPr>
        <p:txBody>
          <a:bodyPr wrap="square" lIns="0" tIns="27432" rIns="0" bIns="27432" anchor="t">
            <a:spAutoFit/>
          </a:bodyPr>
          <a:lstStyle/>
          <a:p>
            <a:r>
              <a:rPr sz="4000" b="1" i="0" dirty="0">
                <a:solidFill>
                  <a:srgbClr val="000000"/>
                </a:solidFill>
                <a:latin typeface="Arial"/>
              </a:rPr>
              <a:t>ACID and the execution plan</a:t>
            </a:r>
          </a:p>
        </p:txBody>
      </p:sp>
      <p:sp>
        <p:nvSpPr>
          <p:cNvPr id="17" name="Body"/>
          <p:cNvSpPr txBox="1"/>
          <p:nvPr/>
        </p:nvSpPr>
        <p:spPr>
          <a:xfrm>
            <a:off x="548640" y="2722880"/>
            <a:ext cx="5120640" cy="3632200"/>
          </a:xfrm>
          <a:prstGeom prst="rect">
            <a:avLst/>
          </a:prstGeom>
          <a:noFill/>
        </p:spPr>
        <p:txBody>
          <a:bodyPr wrap="square" lIns="0" tIns="27432" rIns="0" bIns="27432" anchor="t">
            <a:spAutoFit/>
          </a:bodyPr>
          <a:lstStyle/>
          <a:p>
            <a:pPr marL="292608" indent="-292608">
              <a:spcAft>
                <a:spcPts val="810"/>
              </a:spcAft>
              <a:buFont typeface="Arial"/>
              <a:buChar char="•"/>
            </a:pPr>
            <a:r>
              <a:rPr sz="1800" b="0" i="0">
                <a:solidFill>
                  <a:srgbClr val="000000"/>
                </a:solidFill>
                <a:latin typeface="Arial"/>
              </a:rPr>
              <a:t>ACID</a:t>
            </a:r>
          </a:p>
          <a:p>
            <a:pPr marL="292608" indent="-292608">
              <a:spcAft>
                <a:spcPts val="810"/>
              </a:spcAft>
              <a:buFont typeface="Arial"/>
              <a:buChar char="•"/>
            </a:pPr>
            <a:r>
              <a:rPr sz="1800" b="0" i="0">
                <a:solidFill>
                  <a:srgbClr val="000000"/>
                </a:solidFill>
                <a:latin typeface="Arial"/>
              </a:rPr>
              <a:t>Order of execution of clauses</a:t>
            </a:r>
          </a:p>
          <a:p>
            <a:pPr marL="292608" indent="-292608">
              <a:spcAft>
                <a:spcPts val="810"/>
              </a:spcAft>
              <a:buFont typeface="Arial"/>
              <a:buChar char="•"/>
            </a:pPr>
            <a:r>
              <a:rPr sz="1800" b="0" i="0">
                <a:solidFill>
                  <a:srgbClr val="000000"/>
                </a:solidFill>
                <a:latin typeface="Arial"/>
              </a:rPr>
              <a:t>The execution plan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2"/>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1.6 ACID AND THE EXECUTION PLAN</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ACID</a:t>
            </a:r>
          </a:p>
        </p:txBody>
      </p:sp>
      <p:sp>
        <p:nvSpPr>
          <p:cNvPr id="14" name="Body"/>
          <p:cNvSpPr txBox="1"/>
          <p:nvPr/>
        </p:nvSpPr>
        <p:spPr>
          <a:xfrm>
            <a:off x="1005840" y="1367028"/>
            <a:ext cx="10332720" cy="4988052"/>
          </a:xfrm>
          <a:prstGeom prst="rect">
            <a:avLst/>
          </a:prstGeom>
          <a:noFill/>
        </p:spPr>
        <p:txBody>
          <a:bodyPr wrap="square" lIns="0" tIns="27432" rIns="0" bIns="27432" anchor="t">
            <a:spAutoFit/>
          </a:bodyPr>
          <a:lstStyle/>
          <a:p>
            <a:pPr>
              <a:spcAft>
                <a:spcPts val="810"/>
              </a:spcAft>
            </a:pPr>
            <a:r>
              <a:rPr sz="1800" b="0" i="0">
                <a:solidFill>
                  <a:srgbClr val="000000"/>
                </a:solidFill>
                <a:latin typeface="Arial"/>
              </a:rPr>
              <a:t>ACID is the set of four guarantees a transactional DBMS gives:</a:t>
            </a:r>
          </a:p>
          <a:p>
            <a:pPr marL="292608" indent="-292608">
              <a:spcAft>
                <a:spcPts val="810"/>
              </a:spcAft>
              <a:buFont typeface="Arial"/>
              <a:buChar char="•"/>
            </a:pPr>
            <a:r>
              <a:rPr sz="1800" b="1" i="0">
                <a:solidFill>
                  <a:srgbClr val="000000"/>
                </a:solidFill>
                <a:latin typeface="Arial"/>
              </a:rPr>
              <a:t>Atomicity</a:t>
            </a:r>
            <a:r>
              <a:rPr sz="1800" b="0" i="0">
                <a:solidFill>
                  <a:srgbClr val="000000"/>
                </a:solidFill>
                <a:latin typeface="Arial"/>
              </a:rPr>
              <a:t> — a transaction is all-or-nothing. There is no state in which half of its statements have been applied.</a:t>
            </a:r>
          </a:p>
          <a:p>
            <a:pPr marL="292608" indent="-292608">
              <a:spcAft>
                <a:spcPts val="810"/>
              </a:spcAft>
              <a:buFont typeface="Arial"/>
              <a:buChar char="•"/>
            </a:pPr>
            <a:r>
              <a:rPr sz="1800" b="1" i="0">
                <a:solidFill>
                  <a:srgbClr val="000000"/>
                </a:solidFill>
                <a:latin typeface="Arial"/>
              </a:rPr>
              <a:t>Consistency</a:t>
            </a:r>
            <a:r>
              <a:rPr sz="1800" b="0" i="0">
                <a:solidFill>
                  <a:srgbClr val="000000"/>
                </a:solidFill>
                <a:latin typeface="Arial"/>
              </a:rPr>
              <a:t> — a transaction moves the database from one valid state to another; all constraints (primary and foreign keys, </a:t>
            </a:r>
            <a:r>
              <a:rPr sz="1709" b="0" i="0">
                <a:solidFill>
                  <a:srgbClr val="007C85"/>
                </a:solidFill>
                <a:latin typeface="Consolas"/>
              </a:rPr>
              <a:t>CHECK</a:t>
            </a:r>
            <a:r>
              <a:rPr sz="1800" b="0" i="0">
                <a:solidFill>
                  <a:srgbClr val="000000"/>
                </a:solidFill>
                <a:latin typeface="Arial"/>
              </a:rPr>
              <a:t>, </a:t>
            </a:r>
            <a:r>
              <a:rPr sz="1709" b="0" i="0">
                <a:solidFill>
                  <a:srgbClr val="007C85"/>
                </a:solidFill>
                <a:latin typeface="Consolas"/>
              </a:rPr>
              <a:t>NOT NULL</a:t>
            </a:r>
            <a:r>
              <a:rPr sz="1800" b="0" i="0">
                <a:solidFill>
                  <a:srgbClr val="000000"/>
                </a:solidFill>
                <a:latin typeface="Arial"/>
              </a:rPr>
              <a:t>) hold before and after it. Our </a:t>
            </a:r>
            <a:r>
              <a:rPr sz="1709" b="0" i="0">
                <a:solidFill>
                  <a:srgbClr val="007C85"/>
                </a:solidFill>
                <a:latin typeface="Consolas"/>
              </a:rPr>
              <a:t>track_artists.artist_id</a:t>
            </a:r>
            <a:r>
              <a:rPr sz="1800" b="0" i="0">
                <a:solidFill>
                  <a:srgbClr val="000000"/>
                </a:solidFill>
                <a:latin typeface="Arial"/>
              </a:rPr>
              <a:t> has a foreign key to </a:t>
            </a:r>
            <a:r>
              <a:rPr sz="1709" b="0" i="0">
                <a:solidFill>
                  <a:srgbClr val="007C85"/>
                </a:solidFill>
                <a:latin typeface="Consolas"/>
              </a:rPr>
              <a:t>artists</a:t>
            </a:r>
            <a:r>
              <a:rPr sz="1800" b="0" i="0">
                <a:solidFill>
                  <a:srgbClr val="000000"/>
                </a:solidFill>
                <a:latin typeface="Arial"/>
              </a:rPr>
              <a:t>, so the database will simply refuse a credit for an artist that does not exist.</a:t>
            </a:r>
          </a:p>
          <a:p>
            <a:pPr marL="292608" indent="-292608">
              <a:spcAft>
                <a:spcPts val="810"/>
              </a:spcAft>
              <a:buFont typeface="Arial"/>
              <a:buChar char="•"/>
            </a:pPr>
            <a:r>
              <a:rPr sz="1800" b="1" i="0">
                <a:solidFill>
                  <a:srgbClr val="000000"/>
                </a:solidFill>
                <a:latin typeface="Arial"/>
              </a:rPr>
              <a:t>Isolation</a:t>
            </a:r>
            <a:r>
              <a:rPr sz="1800" b="0" i="0">
                <a:solidFill>
                  <a:srgbClr val="000000"/>
                </a:solidFill>
                <a:latin typeface="Arial"/>
              </a:rPr>
              <a:t> — concurrent transactions do not see each other's intermediate results. How strictly is governed by the </a:t>
            </a:r>
            <a:r>
              <a:rPr sz="1800" b="1" i="0">
                <a:solidFill>
                  <a:srgbClr val="000000"/>
                </a:solidFill>
                <a:latin typeface="Arial"/>
              </a:rPr>
              <a:t>isolation level</a:t>
            </a:r>
            <a:r>
              <a:rPr sz="1800" b="0" i="0">
                <a:solidFill>
                  <a:srgbClr val="000000"/>
                </a:solidFill>
                <a:latin typeface="Arial"/>
              </a:rPr>
              <a:t>: </a:t>
            </a:r>
            <a:r>
              <a:rPr sz="1709" b="0" i="0">
                <a:solidFill>
                  <a:srgbClr val="007C85"/>
                </a:solidFill>
                <a:latin typeface="Consolas"/>
              </a:rPr>
              <a:t>READ UNCOMMITTED</a:t>
            </a:r>
            <a:r>
              <a:rPr sz="1800" b="0" i="0">
                <a:solidFill>
                  <a:srgbClr val="000000"/>
                </a:solidFill>
                <a:latin typeface="Arial"/>
              </a:rPr>
              <a:t>, </a:t>
            </a:r>
            <a:r>
              <a:rPr sz="1709" b="0" i="0">
                <a:solidFill>
                  <a:srgbClr val="007C85"/>
                </a:solidFill>
                <a:latin typeface="Consolas"/>
              </a:rPr>
              <a:t>READ COMMITTED</a:t>
            </a:r>
            <a:r>
              <a:rPr sz="1800" b="0" i="0">
                <a:solidFill>
                  <a:srgbClr val="000000"/>
                </a:solidFill>
                <a:latin typeface="Arial"/>
              </a:rPr>
              <a:t> (the PostgreSQL default), </a:t>
            </a:r>
            <a:r>
              <a:rPr sz="1709" b="0" i="0">
                <a:solidFill>
                  <a:srgbClr val="007C85"/>
                </a:solidFill>
                <a:latin typeface="Consolas"/>
              </a:rPr>
              <a:t>REPEATABLE READ</a:t>
            </a:r>
            <a:r>
              <a:rPr sz="1800" b="0" i="0">
                <a:solidFill>
                  <a:srgbClr val="000000"/>
                </a:solidFill>
                <a:latin typeface="Arial"/>
              </a:rPr>
              <a:t>, </a:t>
            </a:r>
            <a:r>
              <a:rPr sz="1709" b="0" i="0">
                <a:solidFill>
                  <a:srgbClr val="007C85"/>
                </a:solidFill>
                <a:latin typeface="Consolas"/>
              </a:rPr>
              <a:t>SERIALIZABLE</a:t>
            </a:r>
            <a:r>
              <a:rPr sz="1800" b="0" i="0">
                <a:solidFill>
                  <a:srgbClr val="000000"/>
                </a:solidFill>
                <a:latin typeface="Arial"/>
              </a:rPr>
              <a:t>. The stricter the level, the fewer the anomalies (dirty reads, non-repeatable reads, phantom reads) and the higher the cost in concurrency.</a:t>
            </a:r>
          </a:p>
          <a:p>
            <a:pPr marL="292608" indent="-292608">
              <a:spcAft>
                <a:spcPts val="810"/>
              </a:spcAft>
              <a:buFont typeface="Arial"/>
              <a:buChar char="•"/>
            </a:pPr>
            <a:r>
              <a:rPr sz="1800" b="1" i="0">
                <a:solidFill>
                  <a:srgbClr val="000000"/>
                </a:solidFill>
                <a:latin typeface="Arial"/>
              </a:rPr>
              <a:t>Durability</a:t>
            </a:r>
            <a:r>
              <a:rPr sz="1800" b="0" i="0">
                <a:solidFill>
                  <a:srgbClr val="000000"/>
                </a:solidFill>
                <a:latin typeface="Arial"/>
              </a:rPr>
              <a:t> — once </a:t>
            </a:r>
            <a:r>
              <a:rPr sz="1709" b="0" i="0">
                <a:solidFill>
                  <a:srgbClr val="007C85"/>
                </a:solidFill>
                <a:latin typeface="Consolas"/>
              </a:rPr>
              <a:t>COMMIT</a:t>
            </a:r>
            <a:r>
              <a:rPr sz="1800" b="0" i="0">
                <a:solidFill>
                  <a:srgbClr val="000000"/>
                </a:solidFill>
                <a:latin typeface="Arial"/>
              </a:rPr>
              <a:t> returns, the data survives a crash or a power failure, because it has been written to the transaction log on disk.</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2"/>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1.6 ACID AND THE EXECUTION PLAN</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Order of execution of clauses</a:t>
            </a:r>
          </a:p>
        </p:txBody>
      </p:sp>
      <p:sp>
        <p:nvSpPr>
          <p:cNvPr id="14" name="Body"/>
          <p:cNvSpPr txBox="1"/>
          <p:nvPr/>
        </p:nvSpPr>
        <p:spPr>
          <a:xfrm>
            <a:off x="1005840" y="1367028"/>
            <a:ext cx="10332720" cy="4988052"/>
          </a:xfrm>
          <a:prstGeom prst="rect">
            <a:avLst/>
          </a:prstGeom>
          <a:noFill/>
        </p:spPr>
        <p:txBody>
          <a:bodyPr wrap="square" lIns="0" tIns="27432" rIns="0" bIns="27432" anchor="t">
            <a:spAutoFit/>
          </a:bodyPr>
          <a:lstStyle/>
          <a:p>
            <a:pPr>
              <a:spcAft>
                <a:spcPts val="810"/>
              </a:spcAft>
            </a:pPr>
            <a:r>
              <a:rPr sz="1800" b="0" i="0">
                <a:solidFill>
                  <a:srgbClr val="000000"/>
                </a:solidFill>
                <a:latin typeface="Arial"/>
              </a:rPr>
              <a:t>We write an SQL query in one order and the DBMS executes it in another. The logical order of execution is:</a:t>
            </a:r>
          </a:p>
          <a:p>
            <a:pPr marL="292608" indent="-292608">
              <a:spcAft>
                <a:spcPts val="810"/>
              </a:spcAft>
              <a:buFont typeface="Arial"/>
              <a:buAutoNum type="arabicPeriod"/>
            </a:pPr>
            <a:r>
              <a:rPr sz="1800" b="1" i="0">
                <a:solidFill>
                  <a:srgbClr val="000000"/>
                </a:solidFill>
                <a:latin typeface="Arial"/>
              </a:rPr>
              <a:t>FROM</a:t>
            </a:r>
            <a:r>
              <a:rPr sz="1800" b="0" i="0">
                <a:solidFill>
                  <a:srgbClr val="000000"/>
                </a:solidFill>
                <a:latin typeface="Arial"/>
              </a:rPr>
              <a:t> — the engine determines which tables the data will be taken from.</a:t>
            </a:r>
          </a:p>
          <a:p>
            <a:pPr marL="292608" indent="-292608">
              <a:spcAft>
                <a:spcPts val="810"/>
              </a:spcAft>
              <a:buFont typeface="Arial"/>
              <a:buAutoNum type="arabicPeriod" startAt="2"/>
            </a:pPr>
            <a:r>
              <a:rPr sz="1800" b="1" i="0">
                <a:solidFill>
                  <a:srgbClr val="000000"/>
                </a:solidFill>
                <a:latin typeface="Arial"/>
              </a:rPr>
              <a:t>ON</a:t>
            </a:r>
            <a:r>
              <a:rPr sz="1800" b="0" i="0">
                <a:solidFill>
                  <a:srgbClr val="000000"/>
                </a:solidFill>
                <a:latin typeface="Arial"/>
              </a:rPr>
              <a:t> — the join conditions are processed; filtering happens before the join itself.</a:t>
            </a:r>
          </a:p>
          <a:p>
            <a:pPr marL="292608" indent="-292608">
              <a:spcAft>
                <a:spcPts val="810"/>
              </a:spcAft>
              <a:buFont typeface="Arial"/>
              <a:buAutoNum type="arabicPeriod" startAt="3"/>
            </a:pPr>
            <a:r>
              <a:rPr sz="1800" b="1" i="0">
                <a:solidFill>
                  <a:srgbClr val="000000"/>
                </a:solidFill>
                <a:latin typeface="Arial"/>
              </a:rPr>
              <a:t>JOIN</a:t>
            </a:r>
            <a:r>
              <a:rPr sz="1800" b="0" i="0">
                <a:solidFill>
                  <a:srgbClr val="000000"/>
                </a:solidFill>
                <a:latin typeface="Arial"/>
              </a:rPr>
              <a:t> — the tables are joined on the specified conditions.</a:t>
            </a:r>
          </a:p>
          <a:p>
            <a:pPr marL="292608" indent="-292608">
              <a:spcAft>
                <a:spcPts val="810"/>
              </a:spcAft>
              <a:buFont typeface="Arial"/>
              <a:buAutoNum type="arabicPeriod" startAt="4"/>
            </a:pPr>
            <a:r>
              <a:rPr sz="1800" b="1" i="0">
                <a:solidFill>
                  <a:srgbClr val="000000"/>
                </a:solidFill>
                <a:latin typeface="Arial"/>
              </a:rPr>
              <a:t>WHERE</a:t>
            </a:r>
            <a:r>
              <a:rPr sz="1800" b="0" i="0">
                <a:solidFill>
                  <a:srgbClr val="000000"/>
                </a:solidFill>
                <a:latin typeface="Arial"/>
              </a:rPr>
              <a:t> — the rows satisfying the query's conditions are filtered.</a:t>
            </a:r>
          </a:p>
          <a:p>
            <a:pPr marL="292608" indent="-292608">
              <a:spcAft>
                <a:spcPts val="810"/>
              </a:spcAft>
              <a:buFont typeface="Arial"/>
              <a:buAutoNum type="arabicPeriod" startAt="5"/>
            </a:pPr>
            <a:r>
              <a:rPr sz="1800" b="1" i="0">
                <a:solidFill>
                  <a:srgbClr val="000000"/>
                </a:solidFill>
                <a:latin typeface="Arial"/>
              </a:rPr>
              <a:t>GROUP BY</a:t>
            </a:r>
            <a:r>
              <a:rPr sz="1800" b="0" i="0">
                <a:solidFill>
                  <a:srgbClr val="000000"/>
                </a:solidFill>
                <a:latin typeface="Arial"/>
              </a:rPr>
              <a:t> — the rows are grouped by the specified columns.</a:t>
            </a:r>
          </a:p>
          <a:p>
            <a:pPr marL="292608" indent="-292608">
              <a:spcAft>
                <a:spcPts val="810"/>
              </a:spcAft>
              <a:buFont typeface="Arial"/>
              <a:buAutoNum type="arabicPeriod" startAt="6"/>
            </a:pPr>
            <a:r>
              <a:rPr sz="1800" b="1" i="0">
                <a:solidFill>
                  <a:srgbClr val="000000"/>
                </a:solidFill>
                <a:latin typeface="Arial"/>
              </a:rPr>
              <a:t>HAVING</a:t>
            </a:r>
            <a:r>
              <a:rPr sz="1800" b="0" i="0">
                <a:solidFill>
                  <a:srgbClr val="000000"/>
                </a:solidFill>
                <a:latin typeface="Arial"/>
              </a:rPr>
              <a:t> — the aggregated data is filtered; groups that fail the condition are cut off.</a:t>
            </a:r>
          </a:p>
          <a:p>
            <a:pPr marL="292608" indent="-292608">
              <a:spcAft>
                <a:spcPts val="810"/>
              </a:spcAft>
              <a:buFont typeface="Arial"/>
              <a:buAutoNum type="arabicPeriod" startAt="7"/>
            </a:pPr>
            <a:r>
              <a:rPr sz="1800" b="1" i="0">
                <a:solidFill>
                  <a:srgbClr val="000000"/>
                </a:solidFill>
                <a:latin typeface="Arial"/>
              </a:rPr>
              <a:t>SELECT</a:t>
            </a:r>
            <a:r>
              <a:rPr sz="1800" b="0" i="0">
                <a:solidFill>
                  <a:srgbClr val="000000"/>
                </a:solidFill>
                <a:latin typeface="Arial"/>
              </a:rPr>
              <a:t> — the columns given in the query are computed and extracted.</a:t>
            </a:r>
          </a:p>
          <a:p>
            <a:pPr marL="292608" indent="-292608">
              <a:spcAft>
                <a:spcPts val="810"/>
              </a:spcAft>
              <a:buFont typeface="Arial"/>
              <a:buAutoNum type="arabicPeriod" startAt="8"/>
            </a:pPr>
            <a:r>
              <a:rPr sz="1800" b="1" i="0">
                <a:solidFill>
                  <a:srgbClr val="000000"/>
                </a:solidFill>
                <a:latin typeface="Arial"/>
              </a:rPr>
              <a:t>DISTINCT</a:t>
            </a:r>
            <a:r>
              <a:rPr sz="1800" b="0" i="0">
                <a:solidFill>
                  <a:srgbClr val="000000"/>
                </a:solidFill>
                <a:latin typeface="Arial"/>
              </a:rPr>
              <a:t> — duplicates are removed from the result, if required.</a:t>
            </a:r>
          </a:p>
          <a:p>
            <a:pPr marL="292608" indent="-292608">
              <a:spcAft>
                <a:spcPts val="810"/>
              </a:spcAft>
              <a:buFont typeface="Arial"/>
              <a:buAutoNum type="arabicPeriod" startAt="9"/>
            </a:pPr>
            <a:r>
              <a:rPr sz="1800" b="1" i="0">
                <a:solidFill>
                  <a:srgbClr val="000000"/>
                </a:solidFill>
                <a:latin typeface="Arial"/>
              </a:rPr>
              <a:t>ORDER BY</a:t>
            </a:r>
            <a:r>
              <a:rPr sz="1800" b="0" i="0">
                <a:solidFill>
                  <a:srgbClr val="000000"/>
                </a:solidFill>
                <a:latin typeface="Arial"/>
              </a:rPr>
              <a:t> — the data is sorted.</a:t>
            </a:r>
          </a:p>
          <a:p>
            <a:pPr marL="292608" indent="-292608">
              <a:spcAft>
                <a:spcPts val="810"/>
              </a:spcAft>
              <a:buFont typeface="Arial"/>
              <a:buAutoNum type="arabicPeriod" startAt="10"/>
            </a:pPr>
            <a:r>
              <a:rPr sz="1800" b="1" i="0">
                <a:solidFill>
                  <a:srgbClr val="000000"/>
                </a:solidFill>
                <a:latin typeface="Arial"/>
              </a:rPr>
              <a:t>LIMIT / OFFSET</a:t>
            </a:r>
            <a:r>
              <a:rPr sz="1800" b="0" i="0">
                <a:solidFill>
                  <a:srgbClr val="000000"/>
                </a:solidFill>
                <a:latin typeface="Arial"/>
              </a:rPr>
              <a:t> — the rows for output are finally determined.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3"/>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1.6 ACID AND THE EXECUTION PLAN</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The execution plan</a:t>
            </a:r>
          </a:p>
        </p:txBody>
      </p:sp>
      <p:sp>
        <p:nvSpPr>
          <p:cNvPr id="14" name="Lead"/>
          <p:cNvSpPr txBox="1"/>
          <p:nvPr/>
        </p:nvSpPr>
        <p:spPr>
          <a:xfrm>
            <a:off x="1005840" y="1367028"/>
            <a:ext cx="10332720" cy="1249680"/>
          </a:xfrm>
          <a:prstGeom prst="rect">
            <a:avLst/>
          </a:prstGeom>
          <a:noFill/>
        </p:spPr>
        <p:txBody>
          <a:bodyPr wrap="square" lIns="0" tIns="27432" rIns="0" bIns="27432" anchor="t">
            <a:spAutoFit/>
          </a:bodyPr>
          <a:lstStyle/>
          <a:p>
            <a:pPr>
              <a:spcAft>
                <a:spcPts val="720"/>
              </a:spcAft>
            </a:pPr>
            <a:r>
              <a:rPr sz="1600" b="0" i="0">
                <a:solidFill>
                  <a:srgbClr val="000000"/>
                </a:solidFill>
                <a:latin typeface="Arial"/>
              </a:rPr>
              <a:t>The logical order above says </a:t>
            </a:r>
            <a:r>
              <a:rPr sz="1600" b="0" i="1">
                <a:solidFill>
                  <a:srgbClr val="000000"/>
                </a:solidFill>
                <a:latin typeface="Arial"/>
              </a:rPr>
              <a:t>what</a:t>
            </a:r>
            <a:r>
              <a:rPr sz="1600" b="0" i="0">
                <a:solidFill>
                  <a:srgbClr val="000000"/>
                </a:solidFill>
                <a:latin typeface="Arial"/>
              </a:rPr>
              <a:t> the DBMS computes. </a:t>
            </a:r>
            <a:r>
              <a:rPr sz="1600" b="1" i="0">
                <a:solidFill>
                  <a:srgbClr val="000000"/>
                </a:solidFill>
                <a:latin typeface="Arial"/>
              </a:rPr>
              <a:t>The execution plan</a:t>
            </a:r>
            <a:r>
              <a:rPr sz="1600" b="0" i="0">
                <a:solidFill>
                  <a:srgbClr val="000000"/>
                </a:solidFill>
                <a:latin typeface="Arial"/>
              </a:rPr>
              <a:t> says </a:t>
            </a:r>
            <a:r>
              <a:rPr sz="1600" b="0" i="1">
                <a:solidFill>
                  <a:srgbClr val="000000"/>
                </a:solidFill>
                <a:latin typeface="Arial"/>
              </a:rPr>
              <a:t>how</a:t>
            </a:r>
            <a:r>
              <a:rPr sz="1600" b="0" i="0">
                <a:solidFill>
                  <a:srgbClr val="000000"/>
                </a:solidFill>
                <a:latin typeface="Arial"/>
              </a:rPr>
              <a:t> — which physical operations it will perform, in what order, and at what cost. The plan is produced by the optimizer, which analyses table statistics and chooses access methods and join algorithms.</a:t>
            </a:r>
          </a:p>
          <a:p>
            <a:pPr>
              <a:spcAft>
                <a:spcPts val="720"/>
              </a:spcAft>
            </a:pPr>
            <a:r>
              <a:rPr sz="1520" b="0" i="0">
                <a:solidFill>
                  <a:srgbClr val="007C85"/>
                </a:solidFill>
                <a:latin typeface="Consolas"/>
              </a:rPr>
              <a:t>EXPLAIN</a:t>
            </a:r>
            <a:r>
              <a:rPr sz="1600" b="0" i="0">
                <a:solidFill>
                  <a:srgbClr val="000000"/>
                </a:solidFill>
                <a:latin typeface="Arial"/>
              </a:rPr>
              <a:t> shows the plan without running the query:</a:t>
            </a:r>
          </a:p>
        </p:txBody>
      </p:sp>
      <p:pic>
        <p:nvPicPr>
          <p:cNvPr id="15" name="Picture 14" descr="EXPLAIN&#10;SELECT a.name, count(*) AS tracks&#10;  FROM artists AS a&#10;  JOIN track_artists AS ta ON ta.artist_id = a.id&#10; GROUP BY a.name&#10; ORDER BY tracks DESC&#10; LIMIT 10;"/>
          <p:cNvPicPr>
            <a:picLocks noChangeAspect="1"/>
          </p:cNvPicPr>
          <p:nvPr/>
        </p:nvPicPr>
        <p:blipFill>
          <a:blip r:embed="rId4"/>
          <a:stretch>
            <a:fillRect/>
          </a:stretch>
        </p:blipFill>
        <p:spPr>
          <a:xfrm>
            <a:off x="1005840" y="2708148"/>
            <a:ext cx="4795864" cy="1763286"/>
          </a:xfrm>
          <a:prstGeom prst="rect">
            <a:avLst/>
          </a:prstGeom>
        </p:spPr>
      </p:pic>
      <p:pic>
        <p:nvPicPr>
          <p:cNvPr id="16" name="Picture 15" descr="EXPLAIN&#10;SELECT a.name, count(*) AS tracks&#10;  FROM artists AS a&#10;  JOIN track_artists AS ta ON ta.artist_id = a.id&#10; GROUP BY a.name&#10; ORDER BY tracks DESC&#10; LIMIT 10;"/>
          <p:cNvPicPr>
            <a:picLocks noChangeAspect="1"/>
          </p:cNvPicPr>
          <p:nvPr/>
        </p:nvPicPr>
        <p:blipFill>
          <a:blip r:embed="rId5"/>
          <a:stretch>
            <a:fillRect/>
          </a:stretch>
        </p:blipFill>
        <p:spPr>
          <a:xfrm>
            <a:off x="6030304" y="2708148"/>
            <a:ext cx="5372191" cy="2895357"/>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12648" y="228600"/>
            <a:ext cx="1554480" cy="228600"/>
          </a:xfrm>
          <a:prstGeom prst="rect">
            <a:avLst/>
          </a:prstGeom>
          <a:noFill/>
        </p:spPr>
        <p:txBody>
          <a:bodyPr wrap="square" lIns="0" tIns="0" rIns="0" bIns="0" anchor="t">
            <a:spAutoFit/>
          </a:bodyPr>
          <a:lstStyle/>
          <a:p>
            <a:pPr algn="l">
              <a:spcAft>
                <a:spcPts val="0"/>
              </a:spcAft>
            </a:pPr>
            <a:r>
              <a:rPr sz="1300" b="1">
                <a:solidFill>
                  <a:srgbClr val="061022"/>
                </a:solidFill>
                <a:latin typeface="Arial"/>
              </a:rPr>
              <a:t>TBC Explorers</a:t>
            </a:r>
          </a:p>
        </p:txBody>
      </p:sp>
      <p:sp>
        <p:nvSpPr>
          <p:cNvPr id="3" name="TextBox 2"/>
          <p:cNvSpPr txBox="1"/>
          <p:nvPr/>
        </p:nvSpPr>
        <p:spPr>
          <a:xfrm>
            <a:off x="11384280" y="219456"/>
            <a:ext cx="320040" cy="201168"/>
          </a:xfrm>
          <a:prstGeom prst="rect">
            <a:avLst/>
          </a:prstGeom>
          <a:noFill/>
        </p:spPr>
        <p:txBody>
          <a:bodyPr wrap="square" lIns="0" tIns="0" rIns="0" bIns="0" anchor="t">
            <a:spAutoFit/>
          </a:bodyPr>
          <a:lstStyle/>
          <a:p>
            <a:pPr algn="r">
              <a:spcAft>
                <a:spcPts val="0"/>
              </a:spcAft>
            </a:pPr>
            <a:fld id="{B6F15528-21DE-4FAA-801E-634DDDAF4B2B}" type="slidenum">
              <a:rPr sz="900" b="0">
                <a:solidFill>
                  <a:srgbClr val="061022"/>
                </a:solidFill>
                <a:latin typeface="Arial"/>
              </a:rPr>
              <a:t>65</a:t>
            </a:fld>
          </a:p>
        </p:txBody>
      </p:sp>
      <p:sp>
        <p:nvSpPr>
          <p:cNvPr id="4" name="TextBox 3"/>
          <p:cNvSpPr txBox="1"/>
          <p:nvPr/>
        </p:nvSpPr>
        <p:spPr>
          <a:xfrm>
            <a:off x="384048" y="548640"/>
            <a:ext cx="3108960" cy="182880"/>
          </a:xfrm>
          <a:prstGeom prst="rect">
            <a:avLst/>
          </a:prstGeom>
          <a:noFill/>
        </p:spPr>
        <p:txBody>
          <a:bodyPr wrap="square" lIns="0" tIns="0" rIns="0" bIns="0" anchor="t">
            <a:spAutoFit/>
          </a:bodyPr>
          <a:lstStyle/>
          <a:p>
            <a:pPr algn="l">
              <a:spcAft>
                <a:spcPts val="0"/>
              </a:spcAft>
            </a:pPr>
            <a:r>
              <a:rPr sz="900" b="1">
                <a:solidFill>
                  <a:srgbClr val="061022"/>
                </a:solidFill>
                <a:latin typeface="Arial"/>
              </a:rPr>
              <a:t>WRAP-UP</a:t>
            </a:r>
          </a:p>
        </p:txBody>
      </p:sp>
      <p:sp>
        <p:nvSpPr>
          <p:cNvPr id="5" name="TextBox 4"/>
          <p:cNvSpPr txBox="1"/>
          <p:nvPr/>
        </p:nvSpPr>
        <p:spPr>
          <a:xfrm>
            <a:off x="438912" y="804672"/>
            <a:ext cx="6400800" cy="502920"/>
          </a:xfrm>
          <a:prstGeom prst="rect">
            <a:avLst/>
          </a:prstGeom>
          <a:noFill/>
        </p:spPr>
        <p:txBody>
          <a:bodyPr wrap="square" lIns="0" tIns="0" rIns="0" bIns="0" anchor="t">
            <a:spAutoFit/>
          </a:bodyPr>
          <a:lstStyle/>
          <a:p>
            <a:pPr algn="l">
              <a:spcAft>
                <a:spcPts val="0"/>
              </a:spcAft>
            </a:pPr>
            <a:r>
              <a:rPr sz="2800" b="1">
                <a:solidFill>
                  <a:srgbClr val="061022"/>
                </a:solidFill>
                <a:latin typeface="Arial"/>
              </a:rPr>
              <a:t>How to approach a SQL query</a:t>
            </a:r>
          </a:p>
        </p:txBody>
      </p:sp>
      <p:sp>
        <p:nvSpPr>
          <p:cNvPr id="6" name="TextBox 5"/>
          <p:cNvSpPr txBox="1"/>
          <p:nvPr/>
        </p:nvSpPr>
        <p:spPr>
          <a:xfrm>
            <a:off x="457200" y="1389888"/>
            <a:ext cx="7132320" cy="347472"/>
          </a:xfrm>
          <a:prstGeom prst="rect">
            <a:avLst/>
          </a:prstGeom>
          <a:noFill/>
        </p:spPr>
        <p:txBody>
          <a:bodyPr wrap="square" lIns="0" tIns="0" rIns="0" bIns="0" anchor="t">
            <a:spAutoFit/>
          </a:bodyPr>
          <a:lstStyle/>
          <a:p>
            <a:pPr algn="l">
              <a:spcAft>
                <a:spcPts val="0"/>
              </a:spcAft>
            </a:pPr>
            <a:r>
              <a:rPr sz="1500" b="0">
                <a:solidFill>
                  <a:srgbClr val="636F84"/>
                </a:solidFill>
                <a:latin typeface="Arial"/>
              </a:rPr>
              <a:t>Before writing SQL, define what the result should represent.</a:t>
            </a:r>
          </a:p>
        </p:txBody>
      </p:sp>
      <p:sp>
        <p:nvSpPr>
          <p:cNvPr id="7" name="Rounded Rectangle 6"/>
          <p:cNvSpPr/>
          <p:nvPr/>
        </p:nvSpPr>
        <p:spPr>
          <a:xfrm>
            <a:off x="502920" y="1993392"/>
            <a:ext cx="5212080" cy="932688"/>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Oval 7"/>
          <p:cNvSpPr/>
          <p:nvPr/>
        </p:nvSpPr>
        <p:spPr>
          <a:xfrm>
            <a:off x="667512" y="2249424"/>
            <a:ext cx="365760" cy="365760"/>
          </a:xfrm>
          <a:prstGeom prst="ellipse">
            <a:avLst/>
          </a:prstGeom>
          <a:solidFill>
            <a:srgbClr val="10C6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67512" y="2322576"/>
            <a:ext cx="365760" cy="146304"/>
          </a:xfrm>
          <a:prstGeom prst="rect">
            <a:avLst/>
          </a:prstGeom>
          <a:noFill/>
        </p:spPr>
        <p:txBody>
          <a:bodyPr wrap="square" lIns="0" tIns="0" rIns="0" bIns="0" anchor="t">
            <a:spAutoFit/>
          </a:bodyPr>
          <a:lstStyle/>
          <a:p>
            <a:pPr algn="ctr">
              <a:spcAft>
                <a:spcPts val="0"/>
              </a:spcAft>
            </a:pPr>
            <a:r>
              <a:rPr sz="900" b="1">
                <a:solidFill>
                  <a:srgbClr val="FFFFFF"/>
                </a:solidFill>
                <a:latin typeface="Arial"/>
              </a:rPr>
              <a:t>1</a:t>
            </a:r>
          </a:p>
        </p:txBody>
      </p:sp>
      <p:sp>
        <p:nvSpPr>
          <p:cNvPr id="10" name="TextBox 9"/>
          <p:cNvSpPr txBox="1"/>
          <p:nvPr/>
        </p:nvSpPr>
        <p:spPr>
          <a:xfrm>
            <a:off x="1197864" y="2157984"/>
            <a:ext cx="1078992" cy="228600"/>
          </a:xfrm>
          <a:prstGeom prst="rect">
            <a:avLst/>
          </a:prstGeom>
          <a:noFill/>
        </p:spPr>
        <p:txBody>
          <a:bodyPr wrap="square" lIns="0" tIns="0" rIns="0" bIns="0" anchor="t">
            <a:spAutoFit/>
          </a:bodyPr>
          <a:lstStyle/>
          <a:p>
            <a:pPr algn="l">
              <a:spcAft>
                <a:spcPts val="0"/>
              </a:spcAft>
            </a:pPr>
            <a:r>
              <a:rPr sz="1200" b="1">
                <a:solidFill>
                  <a:srgbClr val="061022"/>
                </a:solidFill>
                <a:latin typeface="Arial"/>
              </a:rPr>
              <a:t>Population</a:t>
            </a:r>
          </a:p>
        </p:txBody>
      </p:sp>
      <p:sp>
        <p:nvSpPr>
          <p:cNvPr id="11" name="TextBox 10"/>
          <p:cNvSpPr txBox="1"/>
          <p:nvPr/>
        </p:nvSpPr>
        <p:spPr>
          <a:xfrm>
            <a:off x="2286000" y="2157984"/>
            <a:ext cx="2487168" cy="384048"/>
          </a:xfrm>
          <a:prstGeom prst="rect">
            <a:avLst/>
          </a:prstGeom>
          <a:noFill/>
        </p:spPr>
        <p:txBody>
          <a:bodyPr wrap="square" lIns="0" tIns="0" rIns="0" bIns="0" anchor="t">
            <a:spAutoFit/>
          </a:bodyPr>
          <a:lstStyle/>
          <a:p>
            <a:pPr algn="l">
              <a:spcAft>
                <a:spcPts val="0"/>
              </a:spcAft>
            </a:pPr>
            <a:r>
              <a:rPr sz="1000" b="0">
                <a:solidFill>
                  <a:srgbClr val="636F84"/>
                </a:solidFill>
                <a:latin typeface="Arial"/>
              </a:rPr>
              <a:t>Which rows do I need?</a:t>
            </a:r>
          </a:p>
        </p:txBody>
      </p:sp>
      <p:sp>
        <p:nvSpPr>
          <p:cNvPr id="12" name="Rounded Rectangle 11"/>
          <p:cNvSpPr/>
          <p:nvPr/>
        </p:nvSpPr>
        <p:spPr>
          <a:xfrm>
            <a:off x="4873752" y="2240280"/>
            <a:ext cx="621792" cy="274320"/>
          </a:xfrm>
          <a:prstGeom prst="roundRect">
            <a:avLst/>
          </a:prstGeom>
          <a:solidFill>
            <a:srgbClr val="E6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4901183" y="2295144"/>
            <a:ext cx="566928" cy="128016"/>
          </a:xfrm>
          <a:prstGeom prst="rect">
            <a:avLst/>
          </a:prstGeom>
          <a:noFill/>
        </p:spPr>
        <p:txBody>
          <a:bodyPr wrap="square" lIns="0" tIns="0" rIns="0" bIns="0" anchor="t">
            <a:spAutoFit/>
          </a:bodyPr>
          <a:lstStyle/>
          <a:p>
            <a:pPr algn="ctr">
              <a:spcAft>
                <a:spcPts val="0"/>
              </a:spcAft>
            </a:pPr>
            <a:r>
              <a:rPr sz="700" b="1">
                <a:solidFill>
                  <a:srgbClr val="061022"/>
                </a:solidFill>
                <a:latin typeface="Arial"/>
              </a:rPr>
              <a:t>WHERE</a:t>
            </a:r>
          </a:p>
        </p:txBody>
      </p:sp>
      <p:sp>
        <p:nvSpPr>
          <p:cNvPr id="14" name="Rounded Rectangle 13"/>
          <p:cNvSpPr/>
          <p:nvPr/>
        </p:nvSpPr>
        <p:spPr>
          <a:xfrm>
            <a:off x="6126480" y="1993392"/>
            <a:ext cx="5212080" cy="932688"/>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Oval 14"/>
          <p:cNvSpPr/>
          <p:nvPr/>
        </p:nvSpPr>
        <p:spPr>
          <a:xfrm>
            <a:off x="6291072" y="2249424"/>
            <a:ext cx="365760" cy="365760"/>
          </a:xfrm>
          <a:prstGeom prst="ellipse">
            <a:avLst/>
          </a:prstGeom>
          <a:solidFill>
            <a:srgbClr val="10C6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291072" y="2322576"/>
            <a:ext cx="365760" cy="146304"/>
          </a:xfrm>
          <a:prstGeom prst="rect">
            <a:avLst/>
          </a:prstGeom>
          <a:noFill/>
        </p:spPr>
        <p:txBody>
          <a:bodyPr wrap="square" lIns="0" tIns="0" rIns="0" bIns="0" anchor="t">
            <a:spAutoFit/>
          </a:bodyPr>
          <a:lstStyle/>
          <a:p>
            <a:pPr algn="ctr">
              <a:spcAft>
                <a:spcPts val="0"/>
              </a:spcAft>
            </a:pPr>
            <a:r>
              <a:rPr sz="900" b="1">
                <a:solidFill>
                  <a:srgbClr val="FFFFFF"/>
                </a:solidFill>
                <a:latin typeface="Arial"/>
              </a:rPr>
              <a:t>2</a:t>
            </a:r>
          </a:p>
        </p:txBody>
      </p:sp>
      <p:sp>
        <p:nvSpPr>
          <p:cNvPr id="17" name="TextBox 16"/>
          <p:cNvSpPr txBox="1"/>
          <p:nvPr/>
        </p:nvSpPr>
        <p:spPr>
          <a:xfrm>
            <a:off x="6821424" y="2157984"/>
            <a:ext cx="1078992" cy="228600"/>
          </a:xfrm>
          <a:prstGeom prst="rect">
            <a:avLst/>
          </a:prstGeom>
          <a:noFill/>
        </p:spPr>
        <p:txBody>
          <a:bodyPr wrap="square" lIns="0" tIns="0" rIns="0" bIns="0" anchor="t">
            <a:spAutoFit/>
          </a:bodyPr>
          <a:lstStyle/>
          <a:p>
            <a:pPr algn="l">
              <a:spcAft>
                <a:spcPts val="0"/>
              </a:spcAft>
            </a:pPr>
            <a:r>
              <a:rPr sz="1200" b="1">
                <a:solidFill>
                  <a:srgbClr val="061022"/>
                </a:solidFill>
                <a:latin typeface="Arial"/>
              </a:rPr>
              <a:t>Grain</a:t>
            </a:r>
          </a:p>
        </p:txBody>
      </p:sp>
      <p:sp>
        <p:nvSpPr>
          <p:cNvPr id="18" name="TextBox 17"/>
          <p:cNvSpPr txBox="1"/>
          <p:nvPr/>
        </p:nvSpPr>
        <p:spPr>
          <a:xfrm>
            <a:off x="7909560" y="2157984"/>
            <a:ext cx="2487168" cy="384048"/>
          </a:xfrm>
          <a:prstGeom prst="rect">
            <a:avLst/>
          </a:prstGeom>
          <a:noFill/>
        </p:spPr>
        <p:txBody>
          <a:bodyPr wrap="square" lIns="0" tIns="0" rIns="0" bIns="0" anchor="t">
            <a:spAutoFit/>
          </a:bodyPr>
          <a:lstStyle/>
          <a:p>
            <a:pPr algn="l">
              <a:spcAft>
                <a:spcPts val="0"/>
              </a:spcAft>
            </a:pPr>
            <a:r>
              <a:rPr sz="1000" b="0">
                <a:solidFill>
                  <a:srgbClr val="636F84"/>
                </a:solidFill>
                <a:latin typeface="Arial"/>
              </a:rPr>
              <a:t>What does one row represent?</a:t>
            </a:r>
          </a:p>
        </p:txBody>
      </p:sp>
      <p:sp>
        <p:nvSpPr>
          <p:cNvPr id="19" name="Rounded Rectangle 18"/>
          <p:cNvSpPr/>
          <p:nvPr/>
        </p:nvSpPr>
        <p:spPr>
          <a:xfrm>
            <a:off x="10497312" y="2240280"/>
            <a:ext cx="621792" cy="274320"/>
          </a:xfrm>
          <a:prstGeom prst="roundRect">
            <a:avLst/>
          </a:prstGeom>
          <a:solidFill>
            <a:srgbClr val="E6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10524744" y="2295144"/>
            <a:ext cx="566928" cy="128016"/>
          </a:xfrm>
          <a:prstGeom prst="rect">
            <a:avLst/>
          </a:prstGeom>
          <a:noFill/>
        </p:spPr>
        <p:txBody>
          <a:bodyPr wrap="square" lIns="0" tIns="0" rIns="0" bIns="0" anchor="t">
            <a:spAutoFit/>
          </a:bodyPr>
          <a:lstStyle/>
          <a:p>
            <a:pPr algn="ctr">
              <a:spcAft>
                <a:spcPts val="0"/>
              </a:spcAft>
            </a:pPr>
            <a:r>
              <a:rPr sz="700" b="1">
                <a:solidFill>
                  <a:srgbClr val="061022"/>
                </a:solidFill>
                <a:latin typeface="Arial"/>
              </a:rPr>
              <a:t>GROUP BY</a:t>
            </a:r>
          </a:p>
        </p:txBody>
      </p:sp>
      <p:sp>
        <p:nvSpPr>
          <p:cNvPr id="21" name="Rounded Rectangle 20"/>
          <p:cNvSpPr/>
          <p:nvPr/>
        </p:nvSpPr>
        <p:spPr>
          <a:xfrm>
            <a:off x="502920" y="3182112"/>
            <a:ext cx="5212080" cy="932688"/>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Oval 21"/>
          <p:cNvSpPr/>
          <p:nvPr/>
        </p:nvSpPr>
        <p:spPr>
          <a:xfrm>
            <a:off x="667512" y="3438144"/>
            <a:ext cx="365760" cy="365760"/>
          </a:xfrm>
          <a:prstGeom prst="ellipse">
            <a:avLst/>
          </a:prstGeom>
          <a:solidFill>
            <a:srgbClr val="10C6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667512" y="3511296"/>
            <a:ext cx="365760" cy="146304"/>
          </a:xfrm>
          <a:prstGeom prst="rect">
            <a:avLst/>
          </a:prstGeom>
          <a:noFill/>
        </p:spPr>
        <p:txBody>
          <a:bodyPr wrap="square" lIns="0" tIns="0" rIns="0" bIns="0" anchor="t">
            <a:spAutoFit/>
          </a:bodyPr>
          <a:lstStyle/>
          <a:p>
            <a:pPr algn="ctr">
              <a:spcAft>
                <a:spcPts val="0"/>
              </a:spcAft>
            </a:pPr>
            <a:r>
              <a:rPr sz="900" b="1">
                <a:solidFill>
                  <a:srgbClr val="FFFFFF"/>
                </a:solidFill>
                <a:latin typeface="Arial"/>
              </a:rPr>
              <a:t>3</a:t>
            </a:r>
          </a:p>
        </p:txBody>
      </p:sp>
      <p:sp>
        <p:nvSpPr>
          <p:cNvPr id="24" name="TextBox 23"/>
          <p:cNvSpPr txBox="1"/>
          <p:nvPr/>
        </p:nvSpPr>
        <p:spPr>
          <a:xfrm>
            <a:off x="1197864" y="3346704"/>
            <a:ext cx="1078992" cy="228600"/>
          </a:xfrm>
          <a:prstGeom prst="rect">
            <a:avLst/>
          </a:prstGeom>
          <a:noFill/>
        </p:spPr>
        <p:txBody>
          <a:bodyPr wrap="square" lIns="0" tIns="0" rIns="0" bIns="0" anchor="t">
            <a:spAutoFit/>
          </a:bodyPr>
          <a:lstStyle/>
          <a:p>
            <a:pPr algn="l">
              <a:spcAft>
                <a:spcPts val="0"/>
              </a:spcAft>
            </a:pPr>
            <a:r>
              <a:rPr sz="1200" b="1">
                <a:solidFill>
                  <a:srgbClr val="061022"/>
                </a:solidFill>
                <a:latin typeface="Arial"/>
              </a:rPr>
              <a:t>Metric</a:t>
            </a:r>
          </a:p>
        </p:txBody>
      </p:sp>
      <p:sp>
        <p:nvSpPr>
          <p:cNvPr id="25" name="TextBox 24"/>
          <p:cNvSpPr txBox="1"/>
          <p:nvPr/>
        </p:nvSpPr>
        <p:spPr>
          <a:xfrm>
            <a:off x="2286000" y="3346704"/>
            <a:ext cx="2487168" cy="384048"/>
          </a:xfrm>
          <a:prstGeom prst="rect">
            <a:avLst/>
          </a:prstGeom>
          <a:noFill/>
        </p:spPr>
        <p:txBody>
          <a:bodyPr wrap="square" lIns="0" tIns="0" rIns="0" bIns="0" anchor="t">
            <a:spAutoFit/>
          </a:bodyPr>
          <a:lstStyle/>
          <a:p>
            <a:pPr algn="l">
              <a:spcAft>
                <a:spcPts val="0"/>
              </a:spcAft>
            </a:pPr>
            <a:r>
              <a:rPr sz="1000" b="0">
                <a:solidFill>
                  <a:srgbClr val="636F84"/>
                </a:solidFill>
                <a:latin typeface="Arial"/>
              </a:rPr>
              <a:t>What do I calculate?</a:t>
            </a:r>
          </a:p>
        </p:txBody>
      </p:sp>
      <p:sp>
        <p:nvSpPr>
          <p:cNvPr id="26" name="Rounded Rectangle 25"/>
          <p:cNvSpPr/>
          <p:nvPr/>
        </p:nvSpPr>
        <p:spPr>
          <a:xfrm>
            <a:off x="4873752" y="3429000"/>
            <a:ext cx="621792" cy="274320"/>
          </a:xfrm>
          <a:prstGeom prst="roundRect">
            <a:avLst/>
          </a:prstGeom>
          <a:solidFill>
            <a:srgbClr val="E6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4901183" y="3483864"/>
            <a:ext cx="566928" cy="128016"/>
          </a:xfrm>
          <a:prstGeom prst="rect">
            <a:avLst/>
          </a:prstGeom>
          <a:noFill/>
        </p:spPr>
        <p:txBody>
          <a:bodyPr wrap="square" lIns="0" tIns="0" rIns="0" bIns="0" anchor="t">
            <a:spAutoFit/>
          </a:bodyPr>
          <a:lstStyle/>
          <a:p>
            <a:pPr algn="ctr">
              <a:spcAft>
                <a:spcPts val="0"/>
              </a:spcAft>
            </a:pPr>
            <a:r>
              <a:rPr sz="700" b="1">
                <a:solidFill>
                  <a:srgbClr val="061022"/>
                </a:solidFill>
                <a:latin typeface="Arial"/>
              </a:rPr>
              <a:t>AVG / COUNT</a:t>
            </a:r>
          </a:p>
        </p:txBody>
      </p:sp>
      <p:sp>
        <p:nvSpPr>
          <p:cNvPr id="28" name="Rounded Rectangle 27"/>
          <p:cNvSpPr/>
          <p:nvPr/>
        </p:nvSpPr>
        <p:spPr>
          <a:xfrm>
            <a:off x="6126480" y="3182112"/>
            <a:ext cx="5212080" cy="932688"/>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Oval 28"/>
          <p:cNvSpPr/>
          <p:nvPr/>
        </p:nvSpPr>
        <p:spPr>
          <a:xfrm>
            <a:off x="6291072" y="3438144"/>
            <a:ext cx="365760" cy="365760"/>
          </a:xfrm>
          <a:prstGeom prst="ellipse">
            <a:avLst/>
          </a:prstGeom>
          <a:solidFill>
            <a:srgbClr val="10C6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6291072" y="3511296"/>
            <a:ext cx="365760" cy="146304"/>
          </a:xfrm>
          <a:prstGeom prst="rect">
            <a:avLst/>
          </a:prstGeom>
          <a:noFill/>
        </p:spPr>
        <p:txBody>
          <a:bodyPr wrap="square" lIns="0" tIns="0" rIns="0" bIns="0" anchor="t">
            <a:spAutoFit/>
          </a:bodyPr>
          <a:lstStyle/>
          <a:p>
            <a:pPr algn="ctr">
              <a:spcAft>
                <a:spcPts val="0"/>
              </a:spcAft>
            </a:pPr>
            <a:r>
              <a:rPr sz="900" b="1">
                <a:solidFill>
                  <a:srgbClr val="FFFFFF"/>
                </a:solidFill>
                <a:latin typeface="Arial"/>
              </a:rPr>
              <a:t>4</a:t>
            </a:r>
          </a:p>
        </p:txBody>
      </p:sp>
      <p:sp>
        <p:nvSpPr>
          <p:cNvPr id="31" name="TextBox 30"/>
          <p:cNvSpPr txBox="1"/>
          <p:nvPr/>
        </p:nvSpPr>
        <p:spPr>
          <a:xfrm>
            <a:off x="6821424" y="3346704"/>
            <a:ext cx="1078992" cy="228600"/>
          </a:xfrm>
          <a:prstGeom prst="rect">
            <a:avLst/>
          </a:prstGeom>
          <a:noFill/>
        </p:spPr>
        <p:txBody>
          <a:bodyPr wrap="square" lIns="0" tIns="0" rIns="0" bIns="0" anchor="t">
            <a:spAutoFit/>
          </a:bodyPr>
          <a:lstStyle/>
          <a:p>
            <a:pPr algn="l">
              <a:spcAft>
                <a:spcPts val="0"/>
              </a:spcAft>
            </a:pPr>
            <a:r>
              <a:rPr sz="1200" b="1">
                <a:solidFill>
                  <a:srgbClr val="061022"/>
                </a:solidFill>
                <a:latin typeface="Arial"/>
              </a:rPr>
              <a:t>Context</a:t>
            </a:r>
          </a:p>
        </p:txBody>
      </p:sp>
      <p:sp>
        <p:nvSpPr>
          <p:cNvPr id="32" name="TextBox 31"/>
          <p:cNvSpPr txBox="1"/>
          <p:nvPr/>
        </p:nvSpPr>
        <p:spPr>
          <a:xfrm>
            <a:off x="7909560" y="3346704"/>
            <a:ext cx="2487168" cy="384048"/>
          </a:xfrm>
          <a:prstGeom prst="rect">
            <a:avLst/>
          </a:prstGeom>
          <a:noFill/>
        </p:spPr>
        <p:txBody>
          <a:bodyPr wrap="square" lIns="0" tIns="0" rIns="0" bIns="0" anchor="t">
            <a:spAutoFit/>
          </a:bodyPr>
          <a:lstStyle/>
          <a:p>
            <a:pPr algn="l">
              <a:spcAft>
                <a:spcPts val="0"/>
              </a:spcAft>
            </a:pPr>
            <a:r>
              <a:rPr sz="1000" b="0">
                <a:solidFill>
                  <a:srgbClr val="636F84"/>
                </a:solidFill>
                <a:latin typeface="Arial"/>
              </a:rPr>
              <a:t>Do rows need comparison?</a:t>
            </a:r>
          </a:p>
        </p:txBody>
      </p:sp>
      <p:sp>
        <p:nvSpPr>
          <p:cNvPr id="33" name="Rounded Rectangle 32"/>
          <p:cNvSpPr/>
          <p:nvPr/>
        </p:nvSpPr>
        <p:spPr>
          <a:xfrm>
            <a:off x="10497312" y="3429000"/>
            <a:ext cx="621792" cy="274320"/>
          </a:xfrm>
          <a:prstGeom prst="roundRect">
            <a:avLst/>
          </a:prstGeom>
          <a:solidFill>
            <a:srgbClr val="E6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10524744" y="3483864"/>
            <a:ext cx="566928" cy="128016"/>
          </a:xfrm>
          <a:prstGeom prst="rect">
            <a:avLst/>
          </a:prstGeom>
          <a:noFill/>
        </p:spPr>
        <p:txBody>
          <a:bodyPr wrap="square" lIns="0" tIns="0" rIns="0" bIns="0" anchor="t">
            <a:spAutoFit/>
          </a:bodyPr>
          <a:lstStyle/>
          <a:p>
            <a:pPr algn="ctr">
              <a:spcAft>
                <a:spcPts val="0"/>
              </a:spcAft>
            </a:pPr>
            <a:r>
              <a:rPr sz="700" b="1">
                <a:solidFill>
                  <a:srgbClr val="061022"/>
                </a:solidFill>
                <a:latin typeface="Arial"/>
              </a:rPr>
              <a:t>WINDOW</a:t>
            </a:r>
          </a:p>
        </p:txBody>
      </p:sp>
      <p:sp>
        <p:nvSpPr>
          <p:cNvPr id="35" name="Rounded Rectangle 34"/>
          <p:cNvSpPr/>
          <p:nvPr/>
        </p:nvSpPr>
        <p:spPr>
          <a:xfrm>
            <a:off x="502920" y="4370832"/>
            <a:ext cx="5212080" cy="932688"/>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Oval 35"/>
          <p:cNvSpPr/>
          <p:nvPr/>
        </p:nvSpPr>
        <p:spPr>
          <a:xfrm>
            <a:off x="667512" y="4626864"/>
            <a:ext cx="365760" cy="365760"/>
          </a:xfrm>
          <a:prstGeom prst="ellipse">
            <a:avLst/>
          </a:prstGeom>
          <a:solidFill>
            <a:srgbClr val="10C6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667512" y="4700016"/>
            <a:ext cx="365760" cy="146304"/>
          </a:xfrm>
          <a:prstGeom prst="rect">
            <a:avLst/>
          </a:prstGeom>
          <a:noFill/>
        </p:spPr>
        <p:txBody>
          <a:bodyPr wrap="square" lIns="0" tIns="0" rIns="0" bIns="0" anchor="t">
            <a:spAutoFit/>
          </a:bodyPr>
          <a:lstStyle/>
          <a:p>
            <a:pPr algn="ctr">
              <a:spcAft>
                <a:spcPts val="0"/>
              </a:spcAft>
            </a:pPr>
            <a:r>
              <a:rPr sz="900" b="1">
                <a:solidFill>
                  <a:srgbClr val="FFFFFF"/>
                </a:solidFill>
                <a:latin typeface="Arial"/>
              </a:rPr>
              <a:t>5</a:t>
            </a:r>
          </a:p>
        </p:txBody>
      </p:sp>
      <p:sp>
        <p:nvSpPr>
          <p:cNvPr id="38" name="TextBox 37"/>
          <p:cNvSpPr txBox="1"/>
          <p:nvPr/>
        </p:nvSpPr>
        <p:spPr>
          <a:xfrm>
            <a:off x="1197864" y="4535424"/>
            <a:ext cx="1078992" cy="228600"/>
          </a:xfrm>
          <a:prstGeom prst="rect">
            <a:avLst/>
          </a:prstGeom>
          <a:noFill/>
        </p:spPr>
        <p:txBody>
          <a:bodyPr wrap="square" lIns="0" tIns="0" rIns="0" bIns="0" anchor="t">
            <a:spAutoFit/>
          </a:bodyPr>
          <a:lstStyle/>
          <a:p>
            <a:pPr algn="l">
              <a:spcAft>
                <a:spcPts val="0"/>
              </a:spcAft>
            </a:pPr>
            <a:r>
              <a:rPr sz="1200" b="1">
                <a:solidFill>
                  <a:srgbClr val="061022"/>
                </a:solidFill>
                <a:latin typeface="Arial"/>
              </a:rPr>
              <a:t>Structure</a:t>
            </a:r>
          </a:p>
        </p:txBody>
      </p:sp>
      <p:sp>
        <p:nvSpPr>
          <p:cNvPr id="39" name="TextBox 38"/>
          <p:cNvSpPr txBox="1"/>
          <p:nvPr/>
        </p:nvSpPr>
        <p:spPr>
          <a:xfrm>
            <a:off x="2286000" y="4535424"/>
            <a:ext cx="2487168" cy="384048"/>
          </a:xfrm>
          <a:prstGeom prst="rect">
            <a:avLst/>
          </a:prstGeom>
          <a:noFill/>
        </p:spPr>
        <p:txBody>
          <a:bodyPr wrap="square" lIns="0" tIns="0" rIns="0" bIns="0" anchor="t">
            <a:spAutoFit/>
          </a:bodyPr>
          <a:lstStyle/>
          <a:p>
            <a:pPr algn="l">
              <a:spcAft>
                <a:spcPts val="0"/>
              </a:spcAft>
            </a:pPr>
            <a:r>
              <a:rPr sz="1000" b="0">
                <a:solidFill>
                  <a:srgbClr val="636F84"/>
                </a:solidFill>
                <a:latin typeface="Arial"/>
              </a:rPr>
              <a:t>Would steps make it clearer?</a:t>
            </a:r>
          </a:p>
        </p:txBody>
      </p:sp>
      <p:sp>
        <p:nvSpPr>
          <p:cNvPr id="40" name="Rounded Rectangle 39"/>
          <p:cNvSpPr/>
          <p:nvPr/>
        </p:nvSpPr>
        <p:spPr>
          <a:xfrm>
            <a:off x="4873752" y="4617720"/>
            <a:ext cx="621792" cy="274320"/>
          </a:xfrm>
          <a:prstGeom prst="roundRect">
            <a:avLst/>
          </a:prstGeom>
          <a:solidFill>
            <a:srgbClr val="E6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40"/>
          <p:cNvSpPr txBox="1"/>
          <p:nvPr/>
        </p:nvSpPr>
        <p:spPr>
          <a:xfrm>
            <a:off x="4901183" y="4672584"/>
            <a:ext cx="566928" cy="128016"/>
          </a:xfrm>
          <a:prstGeom prst="rect">
            <a:avLst/>
          </a:prstGeom>
          <a:noFill/>
        </p:spPr>
        <p:txBody>
          <a:bodyPr wrap="square" lIns="0" tIns="0" rIns="0" bIns="0" anchor="t">
            <a:spAutoFit/>
          </a:bodyPr>
          <a:lstStyle/>
          <a:p>
            <a:pPr algn="ctr">
              <a:spcAft>
                <a:spcPts val="0"/>
              </a:spcAft>
            </a:pPr>
            <a:r>
              <a:rPr sz="700" b="1">
                <a:solidFill>
                  <a:srgbClr val="061022"/>
                </a:solidFill>
                <a:latin typeface="Arial"/>
              </a:rPr>
              <a:t>CTE</a:t>
            </a:r>
          </a:p>
        </p:txBody>
      </p:sp>
      <p:sp>
        <p:nvSpPr>
          <p:cNvPr id="42" name="Rounded Rectangle 41"/>
          <p:cNvSpPr/>
          <p:nvPr/>
        </p:nvSpPr>
        <p:spPr>
          <a:xfrm>
            <a:off x="6126480" y="4370832"/>
            <a:ext cx="5212080" cy="932688"/>
          </a:xfrm>
          <a:prstGeom prst="roundRect">
            <a:avLst/>
          </a:prstGeom>
          <a:solidFill>
            <a:srgbClr val="FFFFFF"/>
          </a:solidFill>
          <a:ln w="8890">
            <a:solidFill>
              <a:srgbClr val="E2E8E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Oval 42"/>
          <p:cNvSpPr/>
          <p:nvPr/>
        </p:nvSpPr>
        <p:spPr>
          <a:xfrm>
            <a:off x="6291072" y="4626864"/>
            <a:ext cx="365760" cy="365760"/>
          </a:xfrm>
          <a:prstGeom prst="ellipse">
            <a:avLst/>
          </a:prstGeom>
          <a:solidFill>
            <a:srgbClr val="10C6D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TextBox 43"/>
          <p:cNvSpPr txBox="1"/>
          <p:nvPr/>
        </p:nvSpPr>
        <p:spPr>
          <a:xfrm>
            <a:off x="6291072" y="4700016"/>
            <a:ext cx="365760" cy="146304"/>
          </a:xfrm>
          <a:prstGeom prst="rect">
            <a:avLst/>
          </a:prstGeom>
          <a:noFill/>
        </p:spPr>
        <p:txBody>
          <a:bodyPr wrap="square" lIns="0" tIns="0" rIns="0" bIns="0" anchor="t">
            <a:spAutoFit/>
          </a:bodyPr>
          <a:lstStyle/>
          <a:p>
            <a:pPr algn="ctr">
              <a:spcAft>
                <a:spcPts val="0"/>
              </a:spcAft>
            </a:pPr>
            <a:r>
              <a:rPr sz="900" b="1">
                <a:solidFill>
                  <a:srgbClr val="FFFFFF"/>
                </a:solidFill>
                <a:latin typeface="Arial"/>
              </a:rPr>
              <a:t>6</a:t>
            </a:r>
          </a:p>
        </p:txBody>
      </p:sp>
      <p:sp>
        <p:nvSpPr>
          <p:cNvPr id="45" name="TextBox 44"/>
          <p:cNvSpPr txBox="1"/>
          <p:nvPr/>
        </p:nvSpPr>
        <p:spPr>
          <a:xfrm>
            <a:off x="6821424" y="4535424"/>
            <a:ext cx="1078992" cy="228600"/>
          </a:xfrm>
          <a:prstGeom prst="rect">
            <a:avLst/>
          </a:prstGeom>
          <a:noFill/>
        </p:spPr>
        <p:txBody>
          <a:bodyPr wrap="square" lIns="0" tIns="0" rIns="0" bIns="0" anchor="t">
            <a:spAutoFit/>
          </a:bodyPr>
          <a:lstStyle/>
          <a:p>
            <a:pPr algn="l">
              <a:spcAft>
                <a:spcPts val="0"/>
              </a:spcAft>
            </a:pPr>
            <a:r>
              <a:rPr sz="1200" b="1">
                <a:solidFill>
                  <a:srgbClr val="061022"/>
                </a:solidFill>
                <a:latin typeface="Arial"/>
              </a:rPr>
              <a:t>Sanity</a:t>
            </a:r>
          </a:p>
        </p:txBody>
      </p:sp>
      <p:sp>
        <p:nvSpPr>
          <p:cNvPr id="46" name="TextBox 45"/>
          <p:cNvSpPr txBox="1"/>
          <p:nvPr/>
        </p:nvSpPr>
        <p:spPr>
          <a:xfrm>
            <a:off x="7909560" y="4535424"/>
            <a:ext cx="2487168" cy="384048"/>
          </a:xfrm>
          <a:prstGeom prst="rect">
            <a:avLst/>
          </a:prstGeom>
          <a:noFill/>
        </p:spPr>
        <p:txBody>
          <a:bodyPr wrap="square" lIns="0" tIns="0" rIns="0" bIns="0" anchor="t">
            <a:spAutoFit/>
          </a:bodyPr>
          <a:lstStyle/>
          <a:p>
            <a:pPr algn="l">
              <a:spcAft>
                <a:spcPts val="0"/>
              </a:spcAft>
            </a:pPr>
            <a:r>
              <a:rPr sz="1000" b="0">
                <a:solidFill>
                  <a:srgbClr val="636F84"/>
                </a:solidFill>
                <a:latin typeface="Arial"/>
              </a:rPr>
              <a:t>Could NULLs or duplicates break it?</a:t>
            </a:r>
          </a:p>
        </p:txBody>
      </p:sp>
      <p:sp>
        <p:nvSpPr>
          <p:cNvPr id="47" name="Rounded Rectangle 46"/>
          <p:cNvSpPr/>
          <p:nvPr/>
        </p:nvSpPr>
        <p:spPr>
          <a:xfrm>
            <a:off x="10497312" y="4617720"/>
            <a:ext cx="621792" cy="274320"/>
          </a:xfrm>
          <a:prstGeom prst="roundRect">
            <a:avLst/>
          </a:prstGeom>
          <a:solidFill>
            <a:srgbClr val="E6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TextBox 47"/>
          <p:cNvSpPr txBox="1"/>
          <p:nvPr/>
        </p:nvSpPr>
        <p:spPr>
          <a:xfrm>
            <a:off x="10524744" y="4672584"/>
            <a:ext cx="566928" cy="128016"/>
          </a:xfrm>
          <a:prstGeom prst="rect">
            <a:avLst/>
          </a:prstGeom>
          <a:noFill/>
        </p:spPr>
        <p:txBody>
          <a:bodyPr wrap="square" lIns="0" tIns="0" rIns="0" bIns="0" anchor="t">
            <a:spAutoFit/>
          </a:bodyPr>
          <a:lstStyle/>
          <a:p>
            <a:pPr algn="ctr">
              <a:spcAft>
                <a:spcPts val="0"/>
              </a:spcAft>
            </a:pPr>
            <a:r>
              <a:rPr sz="700" b="1">
                <a:solidFill>
                  <a:srgbClr val="061022"/>
                </a:solidFill>
                <a:latin typeface="Arial"/>
              </a:rPr>
              <a:t>CHECK</a:t>
            </a:r>
          </a:p>
        </p:txBody>
      </p:sp>
      <p:sp>
        <p:nvSpPr>
          <p:cNvPr id="49" name="TextBox 48"/>
          <p:cNvSpPr txBox="1"/>
          <p:nvPr/>
        </p:nvSpPr>
        <p:spPr>
          <a:xfrm>
            <a:off x="502920" y="5715000"/>
            <a:ext cx="9601200" cy="310896"/>
          </a:xfrm>
          <a:prstGeom prst="rect">
            <a:avLst/>
          </a:prstGeom>
          <a:noFill/>
        </p:spPr>
        <p:txBody>
          <a:bodyPr wrap="square" lIns="0" tIns="0" rIns="0" bIns="0" anchor="t">
            <a:spAutoFit/>
          </a:bodyPr>
          <a:lstStyle/>
          <a:p>
            <a:pPr algn="l">
              <a:spcAft>
                <a:spcPts val="0"/>
              </a:spcAft>
            </a:pPr>
            <a:r>
              <a:rPr sz="1300" b="1">
                <a:solidFill>
                  <a:srgbClr val="061022"/>
                </a:solidFill>
                <a:latin typeface="Arial"/>
              </a:rPr>
              <a:t>Good SQL starts with a clear definition of the rows, grain and metric you need.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2"/>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LECTURE 1. SQL BASICS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Summary</a:t>
            </a:r>
          </a:p>
        </p:txBody>
      </p:sp>
      <p:sp>
        <p:nvSpPr>
          <p:cNvPr id="14" name="Body"/>
          <p:cNvSpPr txBox="1"/>
          <p:nvPr/>
        </p:nvSpPr>
        <p:spPr>
          <a:xfrm>
            <a:off x="1005840" y="1367028"/>
            <a:ext cx="10332720" cy="4988052"/>
          </a:xfrm>
          <a:prstGeom prst="rect">
            <a:avLst/>
          </a:prstGeom>
          <a:noFill/>
        </p:spPr>
        <p:txBody>
          <a:bodyPr wrap="square" lIns="0" tIns="27432" rIns="0" bIns="27432" anchor="t">
            <a:spAutoFit/>
          </a:bodyPr>
          <a:lstStyle/>
          <a:p>
            <a:pPr>
              <a:spcAft>
                <a:spcPts val="810"/>
              </a:spcAft>
            </a:pPr>
            <a:r>
              <a:rPr sz="1800" b="1" i="0">
                <a:solidFill>
                  <a:srgbClr val="000000"/>
                </a:solidFill>
                <a:latin typeface="Arial"/>
              </a:rPr>
              <a:t>Filtering and sorting.</a:t>
            </a:r>
            <a:r>
              <a:rPr sz="1800" b="0" i="0">
                <a:solidFill>
                  <a:srgbClr val="000000"/>
                </a:solidFill>
                <a:latin typeface="Arial"/>
              </a:rPr>
              <a:t> </a:t>
            </a:r>
            <a:r>
              <a:rPr sz="1709" b="0" i="0">
                <a:solidFill>
                  <a:srgbClr val="007C85"/>
                </a:solidFill>
                <a:latin typeface="Consolas"/>
              </a:rPr>
              <a:t>WHERE</a:t>
            </a:r>
            <a:r>
              <a:rPr sz="1800" b="0" i="0">
                <a:solidFill>
                  <a:srgbClr val="000000"/>
                </a:solidFill>
                <a:latin typeface="Arial"/>
              </a:rPr>
              <a:t> selects rows by a condition; </a:t>
            </a:r>
            <a:r>
              <a:rPr sz="1709" b="0" i="0">
                <a:solidFill>
                  <a:srgbClr val="007C85"/>
                </a:solidFill>
                <a:latin typeface="Consolas"/>
              </a:rPr>
              <a:t>AND</a:t>
            </a:r>
            <a:r>
              <a:rPr sz="1800" b="0" i="0">
                <a:solidFill>
                  <a:srgbClr val="000000"/>
                </a:solidFill>
                <a:latin typeface="Arial"/>
              </a:rPr>
              <a:t> and </a:t>
            </a:r>
            <a:r>
              <a:rPr sz="1709" b="0" i="0">
                <a:solidFill>
                  <a:srgbClr val="007C85"/>
                </a:solidFill>
                <a:latin typeface="Consolas"/>
              </a:rPr>
              <a:t>OR</a:t>
            </a:r>
            <a:r>
              <a:rPr sz="1800" b="0" i="0">
                <a:solidFill>
                  <a:srgbClr val="000000"/>
                </a:solidFill>
                <a:latin typeface="Arial"/>
              </a:rPr>
              <a:t> combine conditions, with </a:t>
            </a:r>
            <a:r>
              <a:rPr sz="1709" b="0" i="0">
                <a:solidFill>
                  <a:srgbClr val="007C85"/>
                </a:solidFill>
                <a:latin typeface="Consolas"/>
              </a:rPr>
              <a:t>AND</a:t>
            </a:r>
            <a:r>
              <a:rPr sz="1800" b="0" i="0">
                <a:solidFill>
                  <a:srgbClr val="000000"/>
                </a:solidFill>
                <a:latin typeface="Arial"/>
              </a:rPr>
              <a:t> binding tighter — set precedence explicitly with parentheses. Text is filtered with </a:t>
            </a:r>
            <a:r>
              <a:rPr sz="1709" b="0" i="0">
                <a:solidFill>
                  <a:srgbClr val="007C85"/>
                </a:solidFill>
                <a:latin typeface="Consolas"/>
              </a:rPr>
              <a:t>=</a:t>
            </a:r>
            <a:r>
              <a:rPr sz="1800" b="0" i="0">
                <a:solidFill>
                  <a:srgbClr val="000000"/>
                </a:solidFill>
                <a:latin typeface="Arial"/>
              </a:rPr>
              <a:t>, </a:t>
            </a:r>
            <a:r>
              <a:rPr sz="1709" b="0" i="0">
                <a:solidFill>
                  <a:srgbClr val="007C85"/>
                </a:solidFill>
                <a:latin typeface="Consolas"/>
              </a:rPr>
              <a:t>LIKE</a:t>
            </a:r>
            <a:r>
              <a:rPr sz="1800" b="0" i="0">
                <a:solidFill>
                  <a:srgbClr val="000000"/>
                </a:solidFill>
                <a:latin typeface="Arial"/>
              </a:rPr>
              <a:t>, </a:t>
            </a:r>
            <a:r>
              <a:rPr sz="1709" b="0" i="0">
                <a:solidFill>
                  <a:srgbClr val="007C85"/>
                </a:solidFill>
                <a:latin typeface="Consolas"/>
              </a:rPr>
              <a:t>ILIKE</a:t>
            </a:r>
            <a:r>
              <a:rPr sz="1800" b="0" i="0">
                <a:solidFill>
                  <a:srgbClr val="000000"/>
                </a:solidFill>
                <a:latin typeface="Arial"/>
              </a:rPr>
              <a:t>, </a:t>
            </a:r>
            <a:r>
              <a:rPr sz="1709" b="0" i="0">
                <a:solidFill>
                  <a:srgbClr val="007C85"/>
                </a:solidFill>
                <a:latin typeface="Consolas"/>
              </a:rPr>
              <a:t>IN</a:t>
            </a:r>
            <a:r>
              <a:rPr sz="1800" b="0" i="0">
                <a:solidFill>
                  <a:srgbClr val="000000"/>
                </a:solidFill>
                <a:latin typeface="Arial"/>
              </a:rPr>
              <a:t> and string functions. </a:t>
            </a:r>
            <a:r>
              <a:rPr sz="1709" b="0" i="0">
                <a:solidFill>
                  <a:srgbClr val="007C85"/>
                </a:solidFill>
                <a:latin typeface="Consolas"/>
              </a:rPr>
              <a:t>ORDER BY</a:t>
            </a:r>
            <a:r>
              <a:rPr sz="1800" b="0" i="0">
                <a:solidFill>
                  <a:srgbClr val="000000"/>
                </a:solidFill>
                <a:latin typeface="Arial"/>
              </a:rPr>
              <a:t> sorts (</a:t>
            </a:r>
            <a:r>
              <a:rPr sz="1709" b="0" i="0">
                <a:solidFill>
                  <a:srgbClr val="007C85"/>
                </a:solidFill>
                <a:latin typeface="Consolas"/>
              </a:rPr>
              <a:t>ASC</a:t>
            </a:r>
            <a:r>
              <a:rPr sz="1800" b="0" i="0">
                <a:solidFill>
                  <a:srgbClr val="000000"/>
                </a:solidFill>
                <a:latin typeface="Arial"/>
              </a:rPr>
              <a:t>/</a:t>
            </a:r>
            <a:r>
              <a:rPr sz="1709" b="0" i="0">
                <a:solidFill>
                  <a:srgbClr val="007C85"/>
                </a:solidFill>
                <a:latin typeface="Consolas"/>
              </a:rPr>
              <a:t>DESC</a:t>
            </a:r>
            <a:r>
              <a:rPr sz="1800" b="0" i="0">
                <a:solidFill>
                  <a:srgbClr val="000000"/>
                </a:solidFill>
                <a:latin typeface="Arial"/>
              </a:rPr>
              <a:t>), </a:t>
            </a:r>
            <a:r>
              <a:rPr sz="1709" b="0" i="0">
                <a:solidFill>
                  <a:srgbClr val="007C85"/>
                </a:solidFill>
                <a:latin typeface="Consolas"/>
              </a:rPr>
              <a:t>LIMIT</a:t>
            </a:r>
            <a:r>
              <a:rPr sz="1800" b="0" i="0">
                <a:solidFill>
                  <a:srgbClr val="000000"/>
                </a:solidFill>
                <a:latin typeface="Arial"/>
              </a:rPr>
              <a:t> and </a:t>
            </a:r>
            <a:r>
              <a:rPr sz="1709" b="0" i="0">
                <a:solidFill>
                  <a:srgbClr val="007C85"/>
                </a:solidFill>
                <a:latin typeface="Consolas"/>
              </a:rPr>
              <a:t>OFFSET</a:t>
            </a:r>
            <a:r>
              <a:rPr sz="1800" b="0" i="0">
                <a:solidFill>
                  <a:srgbClr val="000000"/>
                </a:solidFill>
                <a:latin typeface="Arial"/>
              </a:rPr>
              <a:t> paginate. </a:t>
            </a:r>
            <a:r>
              <a:rPr sz="1709" b="0" i="0">
                <a:solidFill>
                  <a:srgbClr val="007C85"/>
                </a:solidFill>
                <a:latin typeface="Consolas"/>
              </a:rPr>
              <a:t>NULL</a:t>
            </a:r>
            <a:r>
              <a:rPr sz="1800" b="0" i="0">
                <a:solidFill>
                  <a:srgbClr val="000000"/>
                </a:solidFill>
                <a:latin typeface="Arial"/>
              </a:rPr>
              <a:t> means the absence of data: compare it with </a:t>
            </a:r>
            <a:r>
              <a:rPr sz="1709" b="0" i="0">
                <a:solidFill>
                  <a:srgbClr val="007C85"/>
                </a:solidFill>
                <a:latin typeface="Consolas"/>
              </a:rPr>
              <a:t>IS NULL</a:t>
            </a:r>
            <a:r>
              <a:rPr sz="1800" b="0" i="0">
                <a:solidFill>
                  <a:srgbClr val="000000"/>
                </a:solidFill>
                <a:latin typeface="Arial"/>
              </a:rPr>
              <a:t> / </a:t>
            </a:r>
            <a:r>
              <a:rPr sz="1709" b="0" i="0">
                <a:solidFill>
                  <a:srgbClr val="007C85"/>
                </a:solidFill>
                <a:latin typeface="Consolas"/>
              </a:rPr>
              <a:t>IS NOT NULL</a:t>
            </a:r>
            <a:r>
              <a:rPr sz="1800" b="0" i="0">
                <a:solidFill>
                  <a:srgbClr val="000000"/>
                </a:solidFill>
                <a:latin typeface="Arial"/>
              </a:rPr>
              <a:t>, replace it with </a:t>
            </a:r>
            <a:r>
              <a:rPr sz="1709" b="0" i="0">
                <a:solidFill>
                  <a:srgbClr val="007C85"/>
                </a:solidFill>
                <a:latin typeface="Consolas"/>
              </a:rPr>
              <a:t>COALESCE</a:t>
            </a:r>
            <a:r>
              <a:rPr sz="1800" b="0" i="0">
                <a:solidFill>
                  <a:srgbClr val="000000"/>
                </a:solidFill>
                <a:latin typeface="Arial"/>
              </a:rPr>
              <a:t>, and place it explicitly in sorts with </a:t>
            </a:r>
            <a:r>
              <a:rPr sz="1709" b="0" i="0">
                <a:solidFill>
                  <a:srgbClr val="007C85"/>
                </a:solidFill>
                <a:latin typeface="Consolas"/>
              </a:rPr>
              <a:t>NULLS FIRST</a:t>
            </a:r>
            <a:r>
              <a:rPr sz="1800" b="0" i="0">
                <a:solidFill>
                  <a:srgbClr val="000000"/>
                </a:solidFill>
                <a:latin typeface="Arial"/>
              </a:rPr>
              <a:t> / </a:t>
            </a:r>
            <a:r>
              <a:rPr sz="1709" b="0" i="0">
                <a:solidFill>
                  <a:srgbClr val="007C85"/>
                </a:solidFill>
                <a:latin typeface="Consolas"/>
              </a:rPr>
              <a:t>NULLS LAST</a:t>
            </a:r>
            <a:r>
              <a:rPr sz="1800" b="0" i="0">
                <a:solidFill>
                  <a:srgbClr val="000000"/>
                </a:solidFill>
                <a:latin typeface="Arial"/>
              </a:rPr>
              <a:t>.</a:t>
            </a:r>
          </a:p>
          <a:p>
            <a:pPr>
              <a:spcAft>
                <a:spcPts val="810"/>
              </a:spcAft>
            </a:pPr>
            <a:r>
              <a:rPr sz="1800" b="1" i="0">
                <a:solidFill>
                  <a:srgbClr val="000000"/>
                </a:solidFill>
                <a:latin typeface="Arial"/>
              </a:rPr>
              <a:t>Aggregate functions.</a:t>
            </a:r>
            <a:r>
              <a:rPr sz="1800" b="0" i="0">
                <a:solidFill>
                  <a:srgbClr val="000000"/>
                </a:solidFill>
                <a:latin typeface="Arial"/>
              </a:rPr>
              <a:t> </a:t>
            </a:r>
            <a:r>
              <a:rPr sz="1709" b="0" i="0">
                <a:solidFill>
                  <a:srgbClr val="007C85"/>
                </a:solidFill>
                <a:latin typeface="Consolas"/>
              </a:rPr>
              <a:t>SUM</a:t>
            </a:r>
            <a:r>
              <a:rPr sz="1800" b="0" i="0">
                <a:solidFill>
                  <a:srgbClr val="000000"/>
                </a:solidFill>
                <a:latin typeface="Arial"/>
              </a:rPr>
              <a:t>, </a:t>
            </a:r>
            <a:r>
              <a:rPr sz="1709" b="0" i="0">
                <a:solidFill>
                  <a:srgbClr val="007C85"/>
                </a:solidFill>
                <a:latin typeface="Consolas"/>
              </a:rPr>
              <a:t>MIN</a:t>
            </a:r>
            <a:r>
              <a:rPr sz="1800" b="0" i="0">
                <a:solidFill>
                  <a:srgbClr val="000000"/>
                </a:solidFill>
                <a:latin typeface="Arial"/>
              </a:rPr>
              <a:t>, </a:t>
            </a:r>
            <a:r>
              <a:rPr sz="1709" b="0" i="0">
                <a:solidFill>
                  <a:srgbClr val="007C85"/>
                </a:solidFill>
                <a:latin typeface="Consolas"/>
              </a:rPr>
              <a:t>MAX</a:t>
            </a:r>
            <a:r>
              <a:rPr sz="1800" b="0" i="0">
                <a:solidFill>
                  <a:srgbClr val="000000"/>
                </a:solidFill>
                <a:latin typeface="Arial"/>
              </a:rPr>
              <a:t>, </a:t>
            </a:r>
            <a:r>
              <a:rPr sz="1709" b="0" i="0">
                <a:solidFill>
                  <a:srgbClr val="007C85"/>
                </a:solidFill>
                <a:latin typeface="Consolas"/>
              </a:rPr>
              <a:t>AVG</a:t>
            </a:r>
            <a:r>
              <a:rPr sz="1800" b="0" i="0">
                <a:solidFill>
                  <a:srgbClr val="000000"/>
                </a:solidFill>
                <a:latin typeface="Arial"/>
              </a:rPr>
              <a:t>, </a:t>
            </a:r>
            <a:r>
              <a:rPr sz="1709" b="0" i="0">
                <a:solidFill>
                  <a:srgbClr val="007C85"/>
                </a:solidFill>
                <a:latin typeface="Consolas"/>
              </a:rPr>
              <a:t>COUNT</a:t>
            </a:r>
            <a:r>
              <a:rPr sz="1800" b="0" i="0">
                <a:solidFill>
                  <a:srgbClr val="000000"/>
                </a:solidFill>
                <a:latin typeface="Arial"/>
              </a:rPr>
              <a:t> compute a single value over a set of rows. </a:t>
            </a:r>
            <a:r>
              <a:rPr sz="1709" b="0" i="0">
                <a:solidFill>
                  <a:srgbClr val="007C85"/>
                </a:solidFill>
                <a:latin typeface="Consolas"/>
              </a:rPr>
              <a:t>COUNT(*)</a:t>
            </a:r>
            <a:r>
              <a:rPr sz="1800" b="0" i="0">
                <a:solidFill>
                  <a:srgbClr val="000000"/>
                </a:solidFill>
                <a:latin typeface="Arial"/>
              </a:rPr>
              <a:t> counts rows, </a:t>
            </a:r>
            <a:r>
              <a:rPr sz="1709" b="0" i="0">
                <a:solidFill>
                  <a:srgbClr val="007C85"/>
                </a:solidFill>
                <a:latin typeface="Consolas"/>
              </a:rPr>
              <a:t>COUNT(field)</a:t>
            </a:r>
            <a:r>
              <a:rPr sz="1800" b="0" i="0">
                <a:solidFill>
                  <a:srgbClr val="000000"/>
                </a:solidFill>
                <a:latin typeface="Arial"/>
              </a:rPr>
              <a:t> counts non-</a:t>
            </a:r>
            <a:r>
              <a:rPr sz="1709" b="0" i="0">
                <a:solidFill>
                  <a:srgbClr val="007C85"/>
                </a:solidFill>
                <a:latin typeface="Consolas"/>
              </a:rPr>
              <a:t>NULL</a:t>
            </a:r>
            <a:r>
              <a:rPr sz="1800" b="0" i="0">
                <a:solidFill>
                  <a:srgbClr val="000000"/>
                </a:solidFill>
                <a:latin typeface="Arial"/>
              </a:rPr>
              <a:t> values. </a:t>
            </a:r>
            <a:r>
              <a:rPr sz="1709" b="0" i="0">
                <a:solidFill>
                  <a:srgbClr val="007C85"/>
                </a:solidFill>
                <a:latin typeface="Consolas"/>
              </a:rPr>
              <a:t>GROUP BY</a:t>
            </a:r>
            <a:r>
              <a:rPr sz="1800" b="0" i="0">
                <a:solidFill>
                  <a:srgbClr val="000000"/>
                </a:solidFill>
                <a:latin typeface="Arial"/>
              </a:rPr>
              <a:t> applies aggregates per group, </a:t>
            </a:r>
            <a:r>
              <a:rPr sz="1709" b="0" i="0">
                <a:solidFill>
                  <a:srgbClr val="007C85"/>
                </a:solidFill>
                <a:latin typeface="Consolas"/>
              </a:rPr>
              <a:t>HAVING</a:t>
            </a:r>
            <a:r>
              <a:rPr sz="1800" b="0" i="0">
                <a:solidFill>
                  <a:srgbClr val="000000"/>
                </a:solidFill>
                <a:latin typeface="Arial"/>
              </a:rPr>
              <a:t> filters the groups afterwards, and </a:t>
            </a:r>
            <a:r>
              <a:rPr sz="1709" b="0" i="0">
                <a:solidFill>
                  <a:srgbClr val="007C85"/>
                </a:solidFill>
                <a:latin typeface="Consolas"/>
              </a:rPr>
              <a:t>FILTER (WHERE …)</a:t>
            </a:r>
            <a:r>
              <a:rPr sz="1800" b="0" i="0">
                <a:solidFill>
                  <a:srgbClr val="000000"/>
                </a:solidFill>
                <a:latin typeface="Arial"/>
              </a:rPr>
              <a:t> conditions a single aggregate. Filter non-aggregated data in </a:t>
            </a:r>
            <a:r>
              <a:rPr sz="1709" b="0" i="0">
                <a:solidFill>
                  <a:srgbClr val="007C85"/>
                </a:solidFill>
                <a:latin typeface="Consolas"/>
              </a:rPr>
              <a:t>WHERE</a:t>
            </a:r>
            <a:r>
              <a:rPr sz="1800" b="0" i="0">
                <a:solidFill>
                  <a:srgbClr val="000000"/>
                </a:solidFill>
                <a:latin typeface="Arial"/>
              </a:rPr>
              <a:t>, before grouping.</a:t>
            </a:r>
          </a:p>
          <a:p>
            <a:pPr>
              <a:spcAft>
                <a:spcPts val="810"/>
              </a:spcAft>
            </a:pPr>
            <a:r>
              <a:rPr sz="1800" b="1" i="0">
                <a:solidFill>
                  <a:srgbClr val="000000"/>
                </a:solidFill>
                <a:latin typeface="Arial"/>
              </a:rPr>
              <a:t>Window functions.</a:t>
            </a:r>
            <a:r>
              <a:rPr sz="1800" b="0" i="0">
                <a:solidFill>
                  <a:srgbClr val="000000"/>
                </a:solidFill>
                <a:latin typeface="Arial"/>
              </a:rPr>
              <a:t> </a:t>
            </a:r>
            <a:r>
              <a:rPr sz="1709" b="0" i="0">
                <a:solidFill>
                  <a:srgbClr val="007C85"/>
                </a:solidFill>
                <a:latin typeface="Consolas"/>
              </a:rPr>
              <a:t>&lt;function&gt;(&lt;field&gt;) OVER (PARTITION BY … ORDER BY … &lt;frame&gt;)</a:t>
            </a:r>
            <a:r>
              <a:rPr sz="1800" b="0" i="0">
                <a:solidFill>
                  <a:srgbClr val="000000"/>
                </a:solidFill>
                <a:latin typeface="Arial"/>
              </a:rPr>
              <a:t> computes over a window while returning every input row. Three groups: aggregate (</a:t>
            </a:r>
            <a:r>
              <a:rPr sz="1709" b="0" i="0">
                <a:solidFill>
                  <a:srgbClr val="007C85"/>
                </a:solidFill>
                <a:latin typeface="Consolas"/>
              </a:rPr>
              <a:t>SUM</a:t>
            </a:r>
            <a:r>
              <a:rPr sz="1800" b="0" i="0">
                <a:solidFill>
                  <a:srgbClr val="000000"/>
                </a:solidFill>
                <a:latin typeface="Arial"/>
              </a:rPr>
              <a:t>, </a:t>
            </a:r>
            <a:r>
              <a:rPr sz="1709" b="0" i="0">
                <a:solidFill>
                  <a:srgbClr val="007C85"/>
                </a:solidFill>
                <a:latin typeface="Consolas"/>
              </a:rPr>
              <a:t>AVG</a:t>
            </a:r>
            <a:r>
              <a:rPr sz="1800" b="0" i="0">
                <a:solidFill>
                  <a:srgbClr val="000000"/>
                </a:solidFill>
                <a:latin typeface="Arial"/>
              </a:rPr>
              <a:t>, </a:t>
            </a:r>
            <a:r>
              <a:rPr sz="1709" b="0" i="0">
                <a:solidFill>
                  <a:srgbClr val="007C85"/>
                </a:solidFill>
                <a:latin typeface="Consolas"/>
              </a:rPr>
              <a:t>MIN</a:t>
            </a:r>
            <a:r>
              <a:rPr sz="1800" b="0" i="0">
                <a:solidFill>
                  <a:srgbClr val="000000"/>
                </a:solidFill>
                <a:latin typeface="Arial"/>
              </a:rPr>
              <a:t>, </a:t>
            </a:r>
            <a:r>
              <a:rPr sz="1709" b="0" i="0">
                <a:solidFill>
                  <a:srgbClr val="007C85"/>
                </a:solidFill>
                <a:latin typeface="Consolas"/>
              </a:rPr>
              <a:t>MAX</a:t>
            </a:r>
            <a:r>
              <a:rPr sz="1800" b="0" i="0">
                <a:solidFill>
                  <a:srgbClr val="000000"/>
                </a:solidFill>
                <a:latin typeface="Arial"/>
              </a:rPr>
              <a:t>, </a:t>
            </a:r>
            <a:r>
              <a:rPr sz="1709" b="0" i="0">
                <a:solidFill>
                  <a:srgbClr val="007C85"/>
                </a:solidFill>
                <a:latin typeface="Consolas"/>
              </a:rPr>
              <a:t>COUNT</a:t>
            </a:r>
            <a:r>
              <a:rPr sz="1800" b="0" i="0">
                <a:solidFill>
                  <a:srgbClr val="000000"/>
                </a:solidFill>
                <a:latin typeface="Arial"/>
              </a:rPr>
              <a:t>), offset (</a:t>
            </a:r>
            <a:r>
              <a:rPr sz="1709" b="0" i="0">
                <a:solidFill>
                  <a:srgbClr val="007C85"/>
                </a:solidFill>
                <a:latin typeface="Consolas"/>
              </a:rPr>
              <a:t>LAG</a:t>
            </a:r>
            <a:r>
              <a:rPr sz="1800" b="0" i="0">
                <a:solidFill>
                  <a:srgbClr val="000000"/>
                </a:solidFill>
                <a:latin typeface="Arial"/>
              </a:rPr>
              <a:t>, </a:t>
            </a:r>
            <a:r>
              <a:rPr sz="1709" b="0" i="0">
                <a:solidFill>
                  <a:srgbClr val="007C85"/>
                </a:solidFill>
                <a:latin typeface="Consolas"/>
              </a:rPr>
              <a:t>LEAD</a:t>
            </a:r>
            <a:r>
              <a:rPr sz="1800" b="0" i="0">
                <a:solidFill>
                  <a:srgbClr val="000000"/>
                </a:solidFill>
                <a:latin typeface="Arial"/>
              </a:rPr>
              <a:t>, </a:t>
            </a:r>
            <a:r>
              <a:rPr sz="1709" b="0" i="0">
                <a:solidFill>
                  <a:srgbClr val="007C85"/>
                </a:solidFill>
                <a:latin typeface="Consolas"/>
              </a:rPr>
              <a:t>FIRST_VALUE</a:t>
            </a:r>
            <a:r>
              <a:rPr sz="1800" b="0" i="0">
                <a:solidFill>
                  <a:srgbClr val="000000"/>
                </a:solidFill>
                <a:latin typeface="Arial"/>
              </a:rPr>
              <a:t>, </a:t>
            </a:r>
            <a:r>
              <a:rPr sz="1709" b="0" i="0">
                <a:solidFill>
                  <a:srgbClr val="007C85"/>
                </a:solidFill>
                <a:latin typeface="Consolas"/>
              </a:rPr>
              <a:t>LAST_VALUE</a:t>
            </a:r>
            <a:r>
              <a:rPr sz="1800" b="0" i="0">
                <a:solidFill>
                  <a:srgbClr val="000000"/>
                </a:solidFill>
                <a:latin typeface="Arial"/>
              </a:rPr>
              <a:t>, </a:t>
            </a:r>
            <a:r>
              <a:rPr sz="1709" b="0" i="0">
                <a:solidFill>
                  <a:srgbClr val="007C85"/>
                </a:solidFill>
                <a:latin typeface="Consolas"/>
              </a:rPr>
              <a:t>NTH_VALUE</a:t>
            </a:r>
            <a:r>
              <a:rPr sz="1800" b="0" i="0">
                <a:solidFill>
                  <a:srgbClr val="000000"/>
                </a:solidFill>
                <a:latin typeface="Arial"/>
              </a:rPr>
              <a:t>) and ranking (</a:t>
            </a:r>
            <a:r>
              <a:rPr sz="1709" b="0" i="0">
                <a:solidFill>
                  <a:srgbClr val="007C85"/>
                </a:solidFill>
                <a:latin typeface="Consolas"/>
              </a:rPr>
              <a:t>ROW_NUMBER</a:t>
            </a:r>
            <a:r>
              <a:rPr sz="1800" b="0" i="0">
                <a:solidFill>
                  <a:srgbClr val="000000"/>
                </a:solidFill>
                <a:latin typeface="Arial"/>
              </a:rPr>
              <a:t>, </a:t>
            </a:r>
            <a:r>
              <a:rPr sz="1709" b="0" i="0">
                <a:solidFill>
                  <a:srgbClr val="007C85"/>
                </a:solidFill>
                <a:latin typeface="Consolas"/>
              </a:rPr>
              <a:t>RANK</a:t>
            </a:r>
            <a:r>
              <a:rPr sz="1800" b="0" i="0">
                <a:solidFill>
                  <a:srgbClr val="000000"/>
                </a:solidFill>
                <a:latin typeface="Arial"/>
              </a:rPr>
              <a:t>, </a:t>
            </a:r>
            <a:r>
              <a:rPr sz="1709" b="0" i="0">
                <a:solidFill>
                  <a:srgbClr val="007C85"/>
                </a:solidFill>
                <a:latin typeface="Consolas"/>
              </a:rPr>
              <a:t>DENSE_RANK</a:t>
            </a:r>
            <a:r>
              <a:rPr sz="1800" b="0" i="0">
                <a:solidFill>
                  <a:srgbClr val="000000"/>
                </a:solidFill>
                <a:latin typeface="Arial"/>
              </a:rPr>
              <a:t>, </a:t>
            </a:r>
            <a:r>
              <a:rPr sz="1709" b="0" i="0">
                <a:solidFill>
                  <a:srgbClr val="007C85"/>
                </a:solidFill>
                <a:latin typeface="Consolas"/>
              </a:rPr>
              <a:t>NTILE</a:t>
            </a:r>
            <a:r>
              <a:rPr sz="1800" b="0" i="0">
                <a:solidFill>
                  <a:srgbClr val="000000"/>
                </a:solidFill>
                <a:latin typeface="Arial"/>
              </a:rPr>
              <a:t>, </a:t>
            </a:r>
            <a:r>
              <a:rPr sz="1709" b="0" i="0">
                <a:solidFill>
                  <a:srgbClr val="007C85"/>
                </a:solidFill>
                <a:latin typeface="Consolas"/>
              </a:rPr>
              <a:t>CUME_DIST</a:t>
            </a:r>
            <a:r>
              <a:rPr sz="1800" b="0" i="0">
                <a:solidFill>
                  <a:srgbClr val="000000"/>
                </a:solidFill>
                <a:latin typeface="Arial"/>
              </a:rPr>
              <a:t>, </a:t>
            </a:r>
            <a:r>
              <a:rPr sz="1709" b="0" i="0">
                <a:solidFill>
                  <a:srgbClr val="007C85"/>
                </a:solidFill>
                <a:latin typeface="Consolas"/>
              </a:rPr>
              <a:t>PERCENT_RANK</a:t>
            </a:r>
            <a:r>
              <a:rPr sz="1800" b="0" i="0">
                <a:solidFill>
                  <a:srgbClr val="000000"/>
                </a:solidFill>
                <a:latin typeface="Arial"/>
              </a:rPr>
              <a:t>). Frames (</a:t>
            </a:r>
            <a:r>
              <a:rPr sz="1709" b="0" i="0">
                <a:solidFill>
                  <a:srgbClr val="007C85"/>
                </a:solidFill>
                <a:latin typeface="Consolas"/>
              </a:rPr>
              <a:t>ROWS</a:t>
            </a:r>
            <a:r>
              <a:rPr sz="1800" b="0" i="0">
                <a:solidFill>
                  <a:srgbClr val="000000"/>
                </a:solidFill>
                <a:latin typeface="Arial"/>
              </a:rPr>
              <a:t>, </a:t>
            </a:r>
            <a:r>
              <a:rPr sz="1709" b="0" i="0">
                <a:solidFill>
                  <a:srgbClr val="007C85"/>
                </a:solidFill>
                <a:latin typeface="Consolas"/>
              </a:rPr>
              <a:t>RANGE</a:t>
            </a:r>
            <a:r>
              <a:rPr sz="1800" b="0" i="0">
                <a:solidFill>
                  <a:srgbClr val="000000"/>
                </a:solidFill>
                <a:latin typeface="Arial"/>
              </a:rPr>
              <a:t>) fix the exact set of rows; </a:t>
            </a:r>
            <a:r>
              <a:rPr sz="1709" b="0" i="0">
                <a:solidFill>
                  <a:srgbClr val="007C85"/>
                </a:solidFill>
                <a:latin typeface="Consolas"/>
              </a:rPr>
              <a:t>WINDOW</a:t>
            </a:r>
            <a:r>
              <a:rPr sz="1800" b="0" i="0">
                <a:solidFill>
                  <a:srgbClr val="000000"/>
                </a:solidFill>
                <a:latin typeface="Arial"/>
              </a:rPr>
              <a:t> names a window for reuse. To filter on a window function, compute it in a CTE and filter outside.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2"/>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LECTURE 1. SQL BASICS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Summary</a:t>
            </a:r>
          </a:p>
        </p:txBody>
      </p:sp>
      <p:sp>
        <p:nvSpPr>
          <p:cNvPr id="14" name="Body"/>
          <p:cNvSpPr txBox="1"/>
          <p:nvPr/>
        </p:nvSpPr>
        <p:spPr>
          <a:xfrm>
            <a:off x="1005840" y="1367028"/>
            <a:ext cx="10332720" cy="4988052"/>
          </a:xfrm>
          <a:prstGeom prst="rect">
            <a:avLst/>
          </a:prstGeom>
          <a:noFill/>
        </p:spPr>
        <p:txBody>
          <a:bodyPr wrap="square" lIns="0" tIns="27432" rIns="0" bIns="27432" anchor="t">
            <a:spAutoFit/>
          </a:bodyPr>
          <a:lstStyle/>
          <a:p>
            <a:pPr>
              <a:spcAft>
                <a:spcPts val="810"/>
              </a:spcAft>
            </a:pPr>
            <a:r>
              <a:rPr sz="1800" b="1" i="0">
                <a:solidFill>
                  <a:srgbClr val="000000"/>
                </a:solidFill>
                <a:latin typeface="Arial"/>
              </a:rPr>
              <a:t>Subqueries and CTE.</a:t>
            </a:r>
            <a:r>
              <a:rPr sz="1800" b="0" i="0">
                <a:solidFill>
                  <a:srgbClr val="000000"/>
                </a:solidFill>
                <a:latin typeface="Arial"/>
              </a:rPr>
              <a:t> A subquery is a query inside another query — non-correlated, correlated or scalar — usable in </a:t>
            </a:r>
            <a:r>
              <a:rPr sz="1709" b="0" i="0">
                <a:solidFill>
                  <a:srgbClr val="007C85"/>
                </a:solidFill>
                <a:latin typeface="Consolas"/>
              </a:rPr>
              <a:t>SELECT</a:t>
            </a:r>
            <a:r>
              <a:rPr sz="1800" b="0" i="0">
                <a:solidFill>
                  <a:srgbClr val="000000"/>
                </a:solidFill>
                <a:latin typeface="Arial"/>
              </a:rPr>
              <a:t>, </a:t>
            </a:r>
            <a:r>
              <a:rPr sz="1709" b="0" i="0">
                <a:solidFill>
                  <a:srgbClr val="007C85"/>
                </a:solidFill>
                <a:latin typeface="Consolas"/>
              </a:rPr>
              <a:t>FROM</a:t>
            </a:r>
            <a:r>
              <a:rPr sz="1800" b="0" i="0">
                <a:solidFill>
                  <a:srgbClr val="000000"/>
                </a:solidFill>
                <a:latin typeface="Arial"/>
              </a:rPr>
              <a:t>, </a:t>
            </a:r>
            <a:r>
              <a:rPr sz="1709" b="0" i="0">
                <a:solidFill>
                  <a:srgbClr val="007C85"/>
                </a:solidFill>
                <a:latin typeface="Consolas"/>
              </a:rPr>
              <a:t>JOIN</a:t>
            </a:r>
            <a:r>
              <a:rPr sz="1800" b="0" i="0">
                <a:solidFill>
                  <a:srgbClr val="000000"/>
                </a:solidFill>
                <a:latin typeface="Arial"/>
              </a:rPr>
              <a:t>, </a:t>
            </a:r>
            <a:r>
              <a:rPr sz="1709" b="0" i="0">
                <a:solidFill>
                  <a:srgbClr val="007C85"/>
                </a:solidFill>
                <a:latin typeface="Consolas"/>
              </a:rPr>
              <a:t>WHERE</a:t>
            </a:r>
            <a:r>
              <a:rPr sz="1800" b="0" i="0">
                <a:solidFill>
                  <a:srgbClr val="000000"/>
                </a:solidFill>
                <a:latin typeface="Arial"/>
              </a:rPr>
              <a:t>, </a:t>
            </a:r>
            <a:r>
              <a:rPr sz="1709" b="0" i="0">
                <a:solidFill>
                  <a:srgbClr val="007C85"/>
                </a:solidFill>
                <a:latin typeface="Consolas"/>
              </a:rPr>
              <a:t>HAVING</a:t>
            </a:r>
            <a:r>
              <a:rPr sz="1800" b="0" i="0">
                <a:solidFill>
                  <a:srgbClr val="000000"/>
                </a:solidFill>
                <a:latin typeface="Arial"/>
              </a:rPr>
              <a:t> and </a:t>
            </a:r>
            <a:r>
              <a:rPr sz="1709" b="0" i="0">
                <a:solidFill>
                  <a:srgbClr val="007C85"/>
                </a:solidFill>
                <a:latin typeface="Consolas"/>
              </a:rPr>
              <a:t>ORDER BY</a:t>
            </a:r>
            <a:r>
              <a:rPr sz="1800" b="0" i="0">
                <a:solidFill>
                  <a:srgbClr val="000000"/>
                </a:solidFill>
                <a:latin typeface="Arial"/>
              </a:rPr>
              <a:t>, with </a:t>
            </a:r>
            <a:r>
              <a:rPr sz="1709" b="0" i="0">
                <a:solidFill>
                  <a:srgbClr val="007C85"/>
                </a:solidFill>
                <a:latin typeface="Consolas"/>
              </a:rPr>
              <a:t>IN</a:t>
            </a:r>
            <a:r>
              <a:rPr sz="1800" b="0" i="0">
                <a:solidFill>
                  <a:srgbClr val="000000"/>
                </a:solidFill>
                <a:latin typeface="Arial"/>
              </a:rPr>
              <a:t>, </a:t>
            </a:r>
            <a:r>
              <a:rPr sz="1709" b="0" i="0">
                <a:solidFill>
                  <a:srgbClr val="007C85"/>
                </a:solidFill>
                <a:latin typeface="Consolas"/>
              </a:rPr>
              <a:t>EXISTS</a:t>
            </a:r>
            <a:r>
              <a:rPr sz="1800" b="0" i="0">
                <a:solidFill>
                  <a:srgbClr val="000000"/>
                </a:solidFill>
                <a:latin typeface="Arial"/>
              </a:rPr>
              <a:t>, </a:t>
            </a:r>
            <a:r>
              <a:rPr sz="1709" b="0" i="0">
                <a:solidFill>
                  <a:srgbClr val="007C85"/>
                </a:solidFill>
                <a:latin typeface="Consolas"/>
              </a:rPr>
              <a:t>ANY</a:t>
            </a:r>
            <a:r>
              <a:rPr sz="1800" b="0" i="0">
                <a:solidFill>
                  <a:srgbClr val="000000"/>
                </a:solidFill>
                <a:latin typeface="Arial"/>
              </a:rPr>
              <a:t>/</a:t>
            </a:r>
            <a:r>
              <a:rPr sz="1709" b="0" i="0">
                <a:solidFill>
                  <a:srgbClr val="007C85"/>
                </a:solidFill>
                <a:latin typeface="Consolas"/>
              </a:rPr>
              <a:t>SOME</a:t>
            </a:r>
            <a:r>
              <a:rPr sz="1800" b="0" i="0">
                <a:solidFill>
                  <a:srgbClr val="000000"/>
                </a:solidFill>
                <a:latin typeface="Arial"/>
              </a:rPr>
              <a:t> and </a:t>
            </a:r>
            <a:r>
              <a:rPr sz="1709" b="0" i="0">
                <a:solidFill>
                  <a:srgbClr val="007C85"/>
                </a:solidFill>
                <a:latin typeface="Consolas"/>
              </a:rPr>
              <a:t>ALL</a:t>
            </a:r>
            <a:r>
              <a:rPr sz="1800" b="0" i="0">
                <a:solidFill>
                  <a:srgbClr val="000000"/>
                </a:solidFill>
                <a:latin typeface="Arial"/>
              </a:rPr>
              <a:t>. A CTE (</a:t>
            </a:r>
            <a:r>
              <a:rPr sz="1709" b="0" i="0">
                <a:solidFill>
                  <a:srgbClr val="007C85"/>
                </a:solidFill>
                <a:latin typeface="Consolas"/>
              </a:rPr>
              <a:t>WITH</a:t>
            </a:r>
            <a:r>
              <a:rPr sz="1800" b="0" i="0">
                <a:solidFill>
                  <a:srgbClr val="000000"/>
                </a:solidFill>
                <a:latin typeface="Arial"/>
              </a:rPr>
              <a:t>) lifts a subquery out of the main query, improving readability and letting one result be reused. </a:t>
            </a:r>
            <a:r>
              <a:rPr sz="1709" b="0" i="0">
                <a:solidFill>
                  <a:srgbClr val="007C85"/>
                </a:solidFill>
                <a:latin typeface="Consolas"/>
              </a:rPr>
              <a:t>WITH RECURSIVE</a:t>
            </a:r>
            <a:r>
              <a:rPr sz="1800" b="0" i="0">
                <a:solidFill>
                  <a:srgbClr val="000000"/>
                </a:solidFill>
                <a:latin typeface="Arial"/>
              </a:rPr>
              <a:t> walks graphs and hierarchies. A CTE lives only for the duration of the query; a temporary table lives until the end of the session.</a:t>
            </a:r>
          </a:p>
          <a:p>
            <a:pPr>
              <a:spcAft>
                <a:spcPts val="810"/>
              </a:spcAft>
            </a:pPr>
            <a:r>
              <a:rPr sz="1800" b="1" i="0">
                <a:solidFill>
                  <a:srgbClr val="000000"/>
                </a:solidFill>
                <a:latin typeface="Arial"/>
              </a:rPr>
              <a:t>Joins and unions.</a:t>
            </a:r>
            <a:r>
              <a:rPr sz="1800" b="0" i="0">
                <a:solidFill>
                  <a:srgbClr val="000000"/>
                </a:solidFill>
                <a:latin typeface="Arial"/>
              </a:rPr>
              <a:t> </a:t>
            </a:r>
            <a:r>
              <a:rPr sz="1709" b="0" i="0">
                <a:solidFill>
                  <a:srgbClr val="007C85"/>
                </a:solidFill>
                <a:latin typeface="Consolas"/>
              </a:rPr>
              <a:t>DISTINCT</a:t>
            </a:r>
            <a:r>
              <a:rPr sz="1800" b="0" i="0">
                <a:solidFill>
                  <a:srgbClr val="000000"/>
                </a:solidFill>
                <a:latin typeface="Arial"/>
              </a:rPr>
              <a:t> removes duplicate rows. </a:t>
            </a:r>
            <a:r>
              <a:rPr sz="1709" b="0" i="0">
                <a:solidFill>
                  <a:srgbClr val="007C85"/>
                </a:solidFill>
                <a:latin typeface="Consolas"/>
              </a:rPr>
              <a:t>UNION</a:t>
            </a:r>
            <a:r>
              <a:rPr sz="1800" b="0" i="0">
                <a:solidFill>
                  <a:srgbClr val="000000"/>
                </a:solidFill>
                <a:latin typeface="Arial"/>
              </a:rPr>
              <a:t>/</a:t>
            </a:r>
            <a:r>
              <a:rPr sz="1709" b="0" i="0">
                <a:solidFill>
                  <a:srgbClr val="007C85"/>
                </a:solidFill>
                <a:latin typeface="Consolas"/>
              </a:rPr>
              <a:t>UNION ALL</a:t>
            </a:r>
            <a:r>
              <a:rPr sz="1800" b="0" i="0">
                <a:solidFill>
                  <a:srgbClr val="000000"/>
                </a:solidFill>
                <a:latin typeface="Arial"/>
              </a:rPr>
              <a:t> combine results vertically (</a:t>
            </a:r>
            <a:r>
              <a:rPr sz="1709" b="0" i="0">
                <a:solidFill>
                  <a:srgbClr val="007C85"/>
                </a:solidFill>
                <a:latin typeface="Consolas"/>
              </a:rPr>
              <a:t>UNION</a:t>
            </a:r>
            <a:r>
              <a:rPr sz="1800" b="0" i="0">
                <a:solidFill>
                  <a:srgbClr val="000000"/>
                </a:solidFill>
                <a:latin typeface="Arial"/>
              </a:rPr>
              <a:t> deduplicates, </a:t>
            </a:r>
            <a:r>
              <a:rPr sz="1709" b="0" i="0">
                <a:solidFill>
                  <a:srgbClr val="007C85"/>
                </a:solidFill>
                <a:latin typeface="Consolas"/>
              </a:rPr>
              <a:t>UNION ALL</a:t>
            </a:r>
            <a:r>
              <a:rPr sz="1800" b="0" i="0">
                <a:solidFill>
                  <a:srgbClr val="000000"/>
                </a:solidFill>
                <a:latin typeface="Arial"/>
              </a:rPr>
              <a:t> is faster). </a:t>
            </a:r>
            <a:r>
              <a:rPr sz="1709" b="0" i="0">
                <a:solidFill>
                  <a:srgbClr val="007C85"/>
                </a:solidFill>
                <a:latin typeface="Consolas"/>
              </a:rPr>
              <a:t>JOIN</a:t>
            </a:r>
            <a:r>
              <a:rPr sz="1800" b="0" i="0">
                <a:solidFill>
                  <a:srgbClr val="000000"/>
                </a:solidFill>
                <a:latin typeface="Arial"/>
              </a:rPr>
              <a:t> combines them horizontally: </a:t>
            </a:r>
            <a:r>
              <a:rPr sz="1709" b="0" i="0">
                <a:solidFill>
                  <a:srgbClr val="007C85"/>
                </a:solidFill>
                <a:latin typeface="Consolas"/>
              </a:rPr>
              <a:t>INNER</a:t>
            </a:r>
            <a:r>
              <a:rPr sz="1800" b="0" i="0">
                <a:solidFill>
                  <a:srgbClr val="000000"/>
                </a:solidFill>
                <a:latin typeface="Arial"/>
              </a:rPr>
              <a:t>, </a:t>
            </a:r>
            <a:r>
              <a:rPr sz="1709" b="0" i="0">
                <a:solidFill>
                  <a:srgbClr val="007C85"/>
                </a:solidFill>
                <a:latin typeface="Consolas"/>
              </a:rPr>
              <a:t>LEFT</a:t>
            </a:r>
            <a:r>
              <a:rPr sz="1800" b="0" i="0">
                <a:solidFill>
                  <a:srgbClr val="000000"/>
                </a:solidFill>
                <a:latin typeface="Arial"/>
              </a:rPr>
              <a:t>, </a:t>
            </a:r>
            <a:r>
              <a:rPr sz="1709" b="0" i="0">
                <a:solidFill>
                  <a:srgbClr val="007C85"/>
                </a:solidFill>
                <a:latin typeface="Consolas"/>
              </a:rPr>
              <a:t>RIGHT</a:t>
            </a:r>
            <a:r>
              <a:rPr sz="1800" b="0" i="0">
                <a:solidFill>
                  <a:srgbClr val="000000"/>
                </a:solidFill>
                <a:latin typeface="Arial"/>
              </a:rPr>
              <a:t>, </a:t>
            </a:r>
            <a:r>
              <a:rPr sz="1709" b="0" i="0">
                <a:solidFill>
                  <a:srgbClr val="007C85"/>
                </a:solidFill>
                <a:latin typeface="Consolas"/>
              </a:rPr>
              <a:t>FULL</a:t>
            </a:r>
            <a:r>
              <a:rPr sz="1800" b="0" i="0">
                <a:solidFill>
                  <a:srgbClr val="000000"/>
                </a:solidFill>
                <a:latin typeface="Arial"/>
              </a:rPr>
              <a:t>, </a:t>
            </a:r>
            <a:r>
              <a:rPr sz="1709" b="0" i="0">
                <a:solidFill>
                  <a:srgbClr val="007C85"/>
                </a:solidFill>
                <a:latin typeface="Consolas"/>
              </a:rPr>
              <a:t>CROSS</a:t>
            </a:r>
            <a:r>
              <a:rPr sz="1800" b="0" i="0">
                <a:solidFill>
                  <a:srgbClr val="000000"/>
                </a:solidFill>
                <a:latin typeface="Arial"/>
              </a:rPr>
              <a:t>, plus the </a:t>
            </a:r>
            <a:r>
              <a:rPr sz="1709" b="0" i="0">
                <a:solidFill>
                  <a:srgbClr val="007C85"/>
                </a:solidFill>
                <a:latin typeface="Consolas"/>
              </a:rPr>
              <a:t>SELF JOIN</a:t>
            </a:r>
            <a:r>
              <a:rPr sz="1800" b="0" i="0">
                <a:solidFill>
                  <a:srgbClr val="000000"/>
                </a:solidFill>
                <a:latin typeface="Arial"/>
              </a:rPr>
              <a:t> and anti-join patterns. A many-to-many needs a bridge table — here, </a:t>
            </a:r>
            <a:r>
              <a:rPr sz="1709" b="0" i="0">
                <a:solidFill>
                  <a:srgbClr val="007C85"/>
                </a:solidFill>
                <a:latin typeface="Consolas"/>
              </a:rPr>
              <a:t>track_artists</a:t>
            </a:r>
            <a:r>
              <a:rPr sz="1800" b="0" i="0">
                <a:solidFill>
                  <a:srgbClr val="000000"/>
                </a:solidFill>
                <a:latin typeface="Arial"/>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lack background with a black square&#10;&#10;AI-generated content may be incorrect.">
            <a:extLst>
              <a:ext uri="{FF2B5EF4-FFF2-40B4-BE49-F238E27FC236}">
                <a16:creationId xmlns:a16="http://schemas.microsoft.com/office/drawing/2014/main" id="{3ACF8AF4-1303-4591-2A1A-1D337805B95E}"/>
              </a:ext>
            </a:extLst>
          </p:cNvPr>
          <p:cNvPicPr>
            <a:picLocks noChangeAspect="1"/>
          </p:cNvPicPr>
          <p:nvPr/>
        </p:nvPicPr>
        <p:blipFill>
          <a:blip r:embed="rId2"/>
          <a:stretch>
            <a:fillRect/>
          </a:stretch>
        </p:blipFill>
        <p:spPr>
          <a:xfrm>
            <a:off x="205078" y="262042"/>
            <a:ext cx="332804" cy="332804"/>
          </a:xfrm>
          <a:prstGeom prst="rect">
            <a:avLst/>
          </a:prstGeom>
        </p:spPr>
      </p:pic>
      <p:sp>
        <p:nvSpPr>
          <p:cNvPr id="12" name="Kicker"/>
          <p:cNvSpPr txBox="1"/>
          <p:nvPr/>
        </p:nvSpPr>
        <p:spPr>
          <a:xfrm>
            <a:off x="1005840" y="256032"/>
            <a:ext cx="10332720" cy="292608"/>
          </a:xfrm>
          <a:prstGeom prst="rect">
            <a:avLst/>
          </a:prstGeom>
          <a:noFill/>
        </p:spPr>
        <p:txBody>
          <a:bodyPr wrap="square" lIns="0" tIns="27432" rIns="0" bIns="27432" anchor="t">
            <a:spAutoFit/>
          </a:bodyPr>
          <a:lstStyle/>
          <a:p>
            <a:r>
              <a:rPr sz="1200" b="1" i="0">
                <a:solidFill>
                  <a:srgbClr val="007C85"/>
                </a:solidFill>
                <a:latin typeface="Arial"/>
              </a:rPr>
              <a:t>LECTURE 1. SQL BASICS</a:t>
            </a:r>
          </a:p>
        </p:txBody>
      </p:sp>
      <p:sp>
        <p:nvSpPr>
          <p:cNvPr id="13" name="Title"/>
          <p:cNvSpPr txBox="1"/>
          <p:nvPr/>
        </p:nvSpPr>
        <p:spPr>
          <a:xfrm>
            <a:off x="1005840" y="566928"/>
            <a:ext cx="10332720" cy="617219"/>
          </a:xfrm>
          <a:prstGeom prst="rect">
            <a:avLst/>
          </a:prstGeom>
          <a:noFill/>
        </p:spPr>
        <p:txBody>
          <a:bodyPr wrap="square" lIns="0" tIns="27432" rIns="0" bIns="27432" anchor="t">
            <a:spAutoFit/>
          </a:bodyPr>
          <a:lstStyle/>
          <a:p>
            <a:r>
              <a:rPr sz="3600" b="1" i="0">
                <a:solidFill>
                  <a:srgbClr val="000000"/>
                </a:solidFill>
                <a:latin typeface="Arial"/>
              </a:rPr>
              <a:t>Summary</a:t>
            </a:r>
          </a:p>
        </p:txBody>
      </p:sp>
      <p:sp>
        <p:nvSpPr>
          <p:cNvPr id="14" name="Lead"/>
          <p:cNvSpPr txBox="1"/>
          <p:nvPr/>
        </p:nvSpPr>
        <p:spPr>
          <a:xfrm>
            <a:off x="1005840" y="1367028"/>
            <a:ext cx="10332720" cy="1249680"/>
          </a:xfrm>
          <a:prstGeom prst="rect">
            <a:avLst/>
          </a:prstGeom>
          <a:noFill/>
        </p:spPr>
        <p:txBody>
          <a:bodyPr wrap="square" lIns="0" tIns="27432" rIns="0" bIns="27432" anchor="t">
            <a:spAutoFit/>
          </a:bodyPr>
          <a:lstStyle/>
          <a:p>
            <a:pPr>
              <a:spcAft>
                <a:spcPts val="720"/>
              </a:spcAft>
            </a:pPr>
            <a:r>
              <a:rPr sz="1600" b="1" i="0">
                <a:solidFill>
                  <a:srgbClr val="000000"/>
                </a:solidFill>
                <a:latin typeface="Arial"/>
              </a:rPr>
              <a:t>ACID and execution.</a:t>
            </a:r>
            <a:r>
              <a:rPr sz="1600" b="0" i="0">
                <a:solidFill>
                  <a:srgbClr val="000000"/>
                </a:solidFill>
                <a:latin typeface="Arial"/>
              </a:rPr>
              <a:t> Transactions guarantee Atomicity, Consistency, Isolation and Durability. Clauses execute in the order </a:t>
            </a:r>
            <a:r>
              <a:rPr sz="1520" b="0" i="0">
                <a:solidFill>
                  <a:srgbClr val="007C85"/>
                </a:solidFill>
                <a:latin typeface="Consolas"/>
              </a:rPr>
              <a:t>FROM → ON → JOIN → WHERE → GROUP BY → HAVING → SELECT → DISTINCT → ORDER BY → LIMIT/OFFSET</a:t>
            </a:r>
            <a:r>
              <a:rPr sz="1600" b="0" i="0">
                <a:solidFill>
                  <a:srgbClr val="000000"/>
                </a:solidFill>
                <a:latin typeface="Arial"/>
              </a:rPr>
              <a:t>; </a:t>
            </a:r>
            <a:r>
              <a:rPr sz="1520" b="0" i="0">
                <a:solidFill>
                  <a:srgbClr val="007C85"/>
                </a:solidFill>
                <a:latin typeface="Consolas"/>
              </a:rPr>
              <a:t>EXPLAIN</a:t>
            </a:r>
            <a:r>
              <a:rPr sz="1600" b="0" i="0">
                <a:solidFill>
                  <a:srgbClr val="000000"/>
                </a:solidFill>
                <a:latin typeface="Arial"/>
              </a:rPr>
              <a:t> shows the physical plan the optimizer chose.</a:t>
            </a:r>
          </a:p>
          <a:p>
            <a:pPr>
              <a:spcAft>
                <a:spcPts val="720"/>
              </a:spcAft>
            </a:pPr>
            <a:r>
              <a:rPr sz="1600" b="0" i="0">
                <a:solidFill>
                  <a:srgbClr val="000000"/>
                </a:solidFill>
                <a:latin typeface="Arial"/>
              </a:rPr>
              <a:t>By the end of this lecture you can write an SQL query using the following clauses:</a:t>
            </a:r>
          </a:p>
        </p:txBody>
      </p:sp>
      <p:graphicFrame>
        <p:nvGraphicFramePr>
          <p:cNvPr id="15" name="Table"/>
          <p:cNvGraphicFramePr>
            <a:graphicFrameLocks noGrp="1"/>
          </p:cNvGraphicFramePr>
          <p:nvPr/>
        </p:nvGraphicFramePr>
        <p:xfrm>
          <a:off x="1005840" y="2708148"/>
          <a:ext cx="10332719" cy="4175760"/>
        </p:xfrm>
        <a:graphic>
          <a:graphicData uri="http://schemas.openxmlformats.org/drawingml/2006/table">
            <a:tbl>
              <a:tblPr firstRow="1">
                <a:tableStyleId>{5C22544A-7EE6-4342-B048-85BDC9FD1C3A}</a:tableStyleId>
              </a:tblPr>
              <a:tblGrid>
                <a:gridCol w="2485084">
                  <a:extLst>
                    <a:ext uri="{9D8B030D-6E8A-4147-A177-3AD203B41FA5}">
                      <a16:colId xmlns:a16="http://schemas.microsoft.com/office/drawing/2014/main" val="20000"/>
                    </a:ext>
                  </a:extLst>
                </a:gridCol>
                <a:gridCol w="7847635">
                  <a:extLst>
                    <a:ext uri="{9D8B030D-6E8A-4147-A177-3AD203B41FA5}">
                      <a16:colId xmlns:a16="http://schemas.microsoft.com/office/drawing/2014/main" val="20001"/>
                    </a:ext>
                  </a:extLst>
                </a:gridCol>
              </a:tblGrid>
              <a:tr h="304800">
                <a:tc>
                  <a:txBody>
                    <a:bodyPr/>
                    <a:lstStyle/>
                    <a:p>
                      <a:r>
                        <a:rPr sz="1400" b="1" i="0">
                          <a:solidFill>
                            <a:srgbClr val="000000"/>
                          </a:solidFill>
                          <a:latin typeface="Arial"/>
                        </a:rPr>
                        <a:t>Clause</a:t>
                      </a:r>
                    </a:p>
                  </a:txBody>
                  <a:tcPr>
                    <a:solidFill>
                      <a:srgbClr val="03CDD8"/>
                    </a:solidFill>
                  </a:tcPr>
                </a:tc>
                <a:tc>
                  <a:txBody>
                    <a:bodyPr/>
                    <a:lstStyle/>
                    <a:p>
                      <a:r>
                        <a:rPr sz="1400" b="1" i="0">
                          <a:solidFill>
                            <a:srgbClr val="000000"/>
                          </a:solidFill>
                          <a:latin typeface="Arial"/>
                        </a:rPr>
                        <a:t>Description</a:t>
                      </a:r>
                    </a:p>
                  </a:txBody>
                  <a:tcPr>
                    <a:solidFill>
                      <a:srgbClr val="03CDD8"/>
                    </a:solidFill>
                  </a:tcPr>
                </a:tc>
                <a:extLst>
                  <a:ext uri="{0D108BD9-81ED-4DB2-BD59-A6C34878D82A}">
                    <a16:rowId xmlns:a16="http://schemas.microsoft.com/office/drawing/2014/main" val="10000"/>
                  </a:ext>
                </a:extLst>
              </a:tr>
              <a:tr h="304800">
                <a:tc>
                  <a:txBody>
                    <a:bodyPr/>
                    <a:lstStyle/>
                    <a:p>
                      <a:r>
                        <a:rPr sz="1330" b="0" i="0">
                          <a:solidFill>
                            <a:srgbClr val="007C85"/>
                          </a:solidFill>
                          <a:latin typeface="Consolas"/>
                        </a:rPr>
                        <a:t>SELECT</a:t>
                      </a:r>
                    </a:p>
                  </a:txBody>
                  <a:tcPr>
                    <a:solidFill>
                      <a:srgbClr val="FFFFFF"/>
                    </a:solidFill>
                  </a:tcPr>
                </a:tc>
                <a:tc>
                  <a:txBody>
                    <a:bodyPr/>
                    <a:lstStyle/>
                    <a:p>
                      <a:r>
                        <a:rPr sz="1400" b="0" i="0">
                          <a:solidFill>
                            <a:srgbClr val="000000"/>
                          </a:solidFill>
                          <a:latin typeface="Arial"/>
                        </a:rPr>
                        <a:t>Queries data from one or several tables; selects specific columns and expressions</a:t>
                      </a:r>
                    </a:p>
                  </a:txBody>
                  <a:tcPr>
                    <a:solidFill>
                      <a:srgbClr val="FFFFFF"/>
                    </a:solidFill>
                  </a:tcPr>
                </a:tc>
                <a:extLst>
                  <a:ext uri="{0D108BD9-81ED-4DB2-BD59-A6C34878D82A}">
                    <a16:rowId xmlns:a16="http://schemas.microsoft.com/office/drawing/2014/main" val="10001"/>
                  </a:ext>
                </a:extLst>
              </a:tr>
              <a:tr h="304800">
                <a:tc>
                  <a:txBody>
                    <a:bodyPr/>
                    <a:lstStyle/>
                    <a:p>
                      <a:r>
                        <a:rPr sz="1330" b="0" i="0">
                          <a:solidFill>
                            <a:srgbClr val="007C85"/>
                          </a:solidFill>
                          <a:latin typeface="Consolas"/>
                        </a:rPr>
                        <a:t>DISTINCT</a:t>
                      </a:r>
                    </a:p>
                  </a:txBody>
                  <a:tcPr>
                    <a:solidFill>
                      <a:srgbClr val="F3F6F7"/>
                    </a:solidFill>
                  </a:tcPr>
                </a:tc>
                <a:tc>
                  <a:txBody>
                    <a:bodyPr/>
                    <a:lstStyle/>
                    <a:p>
                      <a:r>
                        <a:rPr sz="1400" b="0" i="0">
                          <a:solidFill>
                            <a:srgbClr val="000000"/>
                          </a:solidFill>
                          <a:latin typeface="Arial"/>
                        </a:rPr>
                        <a:t>Removes duplicate rows from the query result</a:t>
                      </a:r>
                    </a:p>
                  </a:txBody>
                  <a:tcPr>
                    <a:solidFill>
                      <a:srgbClr val="F3F6F7"/>
                    </a:solidFill>
                  </a:tcPr>
                </a:tc>
                <a:extLst>
                  <a:ext uri="{0D108BD9-81ED-4DB2-BD59-A6C34878D82A}">
                    <a16:rowId xmlns:a16="http://schemas.microsoft.com/office/drawing/2014/main" val="10002"/>
                  </a:ext>
                </a:extLst>
              </a:tr>
              <a:tr h="304800">
                <a:tc>
                  <a:txBody>
                    <a:bodyPr/>
                    <a:lstStyle/>
                    <a:p>
                      <a:r>
                        <a:rPr sz="1330" b="0" i="0">
                          <a:solidFill>
                            <a:srgbClr val="007C85"/>
                          </a:solidFill>
                          <a:latin typeface="Consolas"/>
                        </a:rPr>
                        <a:t>FROM</a:t>
                      </a:r>
                    </a:p>
                  </a:txBody>
                  <a:tcPr>
                    <a:solidFill>
                      <a:srgbClr val="FFFFFF"/>
                    </a:solidFill>
                  </a:tcPr>
                </a:tc>
                <a:tc>
                  <a:txBody>
                    <a:bodyPr/>
                    <a:lstStyle/>
                    <a:p>
                      <a:r>
                        <a:rPr sz="1400" b="0" i="0">
                          <a:solidFill>
                            <a:srgbClr val="000000"/>
                          </a:solidFill>
                          <a:latin typeface="Arial"/>
                        </a:rPr>
                        <a:t>Points to the table (or tables) the query addresses</a:t>
                      </a:r>
                    </a:p>
                  </a:txBody>
                  <a:tcPr>
                    <a:solidFill>
                      <a:srgbClr val="FFFFFF"/>
                    </a:solidFill>
                  </a:tcPr>
                </a:tc>
                <a:extLst>
                  <a:ext uri="{0D108BD9-81ED-4DB2-BD59-A6C34878D82A}">
                    <a16:rowId xmlns:a16="http://schemas.microsoft.com/office/drawing/2014/main" val="10003"/>
                  </a:ext>
                </a:extLst>
              </a:tr>
              <a:tr h="304800">
                <a:tc>
                  <a:txBody>
                    <a:bodyPr/>
                    <a:lstStyle/>
                    <a:p>
                      <a:r>
                        <a:rPr sz="1330" b="0" i="0">
                          <a:solidFill>
                            <a:srgbClr val="007C85"/>
                          </a:solidFill>
                          <a:latin typeface="Consolas"/>
                        </a:rPr>
                        <a:t>JOIN</a:t>
                      </a:r>
                    </a:p>
                  </a:txBody>
                  <a:tcPr>
                    <a:solidFill>
                      <a:srgbClr val="F3F6F7"/>
                    </a:solidFill>
                  </a:tcPr>
                </a:tc>
                <a:tc>
                  <a:txBody>
                    <a:bodyPr/>
                    <a:lstStyle/>
                    <a:p>
                      <a:r>
                        <a:rPr sz="1400" b="0" i="0">
                          <a:solidFill>
                            <a:srgbClr val="000000"/>
                          </a:solidFill>
                          <a:latin typeface="Arial"/>
                        </a:rPr>
                        <a:t>Joins rows from two or more tables on a related column: </a:t>
                      </a:r>
                      <a:r>
                        <a:rPr sz="1330" b="0" i="0">
                          <a:solidFill>
                            <a:srgbClr val="007C85"/>
                          </a:solidFill>
                          <a:latin typeface="Consolas"/>
                        </a:rPr>
                        <a:t>INNER</a:t>
                      </a:r>
                      <a:r>
                        <a:rPr sz="1400" b="0" i="0">
                          <a:solidFill>
                            <a:srgbClr val="000000"/>
                          </a:solidFill>
                          <a:latin typeface="Arial"/>
                        </a:rPr>
                        <a:t>, </a:t>
                      </a:r>
                      <a:r>
                        <a:rPr sz="1330" b="0" i="0">
                          <a:solidFill>
                            <a:srgbClr val="007C85"/>
                          </a:solidFill>
                          <a:latin typeface="Consolas"/>
                        </a:rPr>
                        <a:t>LEFT</a:t>
                      </a:r>
                      <a:r>
                        <a:rPr sz="1400" b="0" i="0">
                          <a:solidFill>
                            <a:srgbClr val="000000"/>
                          </a:solidFill>
                          <a:latin typeface="Arial"/>
                        </a:rPr>
                        <a:t>, </a:t>
                      </a:r>
                      <a:r>
                        <a:rPr sz="1330" b="0" i="0">
                          <a:solidFill>
                            <a:srgbClr val="007C85"/>
                          </a:solidFill>
                          <a:latin typeface="Consolas"/>
                        </a:rPr>
                        <a:t>RIGHT</a:t>
                      </a:r>
                      <a:r>
                        <a:rPr sz="1400" b="0" i="0">
                          <a:solidFill>
                            <a:srgbClr val="000000"/>
                          </a:solidFill>
                          <a:latin typeface="Arial"/>
                        </a:rPr>
                        <a:t>, </a:t>
                      </a:r>
                      <a:r>
                        <a:rPr sz="1330" b="0" i="0">
                          <a:solidFill>
                            <a:srgbClr val="007C85"/>
                          </a:solidFill>
                          <a:latin typeface="Consolas"/>
                        </a:rPr>
                        <a:t>FULL</a:t>
                      </a:r>
                      <a:r>
                        <a:rPr sz="1400" b="0" i="0">
                          <a:solidFill>
                            <a:srgbClr val="000000"/>
                          </a:solidFill>
                          <a:latin typeface="Arial"/>
                        </a:rPr>
                        <a:t>, </a:t>
                      </a:r>
                      <a:r>
                        <a:rPr sz="1330" b="0" i="0">
                          <a:solidFill>
                            <a:srgbClr val="007C85"/>
                          </a:solidFill>
                          <a:latin typeface="Consolas"/>
                        </a:rPr>
                        <a:t>CROSS</a:t>
                      </a:r>
                    </a:p>
                  </a:txBody>
                  <a:tcPr>
                    <a:solidFill>
                      <a:srgbClr val="F3F6F7"/>
                    </a:solidFill>
                  </a:tcPr>
                </a:tc>
                <a:extLst>
                  <a:ext uri="{0D108BD9-81ED-4DB2-BD59-A6C34878D82A}">
                    <a16:rowId xmlns:a16="http://schemas.microsoft.com/office/drawing/2014/main" val="10004"/>
                  </a:ext>
                </a:extLst>
              </a:tr>
              <a:tr h="304800">
                <a:tc>
                  <a:txBody>
                    <a:bodyPr/>
                    <a:lstStyle/>
                    <a:p>
                      <a:r>
                        <a:rPr sz="1330" b="0" i="0">
                          <a:solidFill>
                            <a:srgbClr val="007C85"/>
                          </a:solidFill>
                          <a:latin typeface="Consolas"/>
                        </a:rPr>
                        <a:t>WHERE</a:t>
                      </a:r>
                    </a:p>
                  </a:txBody>
                  <a:tcPr>
                    <a:solidFill>
                      <a:srgbClr val="FFFFFF"/>
                    </a:solidFill>
                  </a:tcPr>
                </a:tc>
                <a:tc>
                  <a:txBody>
                    <a:bodyPr/>
                    <a:lstStyle/>
                    <a:p>
                      <a:r>
                        <a:rPr sz="1400" b="0" i="0">
                          <a:solidFill>
                            <a:srgbClr val="000000"/>
                          </a:solidFill>
                          <a:latin typeface="Arial"/>
                        </a:rPr>
                        <a:t>Specifies the conditions by which rows are selected</a:t>
                      </a:r>
                    </a:p>
                  </a:txBody>
                  <a:tcPr>
                    <a:solidFill>
                      <a:srgbClr val="FFFFFF"/>
                    </a:solidFill>
                  </a:tcPr>
                </a:tc>
                <a:extLst>
                  <a:ext uri="{0D108BD9-81ED-4DB2-BD59-A6C34878D82A}">
                    <a16:rowId xmlns:a16="http://schemas.microsoft.com/office/drawing/2014/main" val="10005"/>
                  </a:ext>
                </a:extLst>
              </a:tr>
              <a:tr h="304800">
                <a:tc>
                  <a:txBody>
                    <a:bodyPr/>
                    <a:lstStyle/>
                    <a:p>
                      <a:r>
                        <a:rPr sz="1330" b="0" i="0">
                          <a:solidFill>
                            <a:srgbClr val="007C85"/>
                          </a:solidFill>
                          <a:latin typeface="Consolas"/>
                        </a:rPr>
                        <a:t>GROUP BY</a:t>
                      </a:r>
                    </a:p>
                  </a:txBody>
                  <a:tcPr>
                    <a:solidFill>
                      <a:srgbClr val="F3F6F7"/>
                    </a:solidFill>
                  </a:tcPr>
                </a:tc>
                <a:tc>
                  <a:txBody>
                    <a:bodyPr/>
                    <a:lstStyle/>
                    <a:p>
                      <a:r>
                        <a:rPr sz="1400" b="0" i="0">
                          <a:solidFill>
                            <a:srgbClr val="000000"/>
                          </a:solidFill>
                          <a:latin typeface="Arial"/>
                        </a:rPr>
                        <a:t>Groups rows with the same values in the specified columns for aggregation</a:t>
                      </a:r>
                    </a:p>
                  </a:txBody>
                  <a:tcPr>
                    <a:solidFill>
                      <a:srgbClr val="F3F6F7"/>
                    </a:solidFill>
                  </a:tcPr>
                </a:tc>
                <a:extLst>
                  <a:ext uri="{0D108BD9-81ED-4DB2-BD59-A6C34878D82A}">
                    <a16:rowId xmlns:a16="http://schemas.microsoft.com/office/drawing/2014/main" val="10006"/>
                  </a:ext>
                </a:extLst>
              </a:tr>
              <a:tr h="304800">
                <a:tc>
                  <a:txBody>
                    <a:bodyPr/>
                    <a:lstStyle/>
                    <a:p>
                      <a:r>
                        <a:rPr sz="1330" b="0" i="0">
                          <a:solidFill>
                            <a:srgbClr val="007C85"/>
                          </a:solidFill>
                          <a:latin typeface="Consolas"/>
                        </a:rPr>
                        <a:t>HAVING</a:t>
                      </a:r>
                    </a:p>
                  </a:txBody>
                  <a:tcPr>
                    <a:solidFill>
                      <a:srgbClr val="FFFFFF"/>
                    </a:solidFill>
                  </a:tcPr>
                </a:tc>
                <a:tc>
                  <a:txBody>
                    <a:bodyPr/>
                    <a:lstStyle/>
                    <a:p>
                      <a:r>
                        <a:rPr sz="1400" b="0" i="0">
                          <a:solidFill>
                            <a:srgbClr val="000000"/>
                          </a:solidFill>
                          <a:latin typeface="Arial"/>
                        </a:rPr>
                        <a:t>Filters the groups created by </a:t>
                      </a:r>
                      <a:r>
                        <a:rPr sz="1330" b="0" i="0">
                          <a:solidFill>
                            <a:srgbClr val="007C85"/>
                          </a:solidFill>
                          <a:latin typeface="Consolas"/>
                        </a:rPr>
                        <a:t>GROUP BY</a:t>
                      </a:r>
                    </a:p>
                  </a:txBody>
                  <a:tcPr>
                    <a:solidFill>
                      <a:srgbClr val="FFFFFF"/>
                    </a:solidFill>
                  </a:tcPr>
                </a:tc>
                <a:extLst>
                  <a:ext uri="{0D108BD9-81ED-4DB2-BD59-A6C34878D82A}">
                    <a16:rowId xmlns:a16="http://schemas.microsoft.com/office/drawing/2014/main" val="10007"/>
                  </a:ext>
                </a:extLst>
              </a:tr>
              <a:tr h="304800">
                <a:tc>
                  <a:txBody>
                    <a:bodyPr/>
                    <a:lstStyle/>
                    <a:p>
                      <a:r>
                        <a:rPr sz="1330" b="0" i="0">
                          <a:solidFill>
                            <a:srgbClr val="007C85"/>
                          </a:solidFill>
                          <a:latin typeface="Consolas"/>
                        </a:rPr>
                        <a:t>OVER</a:t>
                      </a:r>
                      <a:r>
                        <a:rPr sz="1400" b="0" i="0">
                          <a:solidFill>
                            <a:srgbClr val="000000"/>
                          </a:solidFill>
                          <a:latin typeface="Arial"/>
                        </a:rPr>
                        <a:t> / </a:t>
                      </a:r>
                      <a:r>
                        <a:rPr sz="1330" b="0" i="0">
                          <a:solidFill>
                            <a:srgbClr val="007C85"/>
                          </a:solidFill>
                          <a:latin typeface="Consolas"/>
                        </a:rPr>
                        <a:t>WINDOW</a:t>
                      </a:r>
                    </a:p>
                  </a:txBody>
                  <a:tcPr>
                    <a:solidFill>
                      <a:srgbClr val="F3F6F7"/>
                    </a:solidFill>
                  </a:tcPr>
                </a:tc>
                <a:tc>
                  <a:txBody>
                    <a:bodyPr/>
                    <a:lstStyle/>
                    <a:p>
                      <a:r>
                        <a:rPr sz="1400" b="0" i="0">
                          <a:solidFill>
                            <a:srgbClr val="000000"/>
                          </a:solidFill>
                          <a:latin typeface="Arial"/>
                        </a:rPr>
                        <a:t>Defines the window a window function is computed over</a:t>
                      </a:r>
                    </a:p>
                  </a:txBody>
                  <a:tcPr>
                    <a:solidFill>
                      <a:srgbClr val="F3F6F7"/>
                    </a:solidFill>
                  </a:tcPr>
                </a:tc>
                <a:extLst>
                  <a:ext uri="{0D108BD9-81ED-4DB2-BD59-A6C34878D82A}">
                    <a16:rowId xmlns:a16="http://schemas.microsoft.com/office/drawing/2014/main" val="10008"/>
                  </a:ext>
                </a:extLst>
              </a:tr>
              <a:tr h="304800">
                <a:tc>
                  <a:txBody>
                    <a:bodyPr/>
                    <a:lstStyle/>
                    <a:p>
                      <a:r>
                        <a:rPr sz="1330" b="0" i="0">
                          <a:solidFill>
                            <a:srgbClr val="007C85"/>
                          </a:solidFill>
                          <a:latin typeface="Consolas"/>
                        </a:rPr>
                        <a:t>WITH</a:t>
                      </a:r>
                    </a:p>
                  </a:txBody>
                  <a:tcPr>
                    <a:solidFill>
                      <a:srgbClr val="FFFFFF"/>
                    </a:solidFill>
                  </a:tcPr>
                </a:tc>
                <a:tc>
                  <a:txBody>
                    <a:bodyPr/>
                    <a:lstStyle/>
                    <a:p>
                      <a:r>
                        <a:rPr sz="1400" b="0" i="0">
                          <a:solidFill>
                            <a:srgbClr val="000000"/>
                          </a:solidFill>
                          <a:latin typeface="Arial"/>
                        </a:rPr>
                        <a:t>Declares a CTE — a named subquery used within the query; </a:t>
                      </a:r>
                      <a:r>
                        <a:rPr sz="1330" b="0" i="0">
                          <a:solidFill>
                            <a:srgbClr val="007C85"/>
                          </a:solidFill>
                          <a:latin typeface="Consolas"/>
                        </a:rPr>
                        <a:t>WITH RECURSIVE</a:t>
                      </a:r>
                      <a:r>
                        <a:rPr sz="1400" b="0" i="0">
                          <a:solidFill>
                            <a:srgbClr val="000000"/>
                          </a:solidFill>
                          <a:latin typeface="Arial"/>
                        </a:rPr>
                        <a:t> for graphs</a:t>
                      </a:r>
                    </a:p>
                  </a:txBody>
                  <a:tcPr>
                    <a:solidFill>
                      <a:srgbClr val="FFFFFF"/>
                    </a:solidFill>
                  </a:tcPr>
                </a:tc>
                <a:extLst>
                  <a:ext uri="{0D108BD9-81ED-4DB2-BD59-A6C34878D82A}">
                    <a16:rowId xmlns:a16="http://schemas.microsoft.com/office/drawing/2014/main" val="10009"/>
                  </a:ext>
                </a:extLst>
              </a:tr>
              <a:tr h="304800">
                <a:tc>
                  <a:txBody>
                    <a:bodyPr/>
                    <a:lstStyle/>
                    <a:p>
                      <a:r>
                        <a:rPr sz="1330" b="0" i="0">
                          <a:solidFill>
                            <a:srgbClr val="007C85"/>
                          </a:solidFill>
                          <a:latin typeface="Consolas"/>
                        </a:rPr>
                        <a:t>ORDER BY</a:t>
                      </a:r>
                    </a:p>
                  </a:txBody>
                  <a:tcPr>
                    <a:solidFill>
                      <a:srgbClr val="F3F6F7"/>
                    </a:solidFill>
                  </a:tcPr>
                </a:tc>
                <a:tc>
                  <a:txBody>
                    <a:bodyPr/>
                    <a:lstStyle/>
                    <a:p>
                      <a:r>
                        <a:rPr sz="1400" b="0" i="0">
                          <a:solidFill>
                            <a:srgbClr val="000000"/>
                          </a:solidFill>
                          <a:latin typeface="Arial"/>
                        </a:rPr>
                        <a:t>Orders the rows of the result (</a:t>
                      </a:r>
                      <a:r>
                        <a:rPr sz="1330" b="0" i="0">
                          <a:solidFill>
                            <a:srgbClr val="007C85"/>
                          </a:solidFill>
                          <a:latin typeface="Consolas"/>
                        </a:rPr>
                        <a:t>ASC</a:t>
                      </a:r>
                      <a:r>
                        <a:rPr sz="1400" b="0" i="0">
                          <a:solidFill>
                            <a:srgbClr val="000000"/>
                          </a:solidFill>
                          <a:latin typeface="Arial"/>
                        </a:rPr>
                        <a:t> / </a:t>
                      </a:r>
                      <a:r>
                        <a:rPr sz="1330" b="0" i="0">
                          <a:solidFill>
                            <a:srgbClr val="007C85"/>
                          </a:solidFill>
                          <a:latin typeface="Consolas"/>
                        </a:rPr>
                        <a:t>DESC</a:t>
                      </a:r>
                      <a:r>
                        <a:rPr sz="1400" b="0" i="0">
                          <a:solidFill>
                            <a:srgbClr val="000000"/>
                          </a:solidFill>
                          <a:latin typeface="Arial"/>
                        </a:rPr>
                        <a:t>)</a:t>
                      </a:r>
                    </a:p>
                  </a:txBody>
                  <a:tcPr>
                    <a:solidFill>
                      <a:srgbClr val="F3F6F7"/>
                    </a:solidFill>
                  </a:tcPr>
                </a:tc>
                <a:extLst>
                  <a:ext uri="{0D108BD9-81ED-4DB2-BD59-A6C34878D82A}">
                    <a16:rowId xmlns:a16="http://schemas.microsoft.com/office/drawing/2014/main" val="10010"/>
                  </a:ext>
                </a:extLst>
              </a:tr>
              <a:tr h="518160">
                <a:tc>
                  <a:txBody>
                    <a:bodyPr/>
                    <a:lstStyle/>
                    <a:p>
                      <a:r>
                        <a:rPr sz="1330" b="0" i="0">
                          <a:solidFill>
                            <a:srgbClr val="007C85"/>
                          </a:solidFill>
                          <a:latin typeface="Consolas"/>
                        </a:rPr>
                        <a:t>LIMIT</a:t>
                      </a:r>
                      <a:r>
                        <a:rPr sz="1400" b="0" i="0">
                          <a:solidFill>
                            <a:srgbClr val="000000"/>
                          </a:solidFill>
                          <a:latin typeface="Arial"/>
                        </a:rPr>
                        <a:t> and </a:t>
                      </a:r>
                      <a:r>
                        <a:rPr sz="1330" b="0" i="0">
                          <a:solidFill>
                            <a:srgbClr val="007C85"/>
                          </a:solidFill>
                          <a:latin typeface="Consolas"/>
                        </a:rPr>
                        <a:t>OFFSET</a:t>
                      </a:r>
                    </a:p>
                  </a:txBody>
                  <a:tcPr>
                    <a:solidFill>
                      <a:srgbClr val="FFFFFF"/>
                    </a:solidFill>
                  </a:tcPr>
                </a:tc>
                <a:tc>
                  <a:txBody>
                    <a:bodyPr/>
                    <a:lstStyle/>
                    <a:p>
                      <a:r>
                        <a:rPr sz="1330" b="0" i="0">
                          <a:solidFill>
                            <a:srgbClr val="007C85"/>
                          </a:solidFill>
                          <a:latin typeface="Consolas"/>
                        </a:rPr>
                        <a:t>LIMIT</a:t>
                      </a:r>
                      <a:r>
                        <a:rPr sz="1400" b="0" i="0">
                          <a:solidFill>
                            <a:srgbClr val="000000"/>
                          </a:solidFill>
                          <a:latin typeface="Arial"/>
                        </a:rPr>
                        <a:t> restricts the number of rows returned; </a:t>
                      </a:r>
                      <a:r>
                        <a:rPr sz="1330" b="0" i="0">
                          <a:solidFill>
                            <a:srgbClr val="007C85"/>
                          </a:solidFill>
                          <a:latin typeface="Consolas"/>
                        </a:rPr>
                        <a:t>OFFSET</a:t>
                      </a:r>
                      <a:r>
                        <a:rPr sz="1400" b="0" i="0">
                          <a:solidFill>
                            <a:srgbClr val="000000"/>
                          </a:solidFill>
                          <a:latin typeface="Arial"/>
                        </a:rPr>
                        <a:t> skips rows before returning the rest</a:t>
                      </a:r>
                    </a:p>
                  </a:txBody>
                  <a:tcPr>
                    <a:solidFill>
                      <a:srgbClr val="FFFFFF"/>
                    </a:solidFill>
                  </a:tcPr>
                </a:tc>
                <a:extLst>
                  <a:ext uri="{0D108BD9-81ED-4DB2-BD59-A6C34878D82A}">
                    <a16:rowId xmlns:a16="http://schemas.microsoft.com/office/drawing/2014/main" val="10011"/>
                  </a:ext>
                </a:extLst>
              </a:tr>
              <a:tr h="304800">
                <a:tc>
                  <a:txBody>
                    <a:bodyPr/>
                    <a:lstStyle/>
                    <a:p>
                      <a:r>
                        <a:rPr sz="1330" b="0" i="0">
                          <a:solidFill>
                            <a:srgbClr val="007C85"/>
                          </a:solidFill>
                          <a:latin typeface="Consolas"/>
                        </a:rPr>
                        <a:t>UNION</a:t>
                      </a:r>
                      <a:r>
                        <a:rPr sz="1400" b="0" i="0">
                          <a:solidFill>
                            <a:srgbClr val="000000"/>
                          </a:solidFill>
                          <a:latin typeface="Arial"/>
                        </a:rPr>
                        <a:t> and </a:t>
                      </a:r>
                      <a:r>
                        <a:rPr sz="1330" b="0" i="0">
                          <a:solidFill>
                            <a:srgbClr val="007C85"/>
                          </a:solidFill>
                          <a:latin typeface="Consolas"/>
                        </a:rPr>
                        <a:t>UNION ALL</a:t>
                      </a:r>
                    </a:p>
                  </a:txBody>
                  <a:tcPr>
                    <a:solidFill>
                      <a:srgbClr val="F3F6F7"/>
                    </a:solidFill>
                  </a:tcPr>
                </a:tc>
                <a:tc>
                  <a:txBody>
                    <a:bodyPr/>
                    <a:lstStyle/>
                    <a:p>
                      <a:r>
                        <a:rPr sz="1400" b="0" i="0">
                          <a:solidFill>
                            <a:srgbClr val="000000"/>
                          </a:solidFill>
                          <a:latin typeface="Arial"/>
                        </a:rPr>
                        <a:t>Combine the results of several </a:t>
                      </a:r>
                      <a:r>
                        <a:rPr sz="1330" b="0" i="0">
                          <a:solidFill>
                            <a:srgbClr val="007C85"/>
                          </a:solidFill>
                          <a:latin typeface="Consolas"/>
                        </a:rPr>
                        <a:t>SELECT</a:t>
                      </a:r>
                      <a:r>
                        <a:rPr sz="1400" b="0" i="0">
                          <a:solidFill>
                            <a:srgbClr val="000000"/>
                          </a:solidFill>
                          <a:latin typeface="Arial"/>
                        </a:rPr>
                        <a:t> queries; </a:t>
                      </a:r>
                      <a:r>
                        <a:rPr sz="1330" b="0" i="0">
                          <a:solidFill>
                            <a:srgbClr val="007C85"/>
                          </a:solidFill>
                          <a:latin typeface="Consolas"/>
                        </a:rPr>
                        <a:t>UNION</a:t>
                      </a:r>
                      <a:r>
                        <a:rPr sz="1400" b="0" i="0">
                          <a:solidFill>
                            <a:srgbClr val="000000"/>
                          </a:solidFill>
                          <a:latin typeface="Arial"/>
                        </a:rPr>
                        <a:t> removes duplicates</a:t>
                      </a:r>
                    </a:p>
                  </a:txBody>
                  <a:tcPr>
                    <a:solidFill>
                      <a:srgbClr val="F3F6F7"/>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6.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297680" y="4526280"/>
            <a:ext cx="2743200" cy="731520"/>
          </a:xfrm>
          <a:prstGeom prst="rect">
            <a:avLst/>
          </a:prstGeom>
          <a:noFill/>
        </p:spPr>
        <p:txBody>
          <a:bodyPr wrap="square" anchor="t">
            <a:spAutoFit/>
          </a:bodyPr>
          <a:lstStyle/>
          <a:p>
            <a:pPr algn="l"/>
            <a:r>
              <a:rPr sz="5600" b="0">
                <a:solidFill>
                  <a:srgbClr val="080808"/>
                </a:solidFill>
                <a:latin typeface="Arial"/>
              </a:rPr>
              <a:t>Q &amp; A</a:t>
            </a:r>
          </a:p>
        </p:txBody>
      </p:sp>
      <p:sp>
        <p:nvSpPr>
          <p:cNvPr id="4" name="TextBox 3"/>
          <p:cNvSpPr txBox="1"/>
          <p:nvPr/>
        </p:nvSpPr>
        <p:spPr>
          <a:xfrm>
            <a:off x="8549640" y="4526280"/>
            <a:ext cx="2834640" cy="365760"/>
          </a:xfrm>
          <a:prstGeom prst="rect">
            <a:avLst/>
          </a:prstGeom>
          <a:noFill/>
        </p:spPr>
        <p:txBody>
          <a:bodyPr wrap="square" anchor="t">
            <a:spAutoFit/>
          </a:bodyPr>
          <a:lstStyle/>
          <a:p>
            <a:pPr algn="l"/>
            <a:r>
              <a:rPr sz="1400" b="1">
                <a:solidFill>
                  <a:srgbClr val="080808"/>
                </a:solidFill>
                <a:latin typeface="Arial"/>
              </a:rPr>
              <a:t>Denis Boldin · SQL Basics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lose-up of colorful strips&#10;&#10;AI-generated content may be incorrect.">
            <a:extLst>
              <a:ext uri="{FF2B5EF4-FFF2-40B4-BE49-F238E27FC236}">
                <a16:creationId xmlns:a16="http://schemas.microsoft.com/office/drawing/2014/main" id="{6FE50DF5-292F-EB40-B82B-B90D406D4271}"/>
              </a:ext>
            </a:extLst>
          </p:cNvPr>
          <p:cNvPicPr>
            <a:picLocks noGrp="1" noChangeAspect="1"/>
          </p:cNvPicPr>
          <p:nvPr>
            <p:ph idx="1"/>
          </p:nvPr>
        </p:nvPicPr>
        <p:blipFill>
          <a:blip r:embed="rId2"/>
          <a:srcRect r="121" b="1"/>
          <a:stretch>
            <a:fillRect/>
          </a:stretch>
        </p:blipFill>
        <p:spPr>
          <a:xfrm>
            <a:off x="20" y="10"/>
            <a:ext cx="12191980" cy="6866290"/>
          </a:xfrm>
          <a:prstGeom prst="rect">
            <a:avLst/>
          </a:prstGeom>
        </p:spPr>
      </p:pic>
      <p:pic>
        <p:nvPicPr>
          <p:cNvPr id="6" name="Picture 5" descr="A black background with a black square&#10;&#10;AI-generated content may be incorrect.">
            <a:extLst>
              <a:ext uri="{FF2B5EF4-FFF2-40B4-BE49-F238E27FC236}">
                <a16:creationId xmlns:a16="http://schemas.microsoft.com/office/drawing/2014/main" id="{0622731B-5292-3D86-E736-01F65D75ABF9}"/>
              </a:ext>
            </a:extLst>
          </p:cNvPr>
          <p:cNvPicPr>
            <a:picLocks noChangeAspect="1"/>
          </p:cNvPicPr>
          <p:nvPr/>
        </p:nvPicPr>
        <p:blipFill>
          <a:blip r:embed="rId3"/>
          <a:stretch>
            <a:fillRect/>
          </a:stretch>
        </p:blipFill>
        <p:spPr>
          <a:xfrm>
            <a:off x="11501753" y="204892"/>
            <a:ext cx="332804" cy="332804"/>
          </a:xfrm>
          <a:prstGeom prst="rect">
            <a:avLst/>
          </a:prstGeom>
        </p:spPr>
      </p:pic>
      <p:sp>
        <p:nvSpPr>
          <p:cNvPr id="7" name="TextBox 6">
            <a:extLst>
              <a:ext uri="{FF2B5EF4-FFF2-40B4-BE49-F238E27FC236}">
                <a16:creationId xmlns:a16="http://schemas.microsoft.com/office/drawing/2014/main" id="{E19C38BF-2AF1-AB4D-3789-0E206CF6E1E2}"/>
              </a:ext>
            </a:extLst>
          </p:cNvPr>
          <p:cNvSpPr txBox="1"/>
          <p:nvPr/>
        </p:nvSpPr>
        <p:spPr>
          <a:xfrm>
            <a:off x="4105686" y="6184319"/>
            <a:ext cx="2932938" cy="646331"/>
          </a:xfrm>
          <a:prstGeom prst="rect">
            <a:avLst/>
          </a:prstGeom>
          <a:noFill/>
        </p:spPr>
        <p:txBody>
          <a:bodyPr wrap="square">
            <a:spAutoFit/>
          </a:bodyPr>
          <a:lstStyle/>
          <a:p>
            <a:r>
              <a:rPr lang="en-US" sz="3600" b="1" dirty="0">
                <a:latin typeface="Arial" panose="020B0604020202020204" pitchFamily="34" charset="0"/>
                <a:cs typeface="Arial" panose="020B0604020202020204" pitchFamily="34" charset="0"/>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e2a8a44-4773-4649-a4d0-14fe0292ffe6}" enabled="0" method="" siteId="{7e2a8a44-4773-4649-a4d0-14fe0292ffe6}" removed="1"/>
</clbl:labelList>
</file>

<file path=docProps/app.xml><?xml version="1.0" encoding="utf-8"?>
<Properties xmlns="http://schemas.openxmlformats.org/officeDocument/2006/extended-properties" xmlns:vt="http://schemas.openxmlformats.org/officeDocument/2006/docPropsVTypes">
  <TotalTime>504</TotalTime>
  <Words>7408</Words>
  <Application>Microsoft Macintosh PowerPoint</Application>
  <PresentationFormat>Widescreen</PresentationFormat>
  <Paragraphs>946</Paragraphs>
  <Slides>70</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Aptos</vt:lpstr>
      <vt:lpstr>Aptos Display</vt:lpstr>
      <vt:lpstr>Arial</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Nini Onezashvili</dc:creator>
  <cp:lastModifiedBy>Denis Boldin</cp:lastModifiedBy>
  <cp:revision>16</cp:revision>
  <dcterms:created xsi:type="dcterms:W3CDTF">2025-12-09T07:05:38Z</dcterms:created>
  <dcterms:modified xsi:type="dcterms:W3CDTF">2026-10-05T06:24:41Z</dcterms:modified>
</cp:coreProperties>
</file>