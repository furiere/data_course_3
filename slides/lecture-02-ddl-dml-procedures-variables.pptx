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1" r:id="rId15"/>
    <p:sldId id="302" r:id="rId16"/>
    <p:sldId id="303" r:id="rId17"/>
    <p:sldId id="304" r:id="rId18"/>
    <p:sldId id="305" r:id="rId19"/>
    <p:sldId id="306" r:id="rId20"/>
    <p:sldId id="307" r:id="rId22"/>
    <p:sldId id="308" r:id="rId23"/>
    <p:sldId id="309" r:id="rId24"/>
    <p:sldId id="310" r:id="rId25"/>
    <p:sldId id="311" r:id="rId26"/>
    <p:sldId id="312" r:id="rId27"/>
    <p:sldId id="313" r:id="rId28"/>
    <p:sldId id="314" r:id="rId29"/>
    <p:sldId id="315" r:id="rId30"/>
    <p:sldId id="316" r:id="rId31"/>
    <p:sldId id="317" r:id="rId32"/>
    <p:sldId id="318" r:id="rId33"/>
    <p:sldId id="319" r:id="rId34"/>
    <p:sldId id="320" r:id="rId35"/>
    <p:sldId id="321" r:id="rId36"/>
    <p:sldId id="322" r:id="rId37"/>
    <p:sldId id="323" r:id="rId38"/>
    <p:sldId id="324" r:id="rId39"/>
    <p:sldId id="325" r:id="rId40"/>
    <p:sldId id="326" r:id="rId41"/>
    <p:sldId id="327" r:id="rId42"/>
    <p:sldId id="328" r:id="rId43"/>
    <p:sldId id="329" r:id="rId44"/>
    <p:sldId id="330" r:id="rId45"/>
    <p:sldId id="331" r:id="rId46"/>
    <p:sldId id="332" r:id="rId47"/>
    <p:sldId id="333" r:id="rId48"/>
    <p:sldId id="334" r:id="rId49"/>
    <p:sldId id="335" r:id="rId50"/>
    <p:sldId id="336" r:id="rId51"/>
    <p:sldId id="337" r:id="rId52"/>
    <p:sldId id="338" r:id="rId53"/>
    <p:sldId id="339" r:id="rId54"/>
    <p:sldId id="340" r:id="rId55"/>
    <p:sldId id="341" r:id="rId56"/>
    <p:sldId id="342" r:id="rId57"/>
    <p:sldId id="343" r:id="rId58"/>
    <p:sldId id="344" r:id="rId59"/>
    <p:sldId id="345" r:id="rId60"/>
    <p:sldId id="346" r:id="rId61"/>
    <p:sldId id="347" r:id="rId62"/>
    <p:sldId id="348" r:id="rId63"/>
    <p:sldId id="349" r:id="rId64"/>
    <p:sldId id="350" r:id="rId65"/>
    <p:sldId id="351" r:id="rId66"/>
    <p:sldId id="352" r:id="rId67"/>
    <p:sldId id="353" r:id="rId68"/>
    <p:sldId id="354" r:id="rId69"/>
    <p:sldId id="355" r:id="rId70"/>
    <p:sldId id="356" r:id="rId71"/>
    <p:sldId id="357" r:id="rId72"/>
    <p:sldId id="358" r:id="rId73"/>
    <p:sldId id="359" r:id="rId74"/>
    <p:sldId id="360" r:id="rId75"/>
    <p:sldId id="361" r:id="rId76"/>
    <p:sldId id="362" r:id="rId77"/>
    <p:sldId id="363" r:id="rId78"/>
    <p:sldId id="364" r:id="rId79"/>
    <p:sldId id="365" r:id="rId80"/>
    <p:sldId id="366" r:id="rId81"/>
    <p:sldId id="367" r:id="rId82"/>
    <p:sldId id="368" r:id="rId83"/>
    <p:sldId id="369" r:id="rId84"/>
    <p:sldId id="370" r:id="rId85"/>
    <p:sldId id="371" r:id="rId86"/>
    <p:sldId id="372" r:id="rId87"/>
    <p:sldId id="373" r:id="rId88"/>
    <p:sldId id="374" r:id="rId89"/>
    <p:sldId id="375" r:id="rId90"/>
    <p:sldId id="376" r:id="rId91"/>
    <p:sldId id="377" r:id="rId92"/>
    <p:sldId id="378" r:id="rId93"/>
    <p:sldId id="379" r:id="rId94"/>
    <p:sldId id="380" r:id="rId95"/>
    <p:sldId id="381" r:id="rId96"/>
    <p:sldId id="382" r:id="rId97"/>
    <p:sldId id="383" r:id="rId98"/>
    <p:sldId id="384" r:id="rId99"/>
    <p:sldId id="385" r:id="rId100"/>
    <p:sldId id="386" r:id="rId101"/>
    <p:sldId id="387" r:id="rId102"/>
    <p:sldId id="388" r:id="rId103"/>
    <p:sldId id="389" r:id="rId10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41BFFF"/>
    <a:srgbClr val="00CCD7"/>
    <a:srgbClr val="000000"/>
    <a:srgbClr val="16160F"/>
    <a:srgbClr val="0F0B30"/>
    <a:srgbClr val="FFAA01"/>
    <a:srgbClr val="03CD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02710D-B2F4-5745-BC85-CF7A94FFE323}" v="440" dt="2025-12-09T12:43:09.9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49"/>
    <p:restoredTop sz="94635"/>
  </p:normalViewPr>
  <p:slideViewPr>
    <p:cSldViewPr snapToGrid="0">
      <p:cViewPr varScale="1">
        <p:scale>
          <a:sx n="120" d="100"/>
          <a:sy n="120" d="100"/>
        </p:scale>
        <p:origin x="1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5/10/relationships/revisionInfo" Target="revisionInfo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 TABLE playlists (</a:t>
            </a:r>
          </a:p>
          <a:p>
            <a:r>
              <a:t>    id          int,</a:t>
            </a:r>
          </a:p>
          <a:p>
            <a:r>
              <a:t>    name        text,</a:t>
            </a:r>
          </a:p>
          <a:p>
            <a:r>
              <a:t>    owner       text,</a:t>
            </a:r>
          </a:p>
          <a:p>
            <a:r>
              <a:t>    created_at  date</a:t>
            </a:r>
          </a:p>
          <a:p>
            <a:r>
              <a:t>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 TABLE playlists (</a:t>
            </a:r>
          </a:p>
          <a:p>
            <a:r>
              <a:t>    id          SERIAL       PRIMARY KEY,</a:t>
            </a:r>
          </a:p>
          <a:p>
            <a:r>
              <a:t>    name        VARCHAR(120) NOT NULL,</a:t>
            </a:r>
          </a:p>
          <a:p>
            <a:r>
              <a:t>    owner       VARCHAR(80)  NOT NULL,</a:t>
            </a:r>
          </a:p>
          <a:p>
            <a:r>
              <a:t>    is_public   BOOLEAN      NOT NULL DEFAULT true,</a:t>
            </a:r>
          </a:p>
          <a:p>
            <a:r>
              <a:t>    created_at  TIMESTAMP    NOT NULL DEFAULT now(),</a:t>
            </a:r>
          </a:p>
          <a:p>
            <a:r>
              <a:t>    CONSTRAINT playlists_name_per_owner UNIQUE (name, owner)</a:t>
            </a:r>
          </a:p>
          <a:p>
            <a:r>
              <a:t>);</a:t>
            </a:r>
          </a:p>
          <a:p/>
          <a:p>
            <a:r>
              <a:t>INSERT INTO playlists (name, owner) VALUES</a:t>
            </a:r>
          </a:p>
          <a:p>
            <a:r>
              <a:t>    ('Late Night Drive', 'denis'),</a:t>
            </a:r>
          </a:p>
          <a:p>
            <a:r>
              <a:t>    ('Loud and Fast',    'denis'),</a:t>
            </a:r>
          </a:p>
          <a:p>
            <a:r>
              <a:t>    ('Quiet Mornings',   'anna');</a:t>
            </a:r>
          </a:p>
          <a:p/>
          <a:p>
            <a:r>
              <a:t>SELECT id, name, owner, is_public FROM playlists ORDER BY id;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 TABLE playlist_tracks (</a:t>
            </a:r>
          </a:p>
          <a:p>
            <a:r>
              <a:t>    playlist_id INT       NOT NULL REFERENCES playlists(id) ON DELETE CASCADE,</a:t>
            </a:r>
          </a:p>
          <a:p>
            <a:r>
              <a:t>    track_id    TEXT      NOT NULL REFERENCES tracks(id),</a:t>
            </a:r>
          </a:p>
          <a:p>
            <a:r>
              <a:t>    position    SMALLINT  NOT NULL,</a:t>
            </a:r>
          </a:p>
          <a:p>
            <a:r>
              <a:t>    added_at    TIMESTAMP NOT NULL DEFAULT now(),</a:t>
            </a:r>
          </a:p>
          <a:p>
            <a:r>
              <a:t>    PRIMARY KEY (playlist_id, track_id)</a:t>
            </a:r>
          </a:p>
          <a:p>
            <a:r>
              <a:t>);</a:t>
            </a:r>
          </a:p>
          <a:p/>
          <a:p>
            <a:r>
              <a:t>SELECT count(*) AS rows_so_far FROM playlist_tracks;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INSERT INTO playlist_tracks (playlist_id, track_id, position)</a:t>
            </a:r>
          </a:p>
          <a:p>
            <a:r>
              <a:t>VALUES (1, 'no-such-track-id', 1);</a:t>
            </a:r>
          </a:p>
          <a:p>
            <a:r>
              <a:t>-- ERROR:  insert or update on table "playlist_tracks" violates foreign key</a:t>
            </a:r>
          </a:p>
          <a:p>
            <a:r>
              <a:t>--         constraint "playlist_tracks_track_id_fkey"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ALTER TABLE playlists RENAME TO user_playlists;</a:t>
            </a:r>
          </a:p>
          <a:p/>
          <a:p>
            <a:r>
              <a:t>SELECT id, name, owner FROM user_playlists ORDER BY id;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-- put the name back, so the rest of the lecture keeps working</a:t>
            </a:r>
          </a:p>
          <a:p>
            <a:r>
              <a:t>ALTER TABLE user_playlists RENAME TO playlists;</a:t>
            </a:r>
          </a:p>
          <a:p/>
          <a:p>
            <a:r>
              <a:t>SELECT count(*) AS playlists FROM playlists;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ALTER TABLE playlists ADD COLUMN description text;</a:t>
            </a:r>
          </a:p>
          <a:p/>
          <a:p>
            <a:r>
              <a:t>SELECT id, name, description FROM playlists ORDER BY id;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ALTER TABLE playlists RENAME COLUMN description TO blurb;</a:t>
            </a:r>
          </a:p>
          <a:p/>
          <a:p>
            <a:r>
              <a:t>SELECT id, name, blurb FROM playlists ORDER BY id;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ALTER TABLE playlists ALTER COLUMN blurb SET DEFAULT '(no description)';</a:t>
            </a:r>
          </a:p>
          <a:p/>
          <a:p>
            <a:r>
              <a:t>INSERT INTO playlists (name, owner) VALUES ('Added Later', 'denis');</a:t>
            </a:r>
          </a:p>
          <a:p/>
          <a:p>
            <a:r>
              <a:t>SELECT id, name, blurb FROM playlists ORDER BY id;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ALTER TABLE playlists ADD COLUMN rating SMALLINT;</a:t>
            </a:r>
          </a:p>
          <a:p/>
          <a:p>
            <a:r>
              <a:t>ALTER TABLE playlists</a:t>
            </a:r>
          </a:p>
          <a:p>
            <a:r>
              <a:t>ALTER COLUMN rating TYPE NUMERIC(3,1)</a:t>
            </a:r>
          </a:p>
          <a:p>
            <a:r>
              <a:t>USING rating::numeric;</a:t>
            </a:r>
          </a:p>
          <a:p/>
          <a:p>
            <a:r>
              <a:t>SELECT column_name, data_type, numeric_precision, numeric_scale</a:t>
            </a:r>
          </a:p>
          <a:p>
            <a:r>
              <a:t>  FROM information_schema.columns</a:t>
            </a:r>
          </a:p>
          <a:p>
            <a:r>
              <a:t> WHERE table_name = 'playlists' AND column_name = 'rating';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 TABLE playlists_copy AS SELECT * FROM playlists;</a:t>
            </a:r>
          </a:p>
          <a:p/>
          <a:p>
            <a:r>
              <a:t>SELECT count(*) AS before_truncate FROM playlists_copy;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TRUNCATE TABLE playlists_copy;</a:t>
            </a:r>
          </a:p>
          <a:p/>
          <a:p>
            <a:r>
              <a:t>SELECT count(*) AS after_truncate FROM playlists_copy;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ALTER TABLE playlists DROP COLUMN rating;</a:t>
            </a:r>
          </a:p>
          <a:p/>
          <a:p>
            <a:r>
              <a:t>SELECT column_name</a:t>
            </a:r>
          </a:p>
          <a:p>
            <a:r>
              <a:t>  FROM information_schema.columns</a:t>
            </a:r>
          </a:p>
          <a:p>
            <a:r>
              <a:t> WHERE table_name = 'playlists'</a:t>
            </a:r>
          </a:p>
          <a:p>
            <a:r>
              <a:t> ORDER BY ordinal_position;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DROP TABLE playlists_copy;</a:t>
            </a:r>
          </a:p>
          <a:p/>
          <a:p>
            <a:r>
              <a:t>SELECT count(*) AS matching_tables</a:t>
            </a:r>
          </a:p>
          <a:p>
            <a:r>
              <a:t>  FROM information_schema.tables</a:t>
            </a:r>
          </a:p>
          <a:p>
            <a:r>
              <a:t> WHERE table_name = 'playlists_copy';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INSERT INTO playlists (name, owner) VALUES</a:t>
            </a:r>
          </a:p>
          <a:p>
            <a:r>
              <a:t>    ('Late Night Drive', 'denis'),</a:t>
            </a:r>
          </a:p>
          <a:p>
            <a:r>
              <a:t>    ('Loud and Fast',    'denis');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INSERT INTO playlist_tracks (playlist_id, track_id, position)</a:t>
            </a:r>
          </a:p>
          <a:p>
            <a:r>
              <a:t>SELECT 1,</a:t>
            </a:r>
          </a:p>
          <a:p>
            <a:r>
              <a:t>       t.id,</a:t>
            </a:r>
          </a:p>
          <a:p>
            <a:r>
              <a:t>       ROW_NUMBER() OVER (ORDER BY t.popularity DESC, t.name)</a:t>
            </a:r>
          </a:p>
          <a:p>
            <a:r>
              <a:t>  FROM tracks AS t</a:t>
            </a:r>
          </a:p>
          <a:p>
            <a:r>
              <a:t> WHERE t.tempo BETWEEN 150 AND 170</a:t>
            </a:r>
          </a:p>
          <a:p>
            <a:r>
              <a:t>   AND t.energy &gt; 0.8</a:t>
            </a:r>
          </a:p>
          <a:p>
            <a:r>
              <a:t>   AND t.popularity &gt; 60</a:t>
            </a:r>
          </a:p>
          <a:p>
            <a:r>
              <a:t> ORDER BY t.popularity DESC, t.name</a:t>
            </a:r>
          </a:p>
          <a:p>
            <a:r>
              <a:t> LIMIT 10;</a:t>
            </a:r>
          </a:p>
          <a:p/>
          <a:p>
            <a:r>
              <a:t>SELECT pt.position, t.name, t.popularity, round(t.tempo::numeric, 0) AS bpm</a:t>
            </a:r>
          </a:p>
          <a:p>
            <a:r>
              <a:t>  FROM playlist_tracks AS pt</a:t>
            </a:r>
          </a:p>
          <a:p>
            <a:r>
              <a:t>  JOIN tracks AS t ON t.id = pt.track_id</a:t>
            </a:r>
          </a:p>
          <a:p>
            <a:r>
              <a:t> WHERE pt.playlist_id = 1</a:t>
            </a:r>
          </a:p>
          <a:p>
            <a:r>
              <a:t> ORDER BY pt.position;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INSERT INTO playlist_tracks (playlist_id, track_id, position)</a:t>
            </a:r>
          </a:p>
          <a:p>
            <a:r>
              <a:t>SELECT 1,</a:t>
            </a:r>
          </a:p>
          <a:p>
            <a:r>
              <a:t>       t.id,</a:t>
            </a:r>
          </a:p>
          <a:p>
            <a:r>
              <a:t>       ROW_NUMBER() OVER (ORDER BY t.popularity DESC, t.name)</a:t>
            </a:r>
          </a:p>
          <a:p>
            <a:r>
              <a:t>  FROM tracks AS t</a:t>
            </a:r>
          </a:p>
          <a:p>
            <a:r>
              <a:t> WHERE t.tempo BETWEEN 150 AND 170</a:t>
            </a:r>
          </a:p>
          <a:p>
            <a:r>
              <a:t>   AND t.energy &gt; 0.8</a:t>
            </a:r>
          </a:p>
          <a:p>
            <a:r>
              <a:t>   AND t.popularity &gt; 60</a:t>
            </a:r>
          </a:p>
          <a:p>
            <a:r>
              <a:t> ORDER BY t.popularity DESC, t.name</a:t>
            </a:r>
          </a:p>
          <a:p>
            <a:r>
              <a:t> LIMIT 10;</a:t>
            </a:r>
          </a:p>
          <a:p/>
          <a:p>
            <a:r>
              <a:t>SELECT pt.position, t.name, t.popularity, round(t.tempo::numeric, 0) AS bpm</a:t>
            </a:r>
          </a:p>
          <a:p>
            <a:r>
              <a:t>  FROM playlist_tracks AS pt</a:t>
            </a:r>
          </a:p>
          <a:p>
            <a:r>
              <a:t>  JOIN tracks AS t ON t.id = pt.track_id</a:t>
            </a:r>
          </a:p>
          <a:p>
            <a:r>
              <a:t> WHERE pt.playlist_id = 1</a:t>
            </a:r>
          </a:p>
          <a:p>
            <a:r>
              <a:t> ORDER BY pt.position;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INSERT INTO playlists (id, name, owner)</a:t>
            </a:r>
          </a:p>
          <a:p>
            <a:r>
              <a:t>VALUES (1, 'Late Night Drive (renamed)', 'denis')</a:t>
            </a:r>
          </a:p>
          <a:p>
            <a:r>
              <a:t>ON CONFLICT (id) DO UPDATE</a:t>
            </a:r>
          </a:p>
          <a:p>
            <a:r>
              <a:t>   SET name = EXCLUDED.name;</a:t>
            </a:r>
          </a:p>
          <a:p/>
          <a:p>
            <a:r>
              <a:t>SELECT id, name, owner FROM playlists ORDER BY id;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UPDATE playlists SET is_public = false;</a:t>
            </a:r>
          </a:p>
          <a:p/>
          <a:p>
            <a:r>
              <a:t>SELECT id, name, is_public FROM playlists ORDER BY id;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UPDATE playlists</a:t>
            </a:r>
          </a:p>
          <a:p>
            <a:r>
              <a:t>   SET is_public = true,</a:t>
            </a:r>
          </a:p>
          <a:p>
            <a:r>
              <a:t>       blurb     = 'Curated by ' || owner</a:t>
            </a:r>
          </a:p>
          <a:p>
            <a:r>
              <a:t> WHERE owner = 'denis';</a:t>
            </a:r>
          </a:p>
          <a:p/>
          <a:p>
            <a:r>
              <a:t>SELECT id, name, owner, is_public, blurb FROM playlists ORDER BY id;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ALTER TABLE playlists ADD COLUMN avg_popularity numeric(5,2);</a:t>
            </a:r>
          </a:p>
          <a:p/>
          <a:p>
            <a:r>
              <a:t>UPDATE playlists AS p</a:t>
            </a:r>
          </a:p>
          <a:p>
            <a:r>
              <a:t>   SET avg_popularity = stats.avg_pop</a:t>
            </a:r>
          </a:p>
          <a:p>
            <a:r>
              <a:t>  FROM (</a:t>
            </a:r>
          </a:p>
          <a:p>
            <a:r>
              <a:t>        SELECT pt.playlist_id, round(avg(t.popularity), 2) AS avg_pop</a:t>
            </a:r>
          </a:p>
          <a:p>
            <a:r>
              <a:t>          FROM playlist_tracks AS pt</a:t>
            </a:r>
          </a:p>
          <a:p>
            <a:r>
              <a:t>          JOIN tracks AS t ON t.id = pt.track_id</a:t>
            </a:r>
          </a:p>
          <a:p>
            <a:r>
              <a:t>         GROUP BY pt.playlist_id</a:t>
            </a:r>
          </a:p>
          <a:p>
            <a:r>
              <a:t>       ) AS stats</a:t>
            </a:r>
          </a:p>
          <a:p>
            <a:r>
              <a:t> WHERE p.id = stats.playlist_id;</a:t>
            </a:r>
          </a:p>
          <a:p/>
          <a:p>
            <a:r>
              <a:t>SELECT id, name, avg_popularity FROM playlists ORDER BY id;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DELETE FROM playlists WHERE owner = 'anna';</a:t>
            </a:r>
          </a:p>
          <a:p/>
          <a:p>
            <a:r>
              <a:t>SELECT id, name, owner FROM playlists ORDER BY id;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DELETE FROM playlist_tracks</a:t>
            </a:r>
          </a:p>
          <a:p>
            <a:r>
              <a:t> WHERE playlist_id = 1</a:t>
            </a:r>
          </a:p>
          <a:p>
            <a:r>
              <a:t>   AND position &gt; 8</a:t>
            </a:r>
          </a:p>
          <a:p>
            <a:r>
              <a:t>RETURNING playlist_id, track_id, position;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BEGIN;</a:t>
            </a:r>
          </a:p>
          <a:p/>
          <a:p>
            <a:r>
              <a:t>UPDATE playlists SET owner = 'oops';</a:t>
            </a:r>
          </a:p>
          <a:p/>
          <a:p>
            <a:r>
              <a:t>SELECT id, name, owner FROM playlists ORDER BY id;   -- check the result</a:t>
            </a:r>
          </a:p>
          <a:p/>
          <a:p>
            <a:r>
              <a:t>ROLLBACK;                                            -- or COMMIT if it looks right</a:t>
            </a:r>
          </a:p>
          <a:p/>
          <a:p>
            <a:r>
              <a:t>SELECT id, name, owner FROM playlists ORDER BY id;   -- unchanged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BEGIN;</a:t>
            </a:r>
          </a:p>
          <a:p/>
          <a:p>
            <a:r>
              <a:t>UPDATE playlists SET owner = 'oops';</a:t>
            </a:r>
          </a:p>
          <a:p/>
          <a:p>
            <a:r>
              <a:t>SELECT id, name, owner FROM playlists ORDER BY id;   -- check the result</a:t>
            </a:r>
          </a:p>
          <a:p/>
          <a:p>
            <a:r>
              <a:t>ROLLBACK;                                            -- or COMMIT if it looks right</a:t>
            </a:r>
          </a:p>
          <a:p/>
          <a:p>
            <a:r>
              <a:t>SELECT id, name, owner FROM playlists ORDER BY id;   -- unchanged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 VIEW v_tracks_with_artists AS</a:t>
            </a:r>
          </a:p>
          <a:p>
            <a:r>
              <a:t>SELECT t.id,</a:t>
            </a:r>
          </a:p>
          <a:p>
            <a:r>
              <a:t>       t.name       AS track,</a:t>
            </a:r>
          </a:p>
          <a:p>
            <a:r>
              <a:t>       t.popularity,</a:t>
            </a:r>
          </a:p>
          <a:p>
            <a:r>
              <a:t>       t.release_date,</a:t>
            </a:r>
          </a:p>
          <a:p>
            <a:r>
              <a:t>       string_agg(a.name, ', ' ORDER BY ta.position) AS artists</a:t>
            </a:r>
          </a:p>
          <a:p>
            <a:r>
              <a:t>  FROM tracks AS t</a:t>
            </a:r>
          </a:p>
          <a:p>
            <a:r>
              <a:t>  JOIN track_artists AS ta ON ta.track_id = t.id</a:t>
            </a:r>
          </a:p>
          <a:p>
            <a:r>
              <a:t>  JOIN artists AS a        ON a.id = ta.artist_id</a:t>
            </a:r>
          </a:p>
          <a:p>
            <a:r>
              <a:t> GROUP BY t.id, t.name, t.popularity, t.release_date;</a:t>
            </a:r>
          </a:p>
          <a:p/>
          <a:p>
            <a:r>
              <a:t>SELECT track, artists, popularity</a:t>
            </a:r>
          </a:p>
          <a:p>
            <a:r>
              <a:t>  FROM v_tracks_with_artists</a:t>
            </a:r>
          </a:p>
          <a:p>
            <a:r>
              <a:t> ORDER BY popularity DESC</a:t>
            </a:r>
          </a:p>
          <a:p>
            <a:r>
              <a:t> LIMIT 8;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 VIEW v_tracks_with_artists AS</a:t>
            </a:r>
          </a:p>
          <a:p>
            <a:r>
              <a:t>SELECT t.id,</a:t>
            </a:r>
          </a:p>
          <a:p>
            <a:r>
              <a:t>       t.name       AS track,</a:t>
            </a:r>
          </a:p>
          <a:p>
            <a:r>
              <a:t>       t.popularity,</a:t>
            </a:r>
          </a:p>
          <a:p>
            <a:r>
              <a:t>       t.release_date,</a:t>
            </a:r>
          </a:p>
          <a:p>
            <a:r>
              <a:t>       string_agg(a.name, ', ' ORDER BY ta.position) AS artists</a:t>
            </a:r>
          </a:p>
          <a:p>
            <a:r>
              <a:t>  FROM tracks AS t</a:t>
            </a:r>
          </a:p>
          <a:p>
            <a:r>
              <a:t>  JOIN track_artists AS ta ON ta.track_id = t.id</a:t>
            </a:r>
          </a:p>
          <a:p>
            <a:r>
              <a:t>  JOIN artists AS a        ON a.id = ta.artist_id</a:t>
            </a:r>
          </a:p>
          <a:p>
            <a:r>
              <a:t> GROUP BY t.id, t.name, t.popularity, t.release_date;</a:t>
            </a:r>
          </a:p>
          <a:p/>
          <a:p>
            <a:r>
              <a:t>SELECT track, artists, popularity</a:t>
            </a:r>
          </a:p>
          <a:p>
            <a:r>
              <a:t>  FROM v_tracks_with_artists</a:t>
            </a:r>
          </a:p>
          <a:p>
            <a:r>
              <a:t> ORDER BY popularity DESC</a:t>
            </a:r>
          </a:p>
          <a:p>
            <a:r>
              <a:t> LIMIT 8;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SELECT (EXTRACT(YEAR FROM release_date)::int / 10) * 10 AS decade,</a:t>
            </a:r>
          </a:p>
          <a:p>
            <a:r>
              <a:t>       count(*) AS collaborations</a:t>
            </a:r>
          </a:p>
          <a:p>
            <a:r>
              <a:t>  FROM v_tracks_with_artists</a:t>
            </a:r>
          </a:p>
          <a:p>
            <a:r>
              <a:t> WHERE artists LIKE '%,%'          -- more than one credited artist</a:t>
            </a:r>
          </a:p>
          <a:p>
            <a:r>
              <a:t> GROUP BY decade</a:t>
            </a:r>
          </a:p>
          <a:p>
            <a:r>
              <a:t> ORDER BY decade;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 OR REPLACE VIEW v_tracks_with_artists AS</a:t>
            </a:r>
          </a:p>
          <a:p>
            <a:r>
              <a:t>SELECT …;              -- the new definition</a:t>
            </a:r>
          </a:p>
          <a:p/>
          <a:p>
            <a:r>
              <a:t>DROP VIEW v_tracks_with_artists;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 VIEW v_decade_counts AS</a:t>
            </a:r>
          </a:p>
          <a:p>
            <a:r>
              <a:t>SELECT (EXTRACT(YEAR FROM release_date)::int / 10) * 10 AS decade,</a:t>
            </a:r>
          </a:p>
          <a:p>
            <a:r>
              <a:t>       count(*) AS tracks</a:t>
            </a:r>
          </a:p>
          <a:p>
            <a:r>
              <a:t>  FROM tracks</a:t>
            </a:r>
          </a:p>
          <a:p>
            <a:r>
              <a:t> GROUP BY 1;</a:t>
            </a:r>
          </a:p>
          <a:p/>
          <a:p>
            <a:r>
              <a:t>CREATE MATERIALIZED VIEW mv_decade_counts AS</a:t>
            </a:r>
          </a:p>
          <a:p>
            <a:r>
              <a:t>SELECT (EXTRACT(YEAR FROM release_date)::int / 10) * 10 AS decade,</a:t>
            </a:r>
          </a:p>
          <a:p>
            <a:r>
              <a:t>       count(*) AS tracks</a:t>
            </a:r>
          </a:p>
          <a:p>
            <a:r>
              <a:t>  FROM tracks</a:t>
            </a:r>
          </a:p>
          <a:p>
            <a:r>
              <a:t> GROUP BY 1;</a:t>
            </a:r>
          </a:p>
          <a:p/>
          <a:p>
            <a:r>
              <a:t>SELECT 'view' AS source, tracks FROM v_decade_counts  WHERE decade = 2020</a:t>
            </a:r>
          </a:p>
          <a:p>
            <a:r>
              <a:t>UNION ALL</a:t>
            </a:r>
          </a:p>
          <a:p>
            <a:r>
              <a:t>SELECT 'materialized',    tracks FROM mv_decade_counts WHERE decade = 2020;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INSERT INTO tracks (id, name, popularity, duration_ms, explicit,</a:t>
            </a:r>
          </a:p>
          <a:p>
            <a:r>
              <a:t>                    release_date, release_date_precision)</a:t>
            </a:r>
          </a:p>
          <a:p>
            <a:r>
              <a:t>VALUES ('demo0000000000000000001', 'A Brand New Song', 0, 180000, false,</a:t>
            </a:r>
          </a:p>
          <a:p>
            <a:r>
              <a:t>        DATE '2021-06-01', 'day');</a:t>
            </a:r>
          </a:p>
          <a:p/>
          <a:p>
            <a:r>
              <a:t>SELECT 'view' AS source, tracks FROM v_decade_counts  WHERE decade = 2020</a:t>
            </a:r>
          </a:p>
          <a:p>
            <a:r>
              <a:t>UNION ALL</a:t>
            </a:r>
          </a:p>
          <a:p>
            <a:r>
              <a:t>SELECT 'materialized',    tracks FROM mv_decade_counts WHERE decade = 2020;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REFRESH MATERIALIZED VIEW mv_decade_counts;</a:t>
            </a:r>
          </a:p>
          <a:p/>
          <a:p>
            <a:r>
              <a:t>SELECT 'view' AS source, tracks FROM v_decade_counts  WHERE decade = 2020</a:t>
            </a:r>
          </a:p>
          <a:p>
            <a:r>
              <a:t>UNION ALL</a:t>
            </a:r>
          </a:p>
          <a:p>
            <a:r>
              <a:t>SELECT 'materialized',    tracks FROM mv_decade_counts WHERE decade = 2020;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 UNIQUE INDEX mv_decade_counts_decade ON mv_decade_counts(decade);</a:t>
            </a:r>
          </a:p>
          <a:p/>
          <a:p>
            <a:r>
              <a:t>SELECT indexname, indexdef</a:t>
            </a:r>
          </a:p>
          <a:p>
            <a:r>
              <a:t>  FROM pg_indexes</a:t>
            </a:r>
          </a:p>
          <a:p>
            <a:r>
              <a:t> WHERE tablename = 'mv_decade_counts';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-- tidy up the demo row</a:t>
            </a:r>
          </a:p>
          <a:p>
            <a:r>
              <a:t>DELETE FROM tracks WHERE id = 'demo0000000000000000001';</a:t>
            </a:r>
          </a:p>
          <a:p>
            <a:r>
              <a:t>REFRESH MATERIALIZED VIEW mv_decade_counts;</a:t>
            </a:r>
          </a:p>
          <a:p/>
          <a:p>
            <a:r>
              <a:t>SELECT tracks FROM mv_decade_counts WHERE decade = 2020;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 OR REPLACE FUNCTION decade_of(d date)</a:t>
            </a:r>
          </a:p>
          <a:p>
            <a:r>
              <a:t>RETURNS int</a:t>
            </a:r>
          </a:p>
          <a:p>
            <a:r>
              <a:t>LANGUAGE sql</a:t>
            </a:r>
          </a:p>
          <a:p>
            <a:r>
              <a:t>IMMUTABLE</a:t>
            </a:r>
          </a:p>
          <a:p>
            <a:r>
              <a:t>AS $$</a:t>
            </a:r>
          </a:p>
          <a:p>
            <a:r>
              <a:t>    SELECT (EXTRACT(YEAR FROM d)::int / 10) * 10;</a:t>
            </a:r>
          </a:p>
          <a:p>
            <a:r>
              <a:t>$$;</a:t>
            </a:r>
          </a:p>
          <a:p/>
          <a:p>
            <a:r>
              <a:t>SELECT decade_of(release_date) AS decade, count(*) AS tracks</a:t>
            </a:r>
          </a:p>
          <a:p>
            <a:r>
              <a:t>  FROM tracks</a:t>
            </a:r>
          </a:p>
          <a:p>
            <a:r>
              <a:t> GROUP BY 1</a:t>
            </a:r>
          </a:p>
          <a:p>
            <a:r>
              <a:t> ORDER BY 1;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 OR REPLACE FUNCTION track_count(artist_name text)</a:t>
            </a:r>
          </a:p>
          <a:p>
            <a:r>
              <a:t>RETURNS integer</a:t>
            </a:r>
          </a:p>
          <a:p>
            <a:r>
              <a:t>LANGUAGE plpgsql</a:t>
            </a:r>
          </a:p>
          <a:p>
            <a:r>
              <a:t>AS $$</a:t>
            </a:r>
          </a:p>
          <a:p>
            <a:r>
              <a:t>DECLARE</a:t>
            </a:r>
          </a:p>
          <a:p>
            <a:r>
              <a:t>    result integer;</a:t>
            </a:r>
          </a:p>
          <a:p>
            <a:r>
              <a:t>BEGIN</a:t>
            </a:r>
          </a:p>
          <a:p>
            <a:r>
              <a:t>    SELECT count(*)</a:t>
            </a:r>
          </a:p>
          <a:p>
            <a:r>
              <a:t>      INTO result</a:t>
            </a:r>
          </a:p>
          <a:p>
            <a:r>
              <a:t>      FROM artists AS a</a:t>
            </a:r>
          </a:p>
          <a:p>
            <a:r>
              <a:t>      JOIN track_artists AS ta ON ta.artist_id = a.id</a:t>
            </a:r>
          </a:p>
          <a:p>
            <a:r>
              <a:t>     WHERE a.name = artist_name;</a:t>
            </a:r>
          </a:p>
          <a:p/>
          <a:p>
            <a:r>
              <a:t>    RETURN result;</a:t>
            </a:r>
          </a:p>
          <a:p>
            <a:r>
              <a:t>END;</a:t>
            </a:r>
          </a:p>
          <a:p>
            <a:r>
              <a:t>$$;</a:t>
            </a:r>
          </a:p>
          <a:p/>
          <a:p>
            <a:r>
              <a:t>SELECT track_count('David Bowie') AS bowie,</a:t>
            </a:r>
          </a:p>
          <a:p>
            <a:r>
              <a:t>       track_count('Bob Dylan')   AS dylan,</a:t>
            </a:r>
          </a:p>
          <a:p>
            <a:r>
              <a:t>       track_count('Nobody')      AS nobody;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SELECT name, track_count(name) AS tracks</a:t>
            </a:r>
          </a:p>
          <a:p>
            <a:r>
              <a:t>  FROM artists</a:t>
            </a:r>
          </a:p>
          <a:p>
            <a:r>
              <a:t> ORDER BY followers DESC</a:t>
            </a:r>
          </a:p>
          <a:p>
            <a:r>
              <a:t> LIMIT 5;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 TABLE decade_summary (</a:t>
            </a:r>
          </a:p>
          <a:p>
            <a:r>
              <a:t>    decade         int PRIMARY KEY,</a:t>
            </a:r>
          </a:p>
          <a:p>
            <a:r>
              <a:t>    tracks         int NOT NULL,</a:t>
            </a:r>
          </a:p>
          <a:p>
            <a:r>
              <a:t>    avg_popularity numeric(5,2)</a:t>
            </a:r>
          </a:p>
          <a:p>
            <a:r>
              <a:t>);</a:t>
            </a:r>
          </a:p>
          <a:p/>
          <a:p>
            <a:r>
              <a:t>CREATE OR REPLACE PROCEDURE rebuild_decade_summary()</a:t>
            </a:r>
          </a:p>
          <a:p>
            <a:r>
              <a:t>LANGUAGE plpgsql</a:t>
            </a:r>
          </a:p>
          <a:p>
            <a:r>
              <a:t>AS $$</a:t>
            </a:r>
          </a:p>
          <a:p>
            <a:r>
              <a:t>DECLARE</a:t>
            </a:r>
          </a:p>
          <a:p>
            <a:r>
              <a:t>    affected integer;</a:t>
            </a:r>
          </a:p>
          <a:p>
            <a:r>
              <a:t>BEGIN</a:t>
            </a:r>
          </a:p>
          <a:p>
            <a:r>
              <a:t>    DELETE FROM decade_summary;</a:t>
            </a:r>
          </a:p>
          <a:p/>
          <a:p>
            <a:r>
              <a:t>    INSERT INTO decade_summary (decade, tracks, avg_popularity)</a:t>
            </a:r>
          </a:p>
          <a:p>
            <a:r>
              <a:t>    SELECT decade_of(release_date),</a:t>
            </a:r>
          </a:p>
          <a:p>
            <a:r>
              <a:t>           count(*),</a:t>
            </a:r>
          </a:p>
          <a:p>
            <a:r>
              <a:t>           round(avg(popularity), 2)</a:t>
            </a:r>
          </a:p>
          <a:p>
            <a:r>
              <a:t>      FROM tracks</a:t>
            </a:r>
          </a:p>
          <a:p>
            <a:r>
              <a:t>     GROUP BY 1;</a:t>
            </a:r>
          </a:p>
          <a:p/>
          <a:p>
            <a:r>
              <a:t>    GET DIAGNOSTICS affected = ROW_COUNT;</a:t>
            </a:r>
          </a:p>
          <a:p/>
          <a:p>
            <a:r>
              <a:t>    RAISE NOTICE 'decade_summary rebuilt with % rows', affected;</a:t>
            </a:r>
          </a:p>
          <a:p>
            <a:r>
              <a:t>END;</a:t>
            </a:r>
          </a:p>
          <a:p>
            <a:r>
              <a:t>$$;</a:t>
            </a:r>
          </a:p>
          <a:p/>
          <a:p>
            <a:r>
              <a:t>CALL rebuild_decade_summary();</a:t>
            </a:r>
          </a:p>
          <a:p/>
          <a:p>
            <a:r>
              <a:t>SELECT * FROM decade_summary ORDER BY decade;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 TABLE decade_summary (</a:t>
            </a:r>
          </a:p>
          <a:p>
            <a:r>
              <a:t>    decade         int PRIMARY KEY,</a:t>
            </a:r>
          </a:p>
          <a:p>
            <a:r>
              <a:t>    tracks         int NOT NULL,</a:t>
            </a:r>
          </a:p>
          <a:p>
            <a:r>
              <a:t>    avg_popularity numeric(5,2)</a:t>
            </a:r>
          </a:p>
          <a:p>
            <a:r>
              <a:t>);</a:t>
            </a:r>
          </a:p>
          <a:p/>
          <a:p>
            <a:r>
              <a:t>CREATE OR REPLACE PROCEDURE rebuild_decade_summary()</a:t>
            </a:r>
          </a:p>
          <a:p>
            <a:r>
              <a:t>LANGUAGE plpgsql</a:t>
            </a:r>
          </a:p>
          <a:p>
            <a:r>
              <a:t>AS $$</a:t>
            </a:r>
          </a:p>
          <a:p>
            <a:r>
              <a:t>DECLARE</a:t>
            </a:r>
          </a:p>
          <a:p>
            <a:r>
              <a:t>    affected integer;</a:t>
            </a:r>
          </a:p>
          <a:p>
            <a:r>
              <a:t>BEGIN</a:t>
            </a:r>
          </a:p>
          <a:p>
            <a:r>
              <a:t>    DELETE FROM decade_summary;</a:t>
            </a:r>
          </a:p>
          <a:p/>
          <a:p>
            <a:r>
              <a:t>    INSERT INTO decade_summary (decade, tracks, avg_popularity)</a:t>
            </a:r>
          </a:p>
          <a:p>
            <a:r>
              <a:t>    SELECT decade_of(release_date),</a:t>
            </a:r>
          </a:p>
          <a:p>
            <a:r>
              <a:t>           count(*),</a:t>
            </a:r>
          </a:p>
          <a:p>
            <a:r>
              <a:t>           round(avg(popularity), 2)</a:t>
            </a:r>
          </a:p>
          <a:p>
            <a:r>
              <a:t>      FROM tracks</a:t>
            </a:r>
          </a:p>
          <a:p>
            <a:r>
              <a:t>     GROUP BY 1;</a:t>
            </a:r>
          </a:p>
          <a:p/>
          <a:p>
            <a:r>
              <a:t>    GET DIAGNOSTICS affected = ROW_COUNT;</a:t>
            </a:r>
          </a:p>
          <a:p/>
          <a:p>
            <a:r>
              <a:t>    RAISE NOTICE 'decade_summary rebuilt with % rows', affected;</a:t>
            </a:r>
          </a:p>
          <a:p>
            <a:r>
              <a:t>END;</a:t>
            </a:r>
          </a:p>
          <a:p>
            <a:r>
              <a:t>$$;</a:t>
            </a:r>
          </a:p>
          <a:p/>
          <a:p>
            <a:r>
              <a:t>CALL rebuild_decade_summary();</a:t>
            </a:r>
          </a:p>
          <a:p/>
          <a:p>
            <a:r>
              <a:t>SELECT * FROM decade_summary ORDER BY decade;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-- a working copy, so the demo leaves the catalogue alone</a:t>
            </a:r>
          </a:p>
          <a:p>
            <a:r>
              <a:t>CREATE TABLE tracks_pool AS</a:t>
            </a:r>
          </a:p>
          <a:p>
            <a:r>
              <a:t>SELECT id, name, popularity FROM tracks;</a:t>
            </a:r>
          </a:p>
          <a:p/>
          <a:p>
            <a:r>
              <a:t>CREATE OR REPLACE PROCEDURE archive_unpopular(</a:t>
            </a:r>
          </a:p>
          <a:p>
            <a:r>
              <a:t>    IN    threshold integer DEFAULT 5,</a:t>
            </a:r>
          </a:p>
          <a:p>
            <a:r>
              <a:t>    INOUT moved     integer DEFAULT 0</a:t>
            </a:r>
          </a:p>
          <a:p>
            <a:r>
              <a:t>)</a:t>
            </a:r>
          </a:p>
          <a:p>
            <a:r>
              <a:t>LANGUAGE plpgsql</a:t>
            </a:r>
          </a:p>
          <a:p>
            <a:r>
              <a:t>AS $$</a:t>
            </a:r>
          </a:p>
          <a:p>
            <a:r>
              <a:t>BEGIN</a:t>
            </a:r>
          </a:p>
          <a:p>
            <a:r>
              <a:t>    CREATE TABLE IF NOT EXISTS tracks_archive (LIKE tracks_pool);</a:t>
            </a:r>
          </a:p>
          <a:p/>
          <a:p>
            <a:r>
              <a:t>    WITH moved_rows AS (</a:t>
            </a:r>
          </a:p>
          <a:p>
            <a:r>
              <a:t>        DELETE FROM tracks_pool</a:t>
            </a:r>
          </a:p>
          <a:p>
            <a:r>
              <a:t>         WHERE popularity &lt; threshold</a:t>
            </a:r>
          </a:p>
          <a:p>
            <a:r>
              <a:t>        RETURNING *</a:t>
            </a:r>
          </a:p>
          <a:p>
            <a:r>
              <a:t>    )</a:t>
            </a:r>
          </a:p>
          <a:p>
            <a:r>
              <a:t>    INSERT INTO tracks_archive SELECT * FROM moved_rows;</a:t>
            </a:r>
          </a:p>
          <a:p/>
          <a:p>
            <a:r>
              <a:t>    GET DIAGNOSTICS moved = ROW_COUNT;</a:t>
            </a:r>
          </a:p>
          <a:p>
            <a:r>
              <a:t>END;</a:t>
            </a:r>
          </a:p>
          <a:p>
            <a:r>
              <a:t>$$;</a:t>
            </a:r>
          </a:p>
          <a:p/>
          <a:p>
            <a:r>
              <a:t>CALL archive_unpopular(1, NULL);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-- a working copy, so the demo leaves the catalogue alone</a:t>
            </a:r>
          </a:p>
          <a:p>
            <a:r>
              <a:t>CREATE TABLE tracks_pool AS</a:t>
            </a:r>
          </a:p>
          <a:p>
            <a:r>
              <a:t>SELECT id, name, popularity FROM tracks;</a:t>
            </a:r>
          </a:p>
          <a:p/>
          <a:p>
            <a:r>
              <a:t>CREATE OR REPLACE PROCEDURE archive_unpopular(</a:t>
            </a:r>
          </a:p>
          <a:p>
            <a:r>
              <a:t>    IN    threshold integer DEFAULT 5,</a:t>
            </a:r>
          </a:p>
          <a:p>
            <a:r>
              <a:t>    INOUT moved     integer DEFAULT 0</a:t>
            </a:r>
          </a:p>
          <a:p>
            <a:r>
              <a:t>)</a:t>
            </a:r>
          </a:p>
          <a:p>
            <a:r>
              <a:t>LANGUAGE plpgsql</a:t>
            </a:r>
          </a:p>
          <a:p>
            <a:r>
              <a:t>AS $$</a:t>
            </a:r>
          </a:p>
          <a:p>
            <a:r>
              <a:t>BEGIN</a:t>
            </a:r>
          </a:p>
          <a:p>
            <a:r>
              <a:t>    CREATE TABLE IF NOT EXISTS tracks_archive (LIKE tracks_pool);</a:t>
            </a:r>
          </a:p>
          <a:p/>
          <a:p>
            <a:r>
              <a:t>    WITH moved_rows AS (</a:t>
            </a:r>
          </a:p>
          <a:p>
            <a:r>
              <a:t>        DELETE FROM tracks_pool</a:t>
            </a:r>
          </a:p>
          <a:p>
            <a:r>
              <a:t>         WHERE popularity &lt; threshold</a:t>
            </a:r>
          </a:p>
          <a:p>
            <a:r>
              <a:t>        RETURNING *</a:t>
            </a:r>
          </a:p>
          <a:p>
            <a:r>
              <a:t>    )</a:t>
            </a:r>
          </a:p>
          <a:p>
            <a:r>
              <a:t>    INSERT INTO tracks_archive SELECT * FROM moved_rows;</a:t>
            </a:r>
          </a:p>
          <a:p/>
          <a:p>
            <a:r>
              <a:t>    GET DIAGNOSTICS moved = ROW_COUNT;</a:t>
            </a:r>
          </a:p>
          <a:p>
            <a:r>
              <a:t>END;</a:t>
            </a:r>
          </a:p>
          <a:p>
            <a:r>
              <a:t>$$;</a:t>
            </a:r>
          </a:p>
          <a:p/>
          <a:p>
            <a:r>
              <a:t>CALL archive_unpopular(1, NULL);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SELECT (SELECT count(*) FROM tracks_pool)    AS left_in_pool,</a:t>
            </a:r>
          </a:p>
          <a:p>
            <a:r>
              <a:t>       (SELECT count(*) FROM tracks_archive) AS archived,</a:t>
            </a:r>
          </a:p>
          <a:p>
            <a:r>
              <a:t>       (SELECT count(*) FROM tracks)         AS catalogue_untouched;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track_cnt &gt; 100 THEN</a:t>
            </a:r>
          </a:p>
          <a:p>
            <a:r>
              <a:t>    RAISE NOTICE 'prolific';</a:t>
            </a:r>
          </a:p>
          <a:p>
            <a:r>
              <a:t>ELSIF track_cnt &gt; 10 THEN</a:t>
            </a:r>
          </a:p>
          <a:p>
            <a:r>
              <a:t>    RAISE NOTICE 'established';</a:t>
            </a:r>
          </a:p>
          <a:p>
            <a:r>
              <a:t>ELSE</a:t>
            </a:r>
          </a:p>
          <a:p>
            <a:r>
              <a:t>    RAISE NOTICE 'occasional';</a:t>
            </a:r>
          </a:p>
          <a:p>
            <a:r>
              <a:t>END IF;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-- a counted loop</a:t>
            </a:r>
          </a:p>
          <a:p>
            <a:r>
              <a:t>FOR i IN 1..5 LOOP</a:t>
            </a:r>
          </a:p>
          <a:p>
            <a:r>
              <a:t>    RAISE NOTICE 'decade %', 1960 + i * 10;</a:t>
            </a:r>
          </a:p>
          <a:p>
            <a:r>
              <a:t>END LOOP;</a:t>
            </a:r>
          </a:p>
          <a:p/>
          <a:p>
            <a:r>
              <a:t>-- a loop over the rows of a query</a:t>
            </a:r>
          </a:p>
          <a:p>
            <a:r>
              <a:t>FOR rec IN SELECT name, popularity FROM tracks LIMIT 10 LOOP</a:t>
            </a:r>
          </a:p>
          <a:p>
            <a:r>
              <a:t>    RAISE NOTICE '% scores %', rec.name, rec.popularity;</a:t>
            </a:r>
          </a:p>
          <a:p>
            <a:r>
              <a:t>END LOOP;</a:t>
            </a:r>
          </a:p>
          <a:p/>
          <a:p>
            <a:r>
              <a:t>-- a conditional loop</a:t>
            </a:r>
          </a:p>
          <a:p>
            <a:r>
              <a:t>WHILE cnt &lt; 10 LOOP</a:t>
            </a:r>
          </a:p>
          <a:p>
            <a:r>
              <a:t>    cnt := cnt + 1;</a:t>
            </a:r>
          </a:p>
          <a:p>
            <a:r>
              <a:t>END LOOP;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 OR REPLACE FUNCTION artist_tier(artist_name text)</a:t>
            </a:r>
          </a:p>
          <a:p>
            <a:r>
              <a:t>RETURNS text</a:t>
            </a:r>
          </a:p>
          <a:p>
            <a:r>
              <a:t>LANGUAGE plpgsql</a:t>
            </a:r>
          </a:p>
          <a:p>
            <a:r>
              <a:t>AS $$</a:t>
            </a:r>
          </a:p>
          <a:p>
            <a:r>
              <a:t>DECLARE</a:t>
            </a:r>
          </a:p>
          <a:p>
            <a:r>
              <a:t>    cnt integer;</a:t>
            </a:r>
          </a:p>
          <a:p>
            <a:r>
              <a:t>BEGIN</a:t>
            </a:r>
          </a:p>
          <a:p>
            <a:r>
              <a:t>    cnt := track_count(artist_name);</a:t>
            </a:r>
          </a:p>
          <a:p/>
          <a:p>
            <a:r>
              <a:t>    IF cnt = 0 THEN</a:t>
            </a:r>
          </a:p>
          <a:p>
            <a:r>
              <a:t>        RETURN 'unknown artist';</a:t>
            </a:r>
          </a:p>
          <a:p>
            <a:r>
              <a:t>    ELSIF cnt &gt; 100 THEN</a:t>
            </a:r>
          </a:p>
          <a:p>
            <a:r>
              <a:t>        RETURN 'prolific';</a:t>
            </a:r>
          </a:p>
          <a:p>
            <a:r>
              <a:t>    ELSIF cnt &gt; 10 THEN</a:t>
            </a:r>
          </a:p>
          <a:p>
            <a:r>
              <a:t>        RETURN 'established';</a:t>
            </a:r>
          </a:p>
          <a:p>
            <a:r>
              <a:t>    ELSE</a:t>
            </a:r>
          </a:p>
          <a:p>
            <a:r>
              <a:t>        RETURN 'occasional';</a:t>
            </a:r>
          </a:p>
          <a:p>
            <a:r>
              <a:t>    END IF;</a:t>
            </a:r>
          </a:p>
          <a:p>
            <a:r>
              <a:t>END;</a:t>
            </a:r>
          </a:p>
          <a:p>
            <a:r>
              <a:t>$$;</a:t>
            </a:r>
          </a:p>
          <a:p/>
          <a:p>
            <a:r>
              <a:t>SELECT name, track_count(name) AS tracks, artist_tier(name) AS tier</a:t>
            </a:r>
          </a:p>
          <a:p>
            <a:r>
              <a:t>  FROM artists</a:t>
            </a:r>
          </a:p>
          <a:p>
            <a:r>
              <a:t> WHERE name IN ('David Bowie', 'Bob Dylan', 'Johann Sebastian Bach', 'Nobody At All')</a:t>
            </a:r>
          </a:p>
          <a:p>
            <a:r>
              <a:t> ORDER BY tracks DESC;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 OR REPLACE FUNCTION artist_tier(artist_name text)</a:t>
            </a:r>
          </a:p>
          <a:p>
            <a:r>
              <a:t>RETURNS text</a:t>
            </a:r>
          </a:p>
          <a:p>
            <a:r>
              <a:t>LANGUAGE plpgsql</a:t>
            </a:r>
          </a:p>
          <a:p>
            <a:r>
              <a:t>AS $$</a:t>
            </a:r>
          </a:p>
          <a:p>
            <a:r>
              <a:t>DECLARE</a:t>
            </a:r>
          </a:p>
          <a:p>
            <a:r>
              <a:t>    cnt integer;</a:t>
            </a:r>
          </a:p>
          <a:p>
            <a:r>
              <a:t>BEGIN</a:t>
            </a:r>
          </a:p>
          <a:p>
            <a:r>
              <a:t>    cnt := track_count(artist_name);</a:t>
            </a:r>
          </a:p>
          <a:p/>
          <a:p>
            <a:r>
              <a:t>    IF cnt = 0 THEN</a:t>
            </a:r>
          </a:p>
          <a:p>
            <a:r>
              <a:t>        RETURN 'unknown artist';</a:t>
            </a:r>
          </a:p>
          <a:p>
            <a:r>
              <a:t>    ELSIF cnt &gt; 100 THEN</a:t>
            </a:r>
          </a:p>
          <a:p>
            <a:r>
              <a:t>        RETURN 'prolific';</a:t>
            </a:r>
          </a:p>
          <a:p>
            <a:r>
              <a:t>    ELSIF cnt &gt; 10 THEN</a:t>
            </a:r>
          </a:p>
          <a:p>
            <a:r>
              <a:t>        RETURN 'established';</a:t>
            </a:r>
          </a:p>
          <a:p>
            <a:r>
              <a:t>    ELSE</a:t>
            </a:r>
          </a:p>
          <a:p>
            <a:r>
              <a:t>        RETURN 'occasional';</a:t>
            </a:r>
          </a:p>
          <a:p>
            <a:r>
              <a:t>    END IF;</a:t>
            </a:r>
          </a:p>
          <a:p>
            <a:r>
              <a:t>END;</a:t>
            </a:r>
          </a:p>
          <a:p>
            <a:r>
              <a:t>$$;</a:t>
            </a:r>
          </a:p>
          <a:p/>
          <a:p>
            <a:r>
              <a:t>SELECT name, track_count(name) AS tracks, artist_tier(name) AS tier</a:t>
            </a:r>
          </a:p>
          <a:p>
            <a:r>
              <a:t>  FROM artists</a:t>
            </a:r>
          </a:p>
          <a:p>
            <a:r>
              <a:t> WHERE name IN ('David Bowie', 'Bob Dylan', 'Johann Sebastian Bach', 'Nobody At All')</a:t>
            </a:r>
          </a:p>
          <a:p>
            <a:r>
              <a:t> ORDER BY tracks DESC;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 OR REPLACE FUNCTION safe_add_playlist(p_name text, p_owner text)</a:t>
            </a:r>
          </a:p>
          <a:p>
            <a:r>
              <a:t>RETURNS text</a:t>
            </a:r>
          </a:p>
          <a:p>
            <a:r>
              <a:t>LANGUAGE plpgsql</a:t>
            </a:r>
          </a:p>
          <a:p>
            <a:r>
              <a:t>AS $$</a:t>
            </a:r>
          </a:p>
          <a:p>
            <a:r>
              <a:t>BEGIN</a:t>
            </a:r>
          </a:p>
          <a:p>
            <a:r>
              <a:t>    INSERT INTO playlists (name, owner) VALUES (p_name, p_owner);</a:t>
            </a:r>
          </a:p>
          <a:p>
            <a:r>
              <a:t>    RETURN 'created';</a:t>
            </a:r>
          </a:p>
          <a:p>
            <a:r>
              <a:t>EXCEPTION</a:t>
            </a:r>
          </a:p>
          <a:p>
            <a:r>
              <a:t>    WHEN unique_violation THEN</a:t>
            </a:r>
          </a:p>
          <a:p>
            <a:r>
              <a:t>        RETURN 'already exists, skipped';</a:t>
            </a:r>
          </a:p>
          <a:p>
            <a:r>
              <a:t>    WHEN others THEN</a:t>
            </a:r>
          </a:p>
          <a:p>
            <a:r>
              <a:t>        RETURN 'unexpected error: ' || SQLERRM;</a:t>
            </a:r>
          </a:p>
          <a:p>
            <a:r>
              <a:t>END;</a:t>
            </a:r>
          </a:p>
          <a:p>
            <a:r>
              <a:t>$$;</a:t>
            </a:r>
          </a:p>
          <a:p/>
          <a:p>
            <a:r>
              <a:t>SELECT safe_add_playlist('Brand New Mix', 'denis')    AS first_call,</a:t>
            </a:r>
          </a:p>
          <a:p>
            <a:r>
              <a:t>       safe_add_playlist('Brand New Mix', 'denis')    AS second_call;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DROP FUNCTION safe_add_playlist(text, text);</a:t>
            </a:r>
          </a:p>
          <a:p/>
          <a:p>
            <a:r>
              <a:t>SELECT count(*) AS still_there</a:t>
            </a:r>
          </a:p>
          <a:p>
            <a:r>
              <a:t>  FROM information_schema.routines</a:t>
            </a:r>
          </a:p>
          <a:p>
            <a:r>
              <a:t> WHERE routine_name = 'safe_add_playlist';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DECLARE</a:t>
            </a:r>
          </a:p>
          <a:p>
            <a:r>
              <a:t>    track_cnt   integer;                      -- no initial value → NULL</a:t>
            </a:r>
          </a:p>
          <a:p>
            <a:r>
              <a:t>    threshold   integer := 10;                -- with an initial value</a:t>
            </a:r>
          </a:p>
          <a:p>
            <a:r>
              <a:t>    label       text    := 'prolific';</a:t>
            </a:r>
          </a:p>
          <a:p>
            <a:r>
              <a:t>    decade      constant int := 1970;         -- cannot be reassigned</a:t>
            </a:r>
          </a:p>
          <a:p>
            <a:r>
              <a:t>    rec         record;                       -- a row of any shape</a:t>
            </a:r>
          </a:p>
          <a:p>
            <a:r>
              <a:t>    t           tracks%ROWTYPE;               -- a row of the tracks table</a:t>
            </a:r>
          </a:p>
          <a:p>
            <a:r>
              <a:t>    nm          tracks.name%TYPE;             -- the type of one column</a:t>
            </a:r>
          </a:p>
          <a:p>
            <a:r>
              <a:t>BEGIN</a:t>
            </a:r>
          </a:p>
          <a:p>
            <a:r>
              <a:t>    ...</a:t>
            </a:r>
          </a:p>
          <a:p>
            <a:r>
              <a:t>END;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$$</a:t>
            </a:r>
          </a:p>
          <a:p>
            <a:r>
              <a:t>DECLARE</a:t>
            </a:r>
          </a:p>
          <a:p>
            <a:r>
              <a:t>    cutoff       constant int := 80;</a:t>
            </a:r>
          </a:p>
          <a:p>
            <a:r>
              <a:t>    hits         integer;</a:t>
            </a:r>
          </a:p>
          <a:p>
            <a:r>
              <a:t>    total        integer;</a:t>
            </a:r>
          </a:p>
          <a:p>
            <a:r>
              <a:t>    oldest       tracks%ROWTYPE;</a:t>
            </a:r>
          </a:p>
          <a:p>
            <a:r>
              <a:t>BEGIN</a:t>
            </a:r>
          </a:p>
          <a:p>
            <a:r>
              <a:t>    SELECT count(*) INTO hits  FROM tracks WHERE popularity &gt;= cutoff;</a:t>
            </a:r>
          </a:p>
          <a:p>
            <a:r>
              <a:t>    SELECT count(*) INTO total FROM tracks;</a:t>
            </a:r>
          </a:p>
          <a:p/>
          <a:p>
            <a:r>
              <a:t>    SELECT * INTO oldest FROM tracks ORDER BY release_date LIMIT 1;</a:t>
            </a:r>
          </a:p>
          <a:p/>
          <a:p>
            <a:r>
              <a:t>    -- '%' is the placeholder, so a literal percent sign has to be doubled.</a:t>
            </a:r>
          </a:p>
          <a:p>
            <a:r>
              <a:t>    -- Writing them adjacent is ambiguous, so keep the word instead.</a:t>
            </a:r>
          </a:p>
          <a:p>
            <a:r>
              <a:t>    RAISE NOTICE 'Tracks at popularity &gt;= %: % of % (% percent)',</a:t>
            </a:r>
          </a:p>
          <a:p>
            <a:r>
              <a:t>                 cutoff, hits, total, round(100.0 * hits / total, 2);</a:t>
            </a:r>
          </a:p>
          <a:p>
            <a:r>
              <a:t>    RAISE NOTICE 'Oldest track: "%" from %', oldest.name, oldest.release_date;</a:t>
            </a:r>
          </a:p>
          <a:p>
            <a:r>
              <a:t>END;</a:t>
            </a:r>
          </a:p>
          <a:p>
            <a:r>
              <a:t>$$;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$$</a:t>
            </a:r>
          </a:p>
          <a:p>
            <a:r>
              <a:t>DECLARE</a:t>
            </a:r>
          </a:p>
          <a:p>
            <a:r>
              <a:t>    rec           record;</a:t>
            </a:r>
          </a:p>
          <a:p>
            <a:r>
              <a:t>    running_total integer := 0;</a:t>
            </a:r>
          </a:p>
          <a:p>
            <a:r>
              <a:t>BEGIN</a:t>
            </a:r>
          </a:p>
          <a:p>
            <a:r>
              <a:t>    FOR rec IN</a:t>
            </a:r>
          </a:p>
          <a:p>
            <a:r>
              <a:t>        SELECT decade_of(release_date) AS decade, count(*) AS tracks</a:t>
            </a:r>
          </a:p>
          <a:p>
            <a:r>
              <a:t>          FROM tracks</a:t>
            </a:r>
          </a:p>
          <a:p>
            <a:r>
              <a:t>         GROUP BY 1</a:t>
            </a:r>
          </a:p>
          <a:p>
            <a:r>
              <a:t>         ORDER BY 1</a:t>
            </a:r>
          </a:p>
          <a:p>
            <a:r>
              <a:t>    LOOP</a:t>
            </a:r>
          </a:p>
          <a:p>
            <a:r>
              <a:t>        running_total := running_total + rec.tracks;</a:t>
            </a:r>
          </a:p>
          <a:p>
            <a:r>
              <a:t>        RAISE NOTICE '% → % tracks (running total %)',</a:t>
            </a:r>
          </a:p>
          <a:p>
            <a:r>
              <a:t>                     rec.decade, rec.tracks, running_total;</a:t>
            </a:r>
          </a:p>
          <a:p>
            <a:r>
              <a:t>    END LOOP;</a:t>
            </a:r>
          </a:p>
          <a:p>
            <a:r>
              <a:t>END;</a:t>
            </a:r>
          </a:p>
          <a:p>
            <a:r>
              <a:t>$$;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my.decade = '1970';</a:t>
            </a:r>
          </a:p>
          <a:p/>
          <a:p>
            <a:r>
              <a:t>SELECT current_setting('my.decade') AS the_setting;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SELECT count(*) AS tracks_in_my_decade</a:t>
            </a:r>
          </a:p>
          <a:p>
            <a:r>
              <a:t>  FROM tracks</a:t>
            </a:r>
          </a:p>
          <a:p>
            <a:r>
              <a:t> WHERE decade_of(release_date) = current_setting('my.decade')::int;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BEGIN;</a:t>
            </a:r>
          </a:p>
          <a:p>
            <a:r>
              <a:t>SET LOCAL my.decade = '1990';</a:t>
            </a:r>
          </a:p>
          <a:p>
            <a:r>
              <a:t>SELECT current_setting('my.decade') AS inside_transaction;</a:t>
            </a:r>
          </a:p>
          <a:p>
            <a:r>
              <a:t>COMMIT;</a:t>
            </a:r>
          </a:p>
          <a:p/>
          <a:p>
            <a:r>
              <a:t>SELECT current_setting('my.decade') AS after_commit;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work_mem = '256MB';</a:t>
            </a:r>
          </a:p>
          <a:p>
            <a:r>
              <a:t>SHOW work_mem;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\set decade 1970</a:t>
            </a:r>
          </a:p>
          <a:p>
            <a:r>
              <a:t>SELECT count(*) FROM tracks WHERE decade_of(release_date) = :decade;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-- never do this</a:t>
            </a:r>
          </a:p>
          <a:p>
            <a:r>
              <a:t>'SELECT * FROM tracks WHERE name = ''' || user_input || ''''</a:t>
            </a:r>
          </a:p>
          <a:p/>
          <a:p>
            <a:r>
              <a:t>-- do this: the value can never be parsed as SQL</a:t>
            </a:r>
          </a:p>
          <a:p>
            <a:r>
              <a:t>SELECT * FROM tracks WHERE name = $1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F733-3168-7873-880B-FEA1FE18EF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9944CA-C88C-DFDB-60F3-5B41DAA8E9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AF801-7D1F-7C7E-F8C6-B279017EA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A41EB-F526-1B4C-8D0D-F403911830D9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18C9E-7C26-8D54-71FF-FE0D11938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B4611-3856-AFEF-D580-5BC0A5B73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6EAD1-42CC-E149-B725-0EE6865D0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711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A6B71-F87C-403D-5EEF-0AB239688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6EF18-043C-0213-3DD5-86CC19912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CCF0A-1916-1D72-49C5-76C8EE657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A41EB-F526-1B4C-8D0D-F403911830D9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7FDAA-0D19-8EF9-5630-EC0E51433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4BB36-1303-F909-6084-82D740400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6EAD1-42CC-E149-B725-0EE6865D0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04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4C80B-EA86-EF95-2B02-57380B762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702B9-4C09-F5A5-629D-7B937A7BA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2DC99-5C26-62DF-6ACA-03A68FB6C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A41EB-F526-1B4C-8D0D-F403911830D9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8EA05-58FB-CFB8-4355-B3E01066E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F74B7-7658-3DA1-15CB-8154F1DE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6EAD1-42CC-E149-B725-0EE6865D0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664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15292-5416-4DD2-58B9-8B6D491FF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CA097-D2E6-A1FF-2AB0-3E2B798249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89BCDA-DDA9-A7D6-9C5F-38EB18CD31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B3D31A-AAB5-66B5-0352-F9C632995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A41EB-F526-1B4C-8D0D-F403911830D9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0A6548-D3D4-1B0F-2623-50B4A00AE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84DE81-D3B5-4349-91E5-AEDEB820B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6EAD1-42CC-E149-B725-0EE6865D0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721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26C3D-7785-1347-3E47-B78AF2093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09C02-9E92-00B7-F10D-7B9B29A3B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F49161-832D-20A7-75E0-4ECBF4B71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DB60DF-D4C9-6E49-27D3-2C0A55E29C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E92F57-6C10-CF00-2BC1-909BB4D4DC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5CA166-6FF6-DE04-11DE-95924A770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A41EB-F526-1B4C-8D0D-F403911830D9}" type="datetimeFigureOut">
              <a:rPr lang="en-US" smtClean="0"/>
              <a:t>10/4/26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EA3EE6-1CD0-048F-9DF8-6D1C58E45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50120C-8BEF-E587-9423-B2785C746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6EAD1-42CC-E149-B725-0EE6865D0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755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E851C-C9C7-C00B-7025-4E1CB272C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2AB687-1C06-4899-97A7-8278745F2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A41EB-F526-1B4C-8D0D-F403911830D9}" type="datetimeFigureOut">
              <a:rPr lang="en-US" smtClean="0"/>
              <a:t>10/4/26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9BFE3E-95A6-2141-80FC-E541CD78F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91B479-C973-E1CF-C799-CBD75F85B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6EAD1-42CC-E149-B725-0EE6865D0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936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EC5446-9145-1A53-D437-A2419EE52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A41EB-F526-1B4C-8D0D-F403911830D9}" type="datetimeFigureOut">
              <a:rPr lang="en-US" smtClean="0"/>
              <a:t>10/4/26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2C58CE-87C8-835F-99D1-2ED99D052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C4F14-71DD-7E4F-054F-AE24BA01D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6EAD1-42CC-E149-B725-0EE6865D0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802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F4EA7-5896-711C-C59C-2DA5291ED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C2374-89DB-007B-6CF2-07B66EC4C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4D01FB-EC3C-F0DB-B93E-BC76F7724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ACBA72-7741-0D38-B429-A8EAA1DB3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A41EB-F526-1B4C-8D0D-F403911830D9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436C4B-FB20-3EC4-3FCC-63A86C58E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3FD35E-C1FA-5BF9-A6CC-096637299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6EAD1-42CC-E149-B725-0EE6865D0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684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3EA64-D9A6-12B4-8006-3FAF2F4A2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61FD38-8E87-C860-EC16-630142CEA0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A5487B-6D18-40C5-1393-F259344CEB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FCCAC3-B5CE-B361-404C-3544D61C0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A41EB-F526-1B4C-8D0D-F403911830D9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14AC23-10E1-85DE-D447-B43F20BB3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DC8FA2-EFA0-7E31-D89E-F3F66D3D0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6EAD1-42CC-E149-B725-0EE6865D0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233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6DF28-A41C-DA40-7CF6-9167631FE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78CBF8-D1A9-1A02-F5F9-7A69188875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0AFD7-E72C-43D4-FF54-62A06F2D4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A41EB-F526-1B4C-8D0D-F403911830D9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1A3B3-BBD6-4933-0966-D6529366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0DB4D-78FD-4A79-7B42-5ADF7A547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6EAD1-42CC-E149-B725-0EE6865D0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799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E6A3A5-77CB-D2A1-FBDD-3E5D2AC4E1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0C36C9-9014-2168-A6DE-E972582881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4DE8A-8190-B500-6DA5-F3D3D6A83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A41EB-F526-1B4C-8D0D-F403911830D9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DA9E4-A6AF-045B-F9CB-A247807A0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157CB-88C5-4E32-5C83-DFAB1454E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6EAD1-42CC-E149-B725-0EE6865D0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519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E19D1E-F005-630A-2D97-5E822259E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3D141-978E-D93C-C310-EA32560F8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D23AF-84AF-31EC-FF37-D19B585288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AA41EB-F526-1B4C-8D0D-F403911830D9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6142B-8569-DB07-3A3F-1FB06D89F1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878F4-24B3-AEDF-9293-705508475D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96EAD1-42CC-E149-B725-0EE6865D0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103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hyperlink" Target="https://furiere.github.io/data_course_3/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notesSlide" Target="../notesSlides/notesSlide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notesSlide" Target="../notesSlides/notesSlide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notesSlide" Target="../notesSlides/notesSlide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notesSlide" Target="../notesSlides/notesSlide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notesSlide" Target="../notesSlides/notesSlide1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notesSlide" Target="../notesSlides/notesSlide1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notesSlide" Target="../notesSlides/notesSlide1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notesSlide" Target="../notesSlides/notesSlide1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notesSlide" Target="../notesSlides/notesSlide1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4.png"/><Relationship Id="rId4" Type="http://schemas.openxmlformats.org/officeDocument/2006/relationships/notesSlide" Target="../notesSlides/notesSlide1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5.png"/><Relationship Id="rId4" Type="http://schemas.openxmlformats.org/officeDocument/2006/relationships/notesSlide" Target="../notesSlides/notesSlide1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6.png"/><Relationship Id="rId4" Type="http://schemas.openxmlformats.org/officeDocument/2006/relationships/notesSlide" Target="../notesSlides/notesSlide1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notesSlide" Target="../notesSlides/notesSlide1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notesSlide" Target="../notesSlides/notesSlide1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notesSlide" Target="../notesSlides/notesSlide2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notesSlide" Target="../notesSlides/notesSlide2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notesSlide" Target="../notesSlides/notesSlide2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notesSlide" Target="../notesSlides/notesSlide2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9.png"/><Relationship Id="rId4" Type="http://schemas.openxmlformats.org/officeDocument/2006/relationships/notesSlide" Target="../notesSlides/notesSlide2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6.png"/><Relationship Id="rId4" Type="http://schemas.openxmlformats.org/officeDocument/2006/relationships/notesSlide" Target="../notesSlides/notesSlide2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0.png"/><Relationship Id="rId4" Type="http://schemas.openxmlformats.org/officeDocument/2006/relationships/notesSlide" Target="../notesSlides/notesSlide2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1.png"/><Relationship Id="rId4" Type="http://schemas.openxmlformats.org/officeDocument/2006/relationships/notesSlide" Target="../notesSlides/notesSlide2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notesSlide" Target="../notesSlides/notesSlide2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4.png"/><Relationship Id="rId4" Type="http://schemas.openxmlformats.org/officeDocument/2006/relationships/notesSlide" Target="../notesSlides/notesSlide29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notesSlide" Target="../notesSlides/notesSlide3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notesSlide" Target="../notesSlides/notesSlide3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notesSlide" Target="../notesSlides/notesSlide3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notesSlide" Target="../notesSlides/notesSlide3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notesSlide" Target="../notesSlides/notesSlide3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notesSlide" Target="../notesSlides/notesSlide3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notesSlide" Target="../notesSlides/notesSlide3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notesSlide" Target="../notesSlides/notesSlide3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71.png"/><Relationship Id="rId4" Type="http://schemas.openxmlformats.org/officeDocument/2006/relationships/notesSlide" Target="../notesSlides/notesSlide38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72.png"/><Relationship Id="rId4" Type="http://schemas.openxmlformats.org/officeDocument/2006/relationships/notesSlide" Target="../notesSlides/notesSlide39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73.png"/><Relationship Id="rId4" Type="http://schemas.openxmlformats.org/officeDocument/2006/relationships/notesSlide" Target="../notesSlides/notesSlide40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74.png"/><Relationship Id="rId4" Type="http://schemas.openxmlformats.org/officeDocument/2006/relationships/notesSlide" Target="../notesSlides/notesSlide4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notesSlide" Target="../notesSlides/notesSlide4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77.png"/><Relationship Id="rId4" Type="http://schemas.openxmlformats.org/officeDocument/2006/relationships/notesSlide" Target="../notesSlides/notesSlide4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78.png"/><Relationship Id="rId4" Type="http://schemas.openxmlformats.org/officeDocument/2006/relationships/notesSlide" Target="../notesSlides/notesSlide4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79.png"/><Relationship Id="rId4" Type="http://schemas.openxmlformats.org/officeDocument/2006/relationships/notesSlide" Target="../notesSlides/notesSlide4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80.png"/><Relationship Id="rId4" Type="http://schemas.openxmlformats.org/officeDocument/2006/relationships/notesSlide" Target="../notesSlides/notesSlide4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notesSlide" Target="../notesSlides/notesSlide4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notesSlide" Target="../notesSlides/notesSlide48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85.png"/><Relationship Id="rId4" Type="http://schemas.openxmlformats.org/officeDocument/2006/relationships/notesSlide" Target="../notesSlides/notesSlide49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86.png"/><Relationship Id="rId4" Type="http://schemas.openxmlformats.org/officeDocument/2006/relationships/notesSlide" Target="../notesSlides/notesSlide50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87.png"/><Relationship Id="rId4" Type="http://schemas.openxmlformats.org/officeDocument/2006/relationships/notesSlide" Target="../notesSlides/notesSlide5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88.png"/><Relationship Id="rId4" Type="http://schemas.openxmlformats.org/officeDocument/2006/relationships/image" Target="../media/image89.png"/><Relationship Id="rId5" Type="http://schemas.openxmlformats.org/officeDocument/2006/relationships/notesSlide" Target="../notesSlides/notesSlide5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0.png"/><Relationship Id="rId4" Type="http://schemas.openxmlformats.org/officeDocument/2006/relationships/image" Target="../media/image91.png"/><Relationship Id="rId5" Type="http://schemas.openxmlformats.org/officeDocument/2006/relationships/notesSlide" Target="../notesSlides/notesSlide53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notesSlide" Target="../notesSlides/notesSlide54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4.png"/><Relationship Id="rId4" Type="http://schemas.openxmlformats.org/officeDocument/2006/relationships/image" Target="../media/image95.png"/><Relationship Id="rId5" Type="http://schemas.openxmlformats.org/officeDocument/2006/relationships/notesSlide" Target="../notesSlides/notesSlide55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6.png"/><Relationship Id="rId4" Type="http://schemas.openxmlformats.org/officeDocument/2006/relationships/notesSlide" Target="../notesSlides/notesSlide56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7.png"/><Relationship Id="rId4" Type="http://schemas.openxmlformats.org/officeDocument/2006/relationships/notesSlide" Target="../notesSlides/notesSlide5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" name="Picture 7" descr="A close-up of a colorful background&#10;&#10;AI-generated content may be incorrect.">
            <a:extLst>
              <a:ext uri="{FF2B5EF4-FFF2-40B4-BE49-F238E27FC236}">
                <a16:creationId xmlns:a16="http://schemas.microsoft.com/office/drawing/2014/main" id="{C0963667-7CF1-31AB-0DEE-B428FF154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17992D4-DE4C-1514-CB2C-69B9E280C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Title"/>
          <p:cNvSpPr txBox="1"/>
          <p:nvPr/>
        </p:nvSpPr>
        <p:spPr>
          <a:xfrm>
            <a:off x="347472" y="1143000"/>
            <a:ext cx="5669280" cy="420624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1800"/>
              </a:spcAft>
            </a:pPr>
            <a:r>
              <a:rPr sz="1600" b="1" i="0">
                <a:solidFill>
                  <a:srgbClr val="007C85"/>
                </a:solidFill>
                <a:latin typeface="Arial"/>
              </a:rPr>
              <a:t>SQL FOR DATA ANALYSTS  ·  LECTURE 2</a:t>
            </a:r>
          </a:p>
          <a:p>
            <a:pPr>
              <a:lnSpc>
                <a:spcPct val="95000"/>
              </a:lnSpc>
              <a:spcAft>
                <a:spcPts val="2800"/>
              </a:spcAft>
            </a:pPr>
            <a:r>
              <a:rPr sz="4400" b="1" i="0">
                <a:solidFill>
                  <a:srgbClr val="000000"/>
                </a:solidFill>
                <a:latin typeface="Arial"/>
              </a:rPr>
              <a:t>DDL &amp; DML, Procedures, Variables</a:t>
            </a:r>
          </a:p>
          <a:p>
            <a:r>
              <a:rPr sz="2000" b="0" i="0">
                <a:solidFill>
                  <a:srgbClr val="000000"/>
                </a:solidFill>
                <a:latin typeface="Arial"/>
              </a:rPr>
              <a:t>Denis Boldin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Content Placeholder 4" descr="A close-up of a colorful object&#10;&#10;AI-generated content may be incorrect.">
            <a:extLst>
              <a:ext uri="{FF2B5EF4-FFF2-40B4-BE49-F238E27FC236}">
                <a16:creationId xmlns:a16="http://schemas.microsoft.com/office/drawing/2014/main" id="{94BE2C03-EF74-F5AD-32D8-416E363868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10" name="Picture 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665C1B3-FAA8-E5C8-582A-771B8F2A5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6498" y="198723"/>
            <a:ext cx="332804" cy="332804"/>
          </a:xfrm>
          <a:prstGeom prst="rect">
            <a:avLst/>
          </a:prstGeom>
        </p:spPr>
      </p:pic>
      <p:sp>
        <p:nvSpPr>
          <p:cNvPr id="11" name="Title"/>
          <p:cNvSpPr txBox="1"/>
          <p:nvPr/>
        </p:nvSpPr>
        <p:spPr>
          <a:xfrm>
            <a:off x="6035040" y="685800"/>
            <a:ext cx="5394960" cy="146304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4000" b="1" i="0">
                <a:solidFill>
                  <a:srgbClr val="000000"/>
                </a:solidFill>
                <a:latin typeface="Arial"/>
              </a:rPr>
              <a:t>Contents</a:t>
            </a:r>
          </a:p>
        </p:txBody>
      </p:sp>
      <p:sp>
        <p:nvSpPr>
          <p:cNvPr id="12" name="Body"/>
          <p:cNvSpPr txBox="1"/>
          <p:nvPr/>
        </p:nvSpPr>
        <p:spPr>
          <a:xfrm>
            <a:off x="6035040" y="1635759"/>
            <a:ext cx="5394960" cy="47193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Arial"/>
              </a:rPr>
              <a:t>2.1 Creating and updating tables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Arial"/>
              </a:rPr>
              <a:t>2.2 Materializations: views and materialized views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Arial"/>
              </a:rPr>
              <a:t>2.3 Procedures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Arial"/>
              </a:rPr>
              <a:t>2.4 Variables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Arial"/>
              </a:rPr>
              <a:t>Summary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close-up of a bunch of paint brushes&#10;&#10;AI-generated content may be incorrect.">
            <a:extLst>
              <a:ext uri="{FF2B5EF4-FFF2-40B4-BE49-F238E27FC236}">
                <a16:creationId xmlns:a16="http://schemas.microsoft.com/office/drawing/2014/main" id="{34B42168-D1AC-F5B4-26AE-D6D4372602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603504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LECTURE 2. DDL &amp; DML, PROCEDURES, VARIABLES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603504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Contents</a:t>
            </a:r>
          </a:p>
        </p:txBody>
      </p:sp>
      <p:sp>
        <p:nvSpPr>
          <p:cNvPr id="14" name="Body"/>
          <p:cNvSpPr txBox="1"/>
          <p:nvPr/>
        </p:nvSpPr>
        <p:spPr>
          <a:xfrm>
            <a:off x="1005840" y="2057400"/>
            <a:ext cx="6766560" cy="42976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81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Lecture 1 was about </a:t>
            </a:r>
            <a:r>
              <a:rPr sz="1800" b="0" i="1">
                <a:solidFill>
                  <a:srgbClr val="000000"/>
                </a:solidFill>
                <a:latin typeface="Arial"/>
              </a:rPr>
              <a:t>reading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data. This lecture is about </a:t>
            </a:r>
            <a:r>
              <a:rPr sz="1800" b="0" i="1">
                <a:solidFill>
                  <a:srgbClr val="000000"/>
                </a:solidFill>
                <a:latin typeface="Arial"/>
              </a:rPr>
              <a:t>changing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it — the structure of the database, its contents, and the code that lives inside the database itself.</a:t>
            </a:r>
          </a:p>
          <a:p>
            <a:pPr>
              <a:spcAft>
                <a:spcPts val="81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Everything runs against the same course database, in the </a:t>
            </a:r>
            <a:r>
              <a:rPr sz="1800" b="1" i="0" u="sng">
                <a:solidFill>
                  <a:srgbClr val="007C85"/>
                </a:solidFill>
                <a:latin typeface="Arial"/>
                <a:hlinkClick r:id="rId4"/>
              </a:rPr>
              <a:t>live playground</a:t>
            </a:r>
            <a:r>
              <a:rPr sz="1800" b="0" i="0">
                <a:solidFill>
                  <a:srgbClr val="000000"/>
                </a:solidFill>
                <a:latin typeface="Arial"/>
              </a:rPr>
              <a:t>. This time you will be modifying it, which is exactly why the playground is worth having: </a:t>
            </a:r>
            <a:r>
              <a:rPr sz="1800" b="1" i="0">
                <a:solidFill>
                  <a:srgbClr val="000000"/>
                </a:solidFill>
                <a:latin typeface="Arial"/>
              </a:rPr>
              <a:t>refresh the page and you get a clean database back.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Nothing you do here can break anything.</a:t>
            </a:r>
          </a:p>
          <a:p>
            <a:pPr>
              <a:spcAft>
                <a:spcPts val="81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Rather than mutate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tracks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and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artists</a:t>
            </a:r>
            <a:r>
              <a:rPr sz="1800" b="0" i="0">
                <a:solidFill>
                  <a:srgbClr val="000000"/>
                </a:solidFill>
                <a:latin typeface="Arial"/>
              </a:rPr>
              <a:t>, most of this lecture builds something new on top of them — a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playlists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table, the feature every music service has and this dataset lacks.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close-up of a colorful background&#10;&#10;AI-generated content may be incorrect.">
            <a:extLst>
              <a:ext uri="{FF2B5EF4-FFF2-40B4-BE49-F238E27FC236}">
                <a16:creationId xmlns:a16="http://schemas.microsoft.com/office/drawing/2014/main" id="{FB6389BF-F4D2-40D5-62DD-3C105EE3C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62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5" name="Picture 1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501C81A-DBE5-E6A0-4619-C2A3D5341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6" name="Title"/>
          <p:cNvSpPr txBox="1"/>
          <p:nvPr/>
        </p:nvSpPr>
        <p:spPr>
          <a:xfrm>
            <a:off x="548640" y="1188720"/>
            <a:ext cx="5120640" cy="146304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4000" b="1" i="0">
                <a:solidFill>
                  <a:srgbClr val="000000"/>
                </a:solidFill>
                <a:latin typeface="Arial"/>
              </a:rPr>
              <a:t>2.1 Creating and updating tables</a:t>
            </a:r>
          </a:p>
        </p:txBody>
      </p:sp>
      <p:sp>
        <p:nvSpPr>
          <p:cNvPr id="17" name="Body"/>
          <p:cNvSpPr txBox="1"/>
          <p:nvPr/>
        </p:nvSpPr>
        <p:spPr>
          <a:xfrm>
            <a:off x="548640" y="2722880"/>
            <a:ext cx="5120640" cy="36322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675"/>
              </a:spcAft>
            </a:pPr>
            <a:r>
              <a:rPr sz="1500" b="0" i="0">
                <a:solidFill>
                  <a:srgbClr val="000000"/>
                </a:solidFill>
                <a:latin typeface="Arial"/>
              </a:rPr>
              <a:t>SQL statements are traditionally split into groups by what they act on:</a:t>
            </a:r>
          </a:p>
          <a:p>
            <a:pPr marL="292608" indent="-292608">
              <a:spcAft>
                <a:spcPts val="675"/>
              </a:spcAft>
              <a:buFont typeface="Arial"/>
              <a:buChar char="•"/>
            </a:pPr>
            <a:r>
              <a:rPr sz="1500" b="0" i="0">
                <a:solidFill>
                  <a:srgbClr val="000000"/>
                </a:solidFill>
                <a:latin typeface="Arial"/>
              </a:rPr>
              <a:t>CREATE</a:t>
            </a:r>
          </a:p>
          <a:p>
            <a:pPr marL="292608" indent="-292608">
              <a:spcAft>
                <a:spcPts val="675"/>
              </a:spcAft>
              <a:buFont typeface="Arial"/>
              <a:buChar char="•"/>
            </a:pPr>
            <a:r>
              <a:rPr sz="1500" b="0" i="0">
                <a:solidFill>
                  <a:srgbClr val="000000"/>
                </a:solidFill>
                <a:latin typeface="Arial"/>
              </a:rPr>
              <a:t>ALTER</a:t>
            </a:r>
          </a:p>
          <a:p>
            <a:pPr marL="292608" indent="-292608">
              <a:spcAft>
                <a:spcPts val="675"/>
              </a:spcAft>
              <a:buFont typeface="Arial"/>
              <a:buChar char="•"/>
            </a:pPr>
            <a:r>
              <a:rPr sz="1500" b="0" i="0">
                <a:solidFill>
                  <a:srgbClr val="000000"/>
                </a:solidFill>
                <a:latin typeface="Arial"/>
              </a:rPr>
              <a:t>TRUNCATE</a:t>
            </a:r>
          </a:p>
          <a:p>
            <a:pPr marL="292608" indent="-292608">
              <a:spcAft>
                <a:spcPts val="675"/>
              </a:spcAft>
              <a:buFont typeface="Arial"/>
              <a:buChar char="•"/>
            </a:pPr>
            <a:r>
              <a:rPr sz="1500" b="0" i="0">
                <a:solidFill>
                  <a:srgbClr val="000000"/>
                </a:solidFill>
                <a:latin typeface="Arial"/>
              </a:rPr>
              <a:t>DROP</a:t>
            </a:r>
          </a:p>
          <a:p>
            <a:pPr marL="292608" indent="-292608">
              <a:spcAft>
                <a:spcPts val="675"/>
              </a:spcAft>
              <a:buFont typeface="Arial"/>
              <a:buChar char="•"/>
            </a:pPr>
            <a:r>
              <a:rPr sz="1500" b="0" i="0">
                <a:solidFill>
                  <a:srgbClr val="000000"/>
                </a:solidFill>
                <a:latin typeface="Arial"/>
              </a:rPr>
              <a:t>INSERT</a:t>
            </a:r>
          </a:p>
          <a:p>
            <a:pPr marL="292608" indent="-292608">
              <a:spcAft>
                <a:spcPts val="675"/>
              </a:spcAft>
              <a:buFont typeface="Arial"/>
              <a:buChar char="•"/>
            </a:pPr>
            <a:r>
              <a:rPr sz="1500" b="0" i="0">
                <a:solidFill>
                  <a:srgbClr val="000000"/>
                </a:solidFill>
                <a:latin typeface="Arial"/>
              </a:rPr>
              <a:t>UPDATE</a:t>
            </a:r>
          </a:p>
          <a:p>
            <a:pPr marL="292608" indent="-292608">
              <a:spcAft>
                <a:spcPts val="675"/>
              </a:spcAft>
              <a:buFont typeface="Arial"/>
              <a:buChar char="•"/>
            </a:pPr>
            <a:r>
              <a:rPr sz="1500" b="0" i="0">
                <a:solidFill>
                  <a:srgbClr val="000000"/>
                </a:solidFill>
                <a:latin typeface="Arial"/>
              </a:rPr>
              <a:t>DELETE</a:t>
            </a:r>
          </a:p>
          <a:p>
            <a:pPr marL="292608" indent="-292608">
              <a:spcAft>
                <a:spcPts val="675"/>
              </a:spcAft>
              <a:buFont typeface="Arial"/>
              <a:buChar char="•"/>
            </a:pPr>
            <a:r>
              <a:rPr sz="1500" b="0" i="0">
                <a:solidFill>
                  <a:srgbClr val="000000"/>
                </a:solidFill>
                <a:latin typeface="Arial"/>
              </a:rPr>
              <a:t>DELETE vs TRUNCATE</a:t>
            </a:r>
          </a:p>
          <a:p>
            <a:pPr marL="292608" indent="-292608">
              <a:spcAft>
                <a:spcPts val="675"/>
              </a:spcAft>
              <a:buFont typeface="Arial"/>
              <a:buChar char="•"/>
            </a:pPr>
            <a:r>
              <a:rPr sz="1500" b="0" i="0">
                <a:solidFill>
                  <a:srgbClr val="000000"/>
                </a:solidFill>
                <a:latin typeface="Arial"/>
              </a:rPr>
              <a:t>A note on safety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LECTURE 2. DDL &amp; DML, PROCEDURES, VARIABLES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2.1 Creating and updating tables</a:t>
            </a:r>
          </a:p>
        </p:txBody>
      </p:sp>
      <p:graphicFrame>
        <p:nvGraphicFramePr>
          <p:cNvPr id="14" name="Table"/>
          <p:cNvGraphicFramePr>
            <a:graphicFrameLocks noGrp="1"/>
          </p:cNvGraphicFramePr>
          <p:nvPr/>
        </p:nvGraphicFramePr>
        <p:xfrm>
          <a:off x="1005840" y="1367028"/>
          <a:ext cx="10332718" cy="195072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002670"/>
                <a:gridCol w="2561101"/>
                <a:gridCol w="4768947"/>
              </a:tblGrid>
              <a:tr h="3048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Arial"/>
                        </a:rPr>
                        <a:t>Group</a:t>
                      </a:r>
                    </a:p>
                  </a:txBody>
                  <a:tcPr marL="91440" marR="91440" marT="45720" marB="45720">
                    <a:solidFill>
                      <a:srgbClr val="03CDD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Arial"/>
                        </a:rPr>
                        <a:t>Statements</a:t>
                      </a:r>
                    </a:p>
                  </a:txBody>
                  <a:tcPr marL="91440" marR="91440" marT="45720" marB="45720">
                    <a:solidFill>
                      <a:srgbClr val="03CDD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Arial"/>
                        </a:rPr>
                        <a:t>Acts on</a:t>
                      </a:r>
                    </a:p>
                  </a:txBody>
                  <a:tcPr marL="91440" marR="91440" marT="45720" marB="45720">
                    <a:solidFill>
                      <a:srgbClr val="03CDD8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Arial"/>
                        </a:rPr>
                        <a:t>DDL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 — Data Definition Language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30" b="0" i="0">
                          <a:solidFill>
                            <a:srgbClr val="007C85"/>
                          </a:solidFill>
                          <a:latin typeface="Consolas"/>
                        </a:rPr>
                        <a:t>CREATE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, </a:t>
                      </a:r>
                      <a:r>
                        <a:rPr sz="1330" b="0" i="0">
                          <a:solidFill>
                            <a:srgbClr val="007C85"/>
                          </a:solidFill>
                          <a:latin typeface="Consolas"/>
                        </a:rPr>
                        <a:t>ALTER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, </a:t>
                      </a:r>
                      <a:r>
                        <a:rPr sz="1330" b="0" i="0">
                          <a:solidFill>
                            <a:srgbClr val="007C85"/>
                          </a:solidFill>
                          <a:latin typeface="Consolas"/>
                        </a:rPr>
                        <a:t>DROP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, </a:t>
                      </a:r>
                      <a:r>
                        <a:rPr sz="1330" b="0" i="0">
                          <a:solidFill>
                            <a:srgbClr val="007C85"/>
                          </a:solidFill>
                          <a:latin typeface="Consolas"/>
                        </a:rPr>
                        <a:t>TRUNCATE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the structure: tables, indexes, constraints, sequences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Arial"/>
                        </a:rPr>
                        <a:t>DML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 — Data Manipulation Language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30" b="0" i="0">
                          <a:solidFill>
                            <a:srgbClr val="007C85"/>
                          </a:solidFill>
                          <a:latin typeface="Consolas"/>
                        </a:rPr>
                        <a:t>INSERT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, </a:t>
                      </a:r>
                      <a:r>
                        <a:rPr sz="1330" b="0" i="0">
                          <a:solidFill>
                            <a:srgbClr val="007C85"/>
                          </a:solidFill>
                          <a:latin typeface="Consolas"/>
                        </a:rPr>
                        <a:t>UPDATE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, </a:t>
                      </a:r>
                      <a:r>
                        <a:rPr sz="1330" b="0" i="0">
                          <a:solidFill>
                            <a:srgbClr val="007C85"/>
                          </a:solidFill>
                          <a:latin typeface="Consolas"/>
                        </a:rPr>
                        <a:t>DELETE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the data inside the tables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Arial"/>
                        </a:rPr>
                        <a:t>TCL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 — Transaction Control Language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30" b="0" i="0">
                          <a:solidFill>
                            <a:srgbClr val="007C85"/>
                          </a:solidFill>
                          <a:latin typeface="Consolas"/>
                        </a:rPr>
                        <a:t>BEGIN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, </a:t>
                      </a:r>
                      <a:r>
                        <a:rPr sz="1330" b="0" i="0">
                          <a:solidFill>
                            <a:srgbClr val="007C85"/>
                          </a:solidFill>
                          <a:latin typeface="Consolas"/>
                        </a:rPr>
                        <a:t>COMMIT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, </a:t>
                      </a:r>
                      <a:r>
                        <a:rPr sz="1330" b="0" i="0">
                          <a:solidFill>
                            <a:srgbClr val="007C85"/>
                          </a:solidFill>
                          <a:latin typeface="Consolas"/>
                        </a:rPr>
                        <a:t>ROLLBACK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transactions (see ACID, Lecture 1 §1.6)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Arial"/>
                        </a:rPr>
                        <a:t>DCL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 — Data Control Language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30" b="0" i="0">
                          <a:solidFill>
                            <a:srgbClr val="007C85"/>
                          </a:solidFill>
                          <a:latin typeface="Consolas"/>
                        </a:rPr>
                        <a:t>GRANT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, </a:t>
                      </a:r>
                      <a:r>
                        <a:rPr sz="1330" b="0" i="0">
                          <a:solidFill>
                            <a:srgbClr val="007C85"/>
                          </a:solidFill>
                          <a:latin typeface="Consolas"/>
                        </a:rPr>
                        <a:t>REVOKE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access rights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15" name="Note"/>
          <p:cNvSpPr txBox="1"/>
          <p:nvPr/>
        </p:nvSpPr>
        <p:spPr>
          <a:xfrm>
            <a:off x="1005840" y="3683508"/>
            <a:ext cx="10332720" cy="4267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This section covers the first two.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2.1 CREATING AND UPDATING TABLES  ·  DDL — DATA DEFINITION LANGUAGE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CREATE</a:t>
            </a:r>
          </a:p>
        </p:txBody>
      </p:sp>
      <p:sp>
        <p:nvSpPr>
          <p:cNvPr id="14" name="Lead"/>
          <p:cNvSpPr txBox="1"/>
          <p:nvPr/>
        </p:nvSpPr>
        <p:spPr>
          <a:xfrm>
            <a:off x="1005840" y="1367028"/>
            <a:ext cx="10332720" cy="4267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Creating a table in its simplest form:</a:t>
            </a:r>
          </a:p>
        </p:txBody>
      </p:sp>
      <p:pic>
        <p:nvPicPr>
          <p:cNvPr id="15" name="Picture 14" descr="CREATE TABLE playlists (&#10;    id          int,&#10;    name        text,&#10;    owner       text,&#10;    created_at  date&#10;)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885187"/>
            <a:ext cx="3505200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2.1 CREATING AND UPDATING TABLES  ·  DDL — DATA DEFINITION LANGUAGE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CREATE</a:t>
            </a:r>
          </a:p>
        </p:txBody>
      </p:sp>
      <p:sp>
        <p:nvSpPr>
          <p:cNvPr id="14" name="Lead"/>
          <p:cNvSpPr txBox="1"/>
          <p:nvPr/>
        </p:nvSpPr>
        <p:spPr>
          <a:xfrm>
            <a:off x="1005840" y="1367028"/>
            <a:ext cx="10332720" cy="6705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That works, but it says nothing about what is </a:t>
            </a:r>
            <a:r>
              <a:rPr sz="1600" b="0" i="1">
                <a:solidFill>
                  <a:srgbClr val="000000"/>
                </a:solidFill>
                <a:latin typeface="Arial"/>
              </a:rPr>
              <a:t>valid</a:t>
            </a:r>
            <a:r>
              <a:rPr sz="1600" b="0" i="0">
                <a:solidFill>
                  <a:srgbClr val="000000"/>
                </a:solidFill>
                <a:latin typeface="Arial"/>
              </a:rPr>
              <a:t>. In practice you also declare keys, length limits and constraints. The same table, written the way you would actually write it in PostgreSQL:</a:t>
            </a:r>
          </a:p>
        </p:txBody>
      </p:sp>
      <p:pic>
        <p:nvPicPr>
          <p:cNvPr id="15" name="Picture 14" descr="CREATE TABLE playlists (&#10;    id          SERIAL       PRIMARY KEY,&#10;    name        VARCHAR(120) NOT NULL,&#10;    owner       VARCHAR(80)  NOT NULL,&#10;    is_public   BOOLEAN      NOT NULL DEFAULT true,&#10;    created_at  TIMESTAMP    NOT NULL DEFAULT now(),&#10;    CONSTRAINT playlists_name_per_owner UNIQUE (name, owner)&#10;);&#10;&#10;INSERT INTO playlists (name, owner) VALUES&#10;    ('Late Night Drive', 'denis'),&#10;    ('Loud and Fast',    'denis'),&#10;    ('Quiet Mornings',   'anna');&#10;&#10;SELECT id, name, owner, is_public FROM playlists ORDER BY id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129028"/>
            <a:ext cx="6975195" cy="4162354"/>
          </a:xfrm>
          <a:prstGeom prst="rect">
            <a:avLst/>
          </a:prstGeom>
        </p:spPr>
      </p:pic>
      <p:pic>
        <p:nvPicPr>
          <p:cNvPr id="16" name="Picture 15" descr="CREATE TABLE playlists (&#10;    id          SERIAL       PRIMARY KEY,&#10;    name        VARCHAR(120) NOT NULL,&#10;    owner       VARCHAR(80)  NOT NULL,&#10;    is_public   BOOLEAN      NOT NULL DEFAULT true,&#10;    created_at  TIMESTAMP    NOT NULL DEFAULT now(),&#10;    CONSTRAINT playlists_name_per_owner UNIQUE (name, owner)&#10;);&#10;&#10;INSERT INTO playlists (name, owner) VALUES&#10;    ('Late Night Drive', 'denis'),&#10;    ('Loud and Fast',    'denis'),&#10;    ('Quiet Mornings',   'anna');&#10;&#10;SELECT id, name, owner, is_public FROM playlists ORDER BY id;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9635" y="2129028"/>
            <a:ext cx="3162413" cy="143080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close-up of a bunch of paint brushes&#10;&#10;AI-generated content may be incorrect.">
            <a:extLst>
              <a:ext uri="{FF2B5EF4-FFF2-40B4-BE49-F238E27FC236}">
                <a16:creationId xmlns:a16="http://schemas.microsoft.com/office/drawing/2014/main" id="{34B42168-D1AC-F5B4-26AE-D6D4372602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603504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2.1 CREATING AND UPDATING TABLES  ·  DDL — DATA DEFINITION LANGUAGE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603504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CREATE</a:t>
            </a:r>
          </a:p>
        </p:txBody>
      </p:sp>
      <p:sp>
        <p:nvSpPr>
          <p:cNvPr id="14" name="Body"/>
          <p:cNvSpPr txBox="1"/>
          <p:nvPr/>
        </p:nvSpPr>
        <p:spPr>
          <a:xfrm>
            <a:off x="1005840" y="2057400"/>
            <a:ext cx="6766560" cy="42976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709" b="0" i="0">
                <a:solidFill>
                  <a:srgbClr val="007C85"/>
                </a:solidFill>
                <a:latin typeface="Consolas"/>
              </a:rPr>
              <a:t>id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is not a plain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INT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but a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SERIAL PRIMARY KEY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— an auto-incrementing surrogate key, which is why the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INSERT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never mentions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id</a:t>
            </a:r>
            <a:r>
              <a:rPr sz="1800" b="0" i="0">
                <a:solidFill>
                  <a:srgbClr val="000000"/>
                </a:solidFill>
                <a:latin typeface="Arial"/>
              </a:rPr>
              <a:t>;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709" b="0" i="0">
                <a:solidFill>
                  <a:srgbClr val="007C85"/>
                </a:solidFill>
                <a:latin typeface="Consolas"/>
              </a:rPr>
              <a:t>name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is a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VARCHAR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limited to 120 characters instead of an unbounded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TEXT</a:t>
            </a:r>
            <a:r>
              <a:rPr sz="1800" b="0" i="0">
                <a:solidFill>
                  <a:srgbClr val="000000"/>
                </a:solidFill>
                <a:latin typeface="Arial"/>
              </a:rPr>
              <a:t>;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709" b="0" i="0">
                <a:solidFill>
                  <a:srgbClr val="007C85"/>
                </a:solidFill>
                <a:latin typeface="Consolas"/>
              </a:rPr>
              <a:t>owner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carries a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NOT NULL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constraint;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709" b="0" i="0">
                <a:solidFill>
                  <a:srgbClr val="007C85"/>
                </a:solidFill>
                <a:latin typeface="Consolas"/>
              </a:rPr>
              <a:t>is_public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and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created_at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have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DEFAULT</a:t>
            </a:r>
            <a:r>
              <a:rPr sz="1800" b="0" i="0">
                <a:solidFill>
                  <a:srgbClr val="000000"/>
                </a:solidFill>
                <a:latin typeface="Arial"/>
              </a:rPr>
              <a:t>s, so the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INSERT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did not have to supply them;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Arial"/>
              </a:rPr>
              <a:t>the table-level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UNIQUE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constraint spans </a:t>
            </a:r>
            <a:r>
              <a:rPr sz="1800" b="1" i="0">
                <a:solidFill>
                  <a:srgbClr val="000000"/>
                </a:solidFill>
                <a:latin typeface="Arial"/>
              </a:rPr>
              <a:t>two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columns: one owner may not have two playlists with the same name, but two owners may.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2.1 CREATING AND UPDATING TABLES  ·  DDL — DATA DEFINITION LANGUAGE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CREATE</a:t>
            </a:r>
          </a:p>
        </p:txBody>
      </p:sp>
      <p:sp>
        <p:nvSpPr>
          <p:cNvPr id="14" name="Lead"/>
          <p:cNvSpPr txBox="1"/>
          <p:nvPr/>
        </p:nvSpPr>
        <p:spPr>
          <a:xfrm>
            <a:off x="1005840" y="1367028"/>
            <a:ext cx="10332720" cy="17221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marL="274320">
              <a:spcBef>
                <a:spcPts val="600"/>
              </a:spcBef>
              <a:spcAft>
                <a:spcPts val="720"/>
              </a:spcAft>
            </a:pPr>
            <a:r>
              <a:rPr sz="1500" b="0" i="0">
                <a:solidFill>
                  <a:srgbClr val="007C85"/>
                </a:solidFill>
                <a:latin typeface="Arial"/>
              </a:rPr>
              <a:t>💡 DDL syntax differs considerably between DBMSs — ClickHouse, for example, additionally requires a table engine, a sort key and </a:t>
            </a:r>
            <a:r>
              <a:rPr sz="1425" b="0" i="0">
                <a:solidFill>
                  <a:srgbClr val="007C85"/>
                </a:solidFill>
                <a:latin typeface="Consolas"/>
              </a:rPr>
              <a:t>ON CLUSTER</a:t>
            </a:r>
            <a:r>
              <a:rPr sz="1500" b="0" i="0">
                <a:solidFill>
                  <a:srgbClr val="007C85"/>
                </a:solidFill>
                <a:latin typeface="Arial"/>
              </a:rPr>
              <a:t> for a distributed rollout. Always consult the documentation of the system you are working with. Everything in this course is PostgreSQL.</a:t>
            </a:r>
          </a:p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Now the table that connects playlists to the catalogue — a bridge table, exactly like </a:t>
            </a:r>
            <a:r>
              <a:rPr sz="1520" b="0" i="0">
                <a:solidFill>
                  <a:srgbClr val="007C85"/>
                </a:solidFill>
                <a:latin typeface="Consolas"/>
              </a:rPr>
              <a:t>track_artists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from Lecture 1:</a:t>
            </a:r>
          </a:p>
        </p:txBody>
      </p:sp>
      <p:pic>
        <p:nvPicPr>
          <p:cNvPr id="15" name="Picture 14" descr="CREATE TABLE playlist_tracks (&#10;    playlist_id INT       NOT NULL REFERENCES playlists(id) ON DELETE CASCADE,&#10;    track_id    TEXT      NOT NULL REFERENCES tracks(id),&#10;    position    SMALLINT  NOT NULL,&#10;    added_at    TIMESTAMP NOT NULL DEFAULT now(),&#10;    PRIMARY KEY (playlist_id, track_id)&#10;);&#10;&#10;SELECT count(*) AS rows_so_far FROM playlist_tracks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80588"/>
            <a:ext cx="8988221" cy="2664098"/>
          </a:xfrm>
          <a:prstGeom prst="rect">
            <a:avLst/>
          </a:prstGeom>
        </p:spPr>
      </p:pic>
      <p:pic>
        <p:nvPicPr>
          <p:cNvPr id="16" name="Picture 15" descr="CREATE TABLE playlist_tracks (&#10;    playlist_id INT       NOT NULL REFERENCES playlists(id) ON DELETE CASCADE,&#10;    track_id    TEXT      NOT NULL REFERENCES tracks(id),&#10;    position    SMALLINT  NOT NULL,&#10;    added_at    TIMESTAMP NOT NULL DEFAULT now(),&#10;    PRIMARY KEY (playlist_id, track_id)&#10;);&#10;&#10;SELECT count(*) AS rows_so_far FROM playlist_tracks;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2661" y="3180588"/>
            <a:ext cx="1145313" cy="82993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close-up of a bunch of paint brushes&#10;&#10;AI-generated content may be incorrect.">
            <a:extLst>
              <a:ext uri="{FF2B5EF4-FFF2-40B4-BE49-F238E27FC236}">
                <a16:creationId xmlns:a16="http://schemas.microsoft.com/office/drawing/2014/main" id="{34B42168-D1AC-F5B4-26AE-D6D4372602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603504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2.1 CREATING AND UPDATING TABLES  ·  DDL — DATA DEFINITION LANGUAGE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603504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CREATE</a:t>
            </a:r>
          </a:p>
        </p:txBody>
      </p:sp>
      <p:sp>
        <p:nvSpPr>
          <p:cNvPr id="14" name="Body"/>
          <p:cNvSpPr txBox="1"/>
          <p:nvPr/>
        </p:nvSpPr>
        <p:spPr>
          <a:xfrm>
            <a:off x="1005840" y="2057400"/>
            <a:ext cx="6766560" cy="42976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709" b="1" i="0">
                <a:solidFill>
                  <a:srgbClr val="007C85"/>
                </a:solidFill>
                <a:latin typeface="Consolas"/>
              </a:rPr>
              <a:t>PRIMARY KEY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uniquely identifies a row; there is exactly one per table, and it is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NOT NULL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by definition. Here it spans two columns — the same track cannot be added to the same playlist twice.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709" b="1" i="0">
                <a:solidFill>
                  <a:srgbClr val="007C85"/>
                </a:solidFill>
                <a:latin typeface="Consolas"/>
              </a:rPr>
              <a:t>REFERENCES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(a foreign key) guarantees that the value exists in the referenced table — this is the "Consistency" of ACID being enforced for you.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709" b="1" i="0">
                <a:solidFill>
                  <a:srgbClr val="007C85"/>
                </a:solidFill>
                <a:latin typeface="Consolas"/>
              </a:rPr>
              <a:t>ON DELETE CASCADE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says what to do when the parent goes: delete a playlist and its entries go with it. Without it, PostgreSQL would refuse the delete.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709" b="1" i="0">
                <a:solidFill>
                  <a:srgbClr val="007C85"/>
                </a:solidFill>
                <a:latin typeface="Consolas"/>
              </a:rPr>
              <a:t>UNIQUE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forbids repeated values.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709" b="1" i="0">
                <a:solidFill>
                  <a:srgbClr val="007C85"/>
                </a:solidFill>
                <a:latin typeface="Consolas"/>
              </a:rPr>
              <a:t>DEFAULT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supplies a value when the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INSERT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does not.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2.1 CREATING AND UPDATING TABLES  ·  DDL — DATA DEFINITION LANGUAGE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CREATE</a:t>
            </a:r>
          </a:p>
        </p:txBody>
      </p:sp>
      <p:sp>
        <p:nvSpPr>
          <p:cNvPr id="14" name="Lead"/>
          <p:cNvSpPr txBox="1"/>
          <p:nvPr/>
        </p:nvSpPr>
        <p:spPr>
          <a:xfrm>
            <a:off x="1005840" y="1367028"/>
            <a:ext cx="10332720" cy="4267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The foreign key is not decoration. Try to add a track that does not exist and the database refuses:</a:t>
            </a:r>
          </a:p>
        </p:txBody>
      </p:sp>
      <p:pic>
        <p:nvPicPr>
          <p:cNvPr id="15" name="Picture 14" descr="INSERT INTO playlist_tracks (playlist_id, track_id, position)&#10;VALUES (1, 'no-such-track-id', 1);&#10;-- ERROR:  insert or update on table &quot;playlist_tracks&quot; violates foreign key&#10;--         constraint &quot;playlist_tracks_track_id_fkey&quot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885187"/>
            <a:ext cx="9934575" cy="15430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2.1 CREATING AND UPDATING TABLES  ·  DDL — DATA DEFINITION LANGUAGE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ALTER</a:t>
            </a:r>
          </a:p>
        </p:txBody>
      </p:sp>
      <p:sp>
        <p:nvSpPr>
          <p:cNvPr id="14" name="Lead"/>
          <p:cNvSpPr txBox="1"/>
          <p:nvPr/>
        </p:nvSpPr>
        <p:spPr>
          <a:xfrm>
            <a:off x="1005840" y="1367028"/>
            <a:ext cx="10332720" cy="7620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520" b="0" i="0">
                <a:solidFill>
                  <a:srgbClr val="007C85"/>
                </a:solidFill>
                <a:latin typeface="Consolas"/>
              </a:rPr>
              <a:t>ALTER TABLE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renames tables and adds, modifies and removes fields.</a:t>
            </a:r>
          </a:p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Renaming a table:</a:t>
            </a:r>
          </a:p>
        </p:txBody>
      </p:sp>
      <p:pic>
        <p:nvPicPr>
          <p:cNvPr id="15" name="Picture 14" descr="ALTER TABLE playlists RENAME TO user_playlists;&#10;&#10;SELECT id, name, owner FROM user_playlists ORDER BY id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220468"/>
            <a:ext cx="7419975" cy="1238250"/>
          </a:xfrm>
          <a:prstGeom prst="rect">
            <a:avLst/>
          </a:prstGeom>
        </p:spPr>
      </p:pic>
      <p:pic>
        <p:nvPicPr>
          <p:cNvPr id="16" name="Picture 15" descr="ALTER TABLE playlists RENAME TO user_playlists;&#10;&#10;SELECT id, name, owner FROM user_playlists ORDER BY id;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687318"/>
            <a:ext cx="2695575" cy="1676400"/>
          </a:xfrm>
          <a:prstGeom prst="rect">
            <a:avLst/>
          </a:prstGeom>
        </p:spPr>
      </p:pic>
      <p:sp>
        <p:nvSpPr>
          <p:cNvPr id="17" name="Note"/>
          <p:cNvSpPr txBox="1"/>
          <p:nvPr/>
        </p:nvSpPr>
        <p:spPr>
          <a:xfrm>
            <a:off x="1005840" y="5592317"/>
            <a:ext cx="10332720" cy="6705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Renaming is usually fast: no new table is created and no data is copied — one name is simply replaced by another in the DBMS's catalogue.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2.1 CREATING AND UPDATING TABLES  ·  DDL — DATA DEFINITION LANGUAGE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ALTER</a:t>
            </a:r>
          </a:p>
        </p:txBody>
      </p:sp>
      <p:pic>
        <p:nvPicPr>
          <p:cNvPr id="14" name="Picture 13" descr="-- put the name back, so the rest of the lecture keeps working&#10;ALTER TABLE user_playlists RENAME TO playlists;&#10;&#10;SELECT count(*) AS playlists FROM playlists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367028"/>
            <a:ext cx="8296274" cy="1543050"/>
          </a:xfrm>
          <a:prstGeom prst="rect">
            <a:avLst/>
          </a:prstGeom>
        </p:spPr>
      </p:pic>
      <p:pic>
        <p:nvPicPr>
          <p:cNvPr id="15" name="Picture 14" descr="-- put the name back, so the rest of the lecture keeps working&#10;ALTER TABLE user_playlists RENAME TO playlists;&#10;&#10;SELECT count(*) AS playlists FROM playlists;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138678"/>
            <a:ext cx="97155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2.1 CREATING AND UPDATING TABLES  ·  DDL — DATA DEFINITION LANGUAGE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ALTER</a:t>
            </a:r>
          </a:p>
        </p:txBody>
      </p:sp>
      <p:sp>
        <p:nvSpPr>
          <p:cNvPr id="14" name="Lead"/>
          <p:cNvSpPr txBox="1"/>
          <p:nvPr/>
        </p:nvSpPr>
        <p:spPr>
          <a:xfrm>
            <a:off x="1005840" y="1367028"/>
            <a:ext cx="10332720" cy="4267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Adding a new field. In all existing rows the new field takes the value </a:t>
            </a:r>
            <a:r>
              <a:rPr sz="1520" b="0" i="0">
                <a:solidFill>
                  <a:srgbClr val="007C85"/>
                </a:solidFill>
                <a:latin typeface="Consolas"/>
              </a:rPr>
              <a:t>NULL</a:t>
            </a:r>
            <a:r>
              <a:rPr sz="1600" b="0" i="0">
                <a:solidFill>
                  <a:srgbClr val="000000"/>
                </a:solidFill>
                <a:latin typeface="Arial"/>
              </a:rPr>
              <a:t>:</a:t>
            </a:r>
          </a:p>
        </p:txBody>
      </p:sp>
      <p:pic>
        <p:nvPicPr>
          <p:cNvPr id="15" name="Picture 14" descr="ALTER TABLE playlists ADD COLUMN description text;&#10;&#10;SELECT id, name, description FROM playlists ORDER BY id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885187"/>
            <a:ext cx="7543800" cy="1238250"/>
          </a:xfrm>
          <a:prstGeom prst="rect">
            <a:avLst/>
          </a:prstGeom>
        </p:spPr>
      </p:pic>
      <p:pic>
        <p:nvPicPr>
          <p:cNvPr id="16" name="Picture 15" descr="ALTER TABLE playlists ADD COLUMN description text;&#10;&#10;SELECT id, name, description FROM playlists ORDER BY id;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352038"/>
            <a:ext cx="3143250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2.1 CREATING AND UPDATING TABLES  ·  DDL — DATA DEFINITION LANGUAGE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ALTER</a:t>
            </a:r>
          </a:p>
        </p:txBody>
      </p:sp>
      <p:sp>
        <p:nvSpPr>
          <p:cNvPr id="14" name="Lead"/>
          <p:cNvSpPr txBox="1"/>
          <p:nvPr/>
        </p:nvSpPr>
        <p:spPr>
          <a:xfrm>
            <a:off x="1005840" y="1367028"/>
            <a:ext cx="10332720" cy="4267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Renaming a field:</a:t>
            </a:r>
          </a:p>
        </p:txBody>
      </p:sp>
      <p:pic>
        <p:nvPicPr>
          <p:cNvPr id="15" name="Picture 14" descr="ALTER TABLE playlists RENAME COLUMN description TO blurb;&#10;&#10;SELECT id, name, blurb FROM playlists ORDER BY id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885187"/>
            <a:ext cx="7667624" cy="1238250"/>
          </a:xfrm>
          <a:prstGeom prst="rect">
            <a:avLst/>
          </a:prstGeom>
        </p:spPr>
      </p:pic>
      <p:pic>
        <p:nvPicPr>
          <p:cNvPr id="16" name="Picture 15" descr="ALTER TABLE playlists RENAME COLUMN description TO blurb;&#10;&#10;SELECT id, name, blurb FROM playlists ORDER BY id;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352038"/>
            <a:ext cx="2628900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2.1 CREATING AND UPDATING TABLES  ·  DDL — DATA DEFINITION LANGUAGE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ALTER</a:t>
            </a:r>
          </a:p>
        </p:txBody>
      </p:sp>
      <p:sp>
        <p:nvSpPr>
          <p:cNvPr id="14" name="Lead"/>
          <p:cNvSpPr txBox="1"/>
          <p:nvPr/>
        </p:nvSpPr>
        <p:spPr>
          <a:xfrm>
            <a:off x="1005840" y="1367028"/>
            <a:ext cx="10332720" cy="4267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Setting a default value for a field:</a:t>
            </a:r>
          </a:p>
        </p:txBody>
      </p:sp>
      <p:pic>
        <p:nvPicPr>
          <p:cNvPr id="15" name="Picture 14" descr="ALTER TABLE playlists ALTER COLUMN blurb SET DEFAULT '(no description)';&#10;&#10;INSERT INTO playlists (name, owner) VALUES ('Added Later', 'denis');&#10;&#10;SELECT id, name, blurb FROM playlists ORDER BY id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885187"/>
            <a:ext cx="9563100" cy="1838324"/>
          </a:xfrm>
          <a:prstGeom prst="rect">
            <a:avLst/>
          </a:prstGeom>
        </p:spPr>
      </p:pic>
      <p:pic>
        <p:nvPicPr>
          <p:cNvPr id="16" name="Picture 15" descr="ALTER TABLE playlists ALTER COLUMN blurb SET DEFAULT '(no description)';&#10;&#10;INSERT INTO playlists (name, owner) VALUES ('Added Later', 'denis');&#10;&#10;SELECT id, name, blurb FROM playlists ORDER BY id;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952113"/>
            <a:ext cx="3409950" cy="202882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2.1 CREATING AND UPDATING TABLES  ·  DDL — DATA DEFINITION LANGUAGE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ALTER</a:t>
            </a:r>
          </a:p>
        </p:txBody>
      </p:sp>
      <p:sp>
        <p:nvSpPr>
          <p:cNvPr id="14" name="Lead"/>
          <p:cNvSpPr txBox="1"/>
          <p:nvPr/>
        </p:nvSpPr>
        <p:spPr>
          <a:xfrm>
            <a:off x="1005840" y="1367028"/>
            <a:ext cx="10332720" cy="123444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marL="274320">
              <a:spcBef>
                <a:spcPts val="600"/>
              </a:spcBef>
              <a:spcAft>
                <a:spcPts val="720"/>
              </a:spcAft>
            </a:pPr>
            <a:r>
              <a:rPr sz="1500" b="0" i="0">
                <a:solidFill>
                  <a:srgbClr val="007C85"/>
                </a:solidFill>
                <a:latin typeface="Arial"/>
              </a:rPr>
              <a:t>💡 The default value applies only to new rows. Rows added earlier keep their </a:t>
            </a:r>
            <a:r>
              <a:rPr sz="1425" b="0" i="0">
                <a:solidFill>
                  <a:srgbClr val="007C85"/>
                </a:solidFill>
                <a:latin typeface="Consolas"/>
              </a:rPr>
              <a:t>NULL</a:t>
            </a:r>
            <a:r>
              <a:rPr sz="1500" b="0" i="0">
                <a:solidFill>
                  <a:srgbClr val="007C85"/>
                </a:solidFill>
                <a:latin typeface="Arial"/>
              </a:rPr>
              <a:t> — look at the first three rows above.</a:t>
            </a:r>
          </a:p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Changing a column's type. </a:t>
            </a:r>
            <a:r>
              <a:rPr sz="1520" b="0" i="0">
                <a:solidFill>
                  <a:srgbClr val="007C85"/>
                </a:solidFill>
                <a:latin typeface="Consolas"/>
              </a:rPr>
              <a:t>USING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tells PostgreSQL how to convert the existing values:</a:t>
            </a:r>
          </a:p>
        </p:txBody>
      </p:sp>
      <p:pic>
        <p:nvPicPr>
          <p:cNvPr id="15" name="Picture 14" descr="ALTER TABLE playlists ADD COLUMN rating SMALLINT;&#10;&#10;ALTER TABLE playlists&#10;ALTER COLUMN rating TYPE NUMERIC(3,1)&#10;USING rating::numeric;&#10;&#10;SELECT column_name, data_type, numeric_precision, numeric_scale&#10;  FROM information_schema.columns&#10; WHERE table_name = 'playlists' AND column_name = 'rating'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692908"/>
            <a:ext cx="7510511" cy="2724151"/>
          </a:xfrm>
          <a:prstGeom prst="rect">
            <a:avLst/>
          </a:prstGeom>
        </p:spPr>
      </p:pic>
      <p:pic>
        <p:nvPicPr>
          <p:cNvPr id="16" name="Picture 15" descr="ALTER TABLE playlists ADD COLUMN rating SMALLINT;&#10;&#10;ALTER TABLE playlists&#10;ALTER COLUMN rating TYPE NUMERIC(3,1)&#10;USING rating::numeric;&#10;&#10;SELECT column_name, data_type, numeric_precision, numeric_scale&#10;  FROM information_schema.columns&#10; WHERE table_name = 'playlists' AND column_name = 'rating';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645659"/>
            <a:ext cx="5219169" cy="84864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close-up of a bunch of paint brushes&#10;&#10;AI-generated content may be incorrect.">
            <a:extLst>
              <a:ext uri="{FF2B5EF4-FFF2-40B4-BE49-F238E27FC236}">
                <a16:creationId xmlns:a16="http://schemas.microsoft.com/office/drawing/2014/main" id="{34B42168-D1AC-F5B4-26AE-D6D4372602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603504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2.1 CREATING AND UPDATING TABLES  ·  DDL — DATA DEFINITION LANGUAGE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603504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ALTER</a:t>
            </a:r>
          </a:p>
        </p:txBody>
      </p:sp>
      <p:sp>
        <p:nvSpPr>
          <p:cNvPr id="14" name="Body"/>
          <p:cNvSpPr txBox="1"/>
          <p:nvPr/>
        </p:nvSpPr>
        <p:spPr>
          <a:xfrm>
            <a:off x="1005840" y="2057400"/>
            <a:ext cx="6766560" cy="42976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810"/>
              </a:spcAft>
            </a:pPr>
            <a:r>
              <a:rPr sz="1709" b="0" i="0">
                <a:solidFill>
                  <a:srgbClr val="007C85"/>
                </a:solidFill>
                <a:latin typeface="Consolas"/>
              </a:rPr>
              <a:t>information_schema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is how you ask PostgreSQL about its own structure — useful whenever you are not sure what a table actually looks like.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2.1 CREATING AND UPDATING TABLES  ·  DDL — DATA DEFINITION LANGUAGE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TRUNCATE</a:t>
            </a:r>
          </a:p>
        </p:txBody>
      </p:sp>
      <p:sp>
        <p:nvSpPr>
          <p:cNvPr id="14" name="Lead"/>
          <p:cNvSpPr txBox="1"/>
          <p:nvPr/>
        </p:nvSpPr>
        <p:spPr>
          <a:xfrm>
            <a:off x="1005840" y="1367028"/>
            <a:ext cx="10332720" cy="6705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520" b="0" i="0">
                <a:solidFill>
                  <a:srgbClr val="007C85"/>
                </a:solidFill>
                <a:latin typeface="Consolas"/>
              </a:rPr>
              <a:t>TRUNCATE TABLE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removes all rows very quickly — much faster than </a:t>
            </a:r>
            <a:r>
              <a:rPr sz="1520" b="0" i="0">
                <a:solidFill>
                  <a:srgbClr val="007C85"/>
                </a:solidFill>
                <a:latin typeface="Consolas"/>
              </a:rPr>
              <a:t>DELETE FROM table</a:t>
            </a:r>
            <a:r>
              <a:rPr sz="1600" b="0" i="0">
                <a:solidFill>
                  <a:srgbClr val="000000"/>
                </a:solidFill>
                <a:latin typeface="Arial"/>
              </a:rPr>
              <a:t>, because it does not delete rows one by one. The table structure stays in place.</a:t>
            </a:r>
          </a:p>
        </p:txBody>
      </p:sp>
      <p:pic>
        <p:nvPicPr>
          <p:cNvPr id="15" name="Picture 14" descr="CREATE TABLE playlists_copy AS SELECT * FROM playlists;&#10;&#10;SELECT count(*) AS before_truncate FROM playlists_copy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129028"/>
            <a:ext cx="7419975" cy="1238250"/>
          </a:xfrm>
          <a:prstGeom prst="rect">
            <a:avLst/>
          </a:prstGeom>
        </p:spPr>
      </p:pic>
      <p:pic>
        <p:nvPicPr>
          <p:cNvPr id="16" name="Picture 15" descr="CREATE TABLE playlists_copy AS SELECT * FROM playlists;&#10;&#10;SELECT count(*) AS before_truncate FROM playlists_copy;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595878"/>
            <a:ext cx="161925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2.1 CREATING AND UPDATING TABLES  ·  DDL — DATA DEFINITION LANGUAGE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TRUNCATE</a:t>
            </a:r>
          </a:p>
        </p:txBody>
      </p:sp>
      <p:pic>
        <p:nvPicPr>
          <p:cNvPr id="14" name="Picture 13" descr="TRUNCATE TABLE playlists_copy;&#10;&#10;SELECT count(*) AS after_truncate FROM playlists_copy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367028"/>
            <a:ext cx="7286625" cy="1238250"/>
          </a:xfrm>
          <a:prstGeom prst="rect">
            <a:avLst/>
          </a:prstGeom>
        </p:spPr>
      </p:pic>
      <p:pic>
        <p:nvPicPr>
          <p:cNvPr id="15" name="Picture 14" descr="TRUNCATE TABLE playlists_copy;&#10;&#10;SELECT count(*) AS after_truncate FROM playlists_copy;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833878"/>
            <a:ext cx="1457325" cy="952500"/>
          </a:xfrm>
          <a:prstGeom prst="rect">
            <a:avLst/>
          </a:prstGeom>
        </p:spPr>
      </p:pic>
      <p:sp>
        <p:nvSpPr>
          <p:cNvPr id="16" name="Note"/>
          <p:cNvSpPr txBox="1"/>
          <p:nvPr/>
        </p:nvSpPr>
        <p:spPr>
          <a:xfrm>
            <a:off x="1005840" y="4014978"/>
            <a:ext cx="10332720" cy="6705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520" b="0" i="0">
                <a:solidFill>
                  <a:srgbClr val="007C85"/>
                </a:solidFill>
                <a:latin typeface="Consolas"/>
              </a:rPr>
              <a:t>CREATE TABLE … AS SELECT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above is worth noting in its own right: it creates a table and fills it from a query in one statement, inferring the column types.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2.1 CREATING AND UPDATING TABLES  ·  DDL — DATA DEFINITION LANGUAGE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DROP</a:t>
            </a:r>
          </a:p>
        </p:txBody>
      </p:sp>
      <p:sp>
        <p:nvSpPr>
          <p:cNvPr id="14" name="Lead"/>
          <p:cNvSpPr txBox="1"/>
          <p:nvPr/>
        </p:nvSpPr>
        <p:spPr>
          <a:xfrm>
            <a:off x="1005840" y="1367028"/>
            <a:ext cx="10332720" cy="4267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Dropping a column:</a:t>
            </a:r>
          </a:p>
        </p:txBody>
      </p:sp>
      <p:pic>
        <p:nvPicPr>
          <p:cNvPr id="15" name="Picture 14" descr="ALTER TABLE playlists DROP COLUMN rating;&#10;&#10;SELECT column_name&#10;  FROM information_schema.columns&#10; WHERE table_name = 'playlists'&#10; ORDER BY ordinal_position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885187"/>
            <a:ext cx="5648325" cy="2143125"/>
          </a:xfrm>
          <a:prstGeom prst="rect">
            <a:avLst/>
          </a:prstGeom>
        </p:spPr>
      </p:pic>
      <p:pic>
        <p:nvPicPr>
          <p:cNvPr id="16" name="Picture 15" descr="ALTER TABLE playlists DROP COLUMN rating;&#10;&#10;SELECT column_name&#10;  FROM information_schema.columns&#10; WHERE table_name = 'playlists'&#10; ORDER BY ordinal_position;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2765" y="1885187"/>
            <a:ext cx="1466850" cy="275272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2.1 CREATING AND UPDATING TABLES  ·  DDL — DATA DEFINITION LANGUAGE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DROP</a:t>
            </a:r>
          </a:p>
        </p:txBody>
      </p:sp>
      <p:sp>
        <p:nvSpPr>
          <p:cNvPr id="14" name="Lead"/>
          <p:cNvSpPr txBox="1"/>
          <p:nvPr/>
        </p:nvSpPr>
        <p:spPr>
          <a:xfrm>
            <a:off x="1005840" y="1367028"/>
            <a:ext cx="10332720" cy="4267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Dropping a table:</a:t>
            </a:r>
          </a:p>
        </p:txBody>
      </p:sp>
      <p:pic>
        <p:nvPicPr>
          <p:cNvPr id="15" name="Picture 14" descr="DROP TABLE playlists_copy;&#10;&#10;SELECT count(*) AS matching_tables&#10;  FROM information_schema.tables&#10; WHERE table_name = 'playlists_copy'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885187"/>
            <a:ext cx="5143500" cy="1838324"/>
          </a:xfrm>
          <a:prstGeom prst="rect">
            <a:avLst/>
          </a:prstGeom>
        </p:spPr>
      </p:pic>
      <p:pic>
        <p:nvPicPr>
          <p:cNvPr id="16" name="Picture 15" descr="DROP TABLE playlists_copy;&#10;&#10;SELECT count(*) AS matching_tables&#10;  FROM information_schema.tables&#10; WHERE table_name = 'playlists_copy';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952113"/>
            <a:ext cx="1676400" cy="952500"/>
          </a:xfrm>
          <a:prstGeom prst="rect">
            <a:avLst/>
          </a:prstGeom>
        </p:spPr>
      </p:pic>
      <p:sp>
        <p:nvSpPr>
          <p:cNvPr id="17" name="Note"/>
          <p:cNvSpPr txBox="1"/>
          <p:nvPr/>
        </p:nvSpPr>
        <p:spPr>
          <a:xfrm>
            <a:off x="1005840" y="5133213"/>
            <a:ext cx="10332720" cy="11430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marL="274320">
              <a:spcBef>
                <a:spcPts val="600"/>
              </a:spcBef>
              <a:spcAft>
                <a:spcPts val="720"/>
              </a:spcAft>
            </a:pPr>
            <a:r>
              <a:rPr sz="1500" b="0" i="0">
                <a:solidFill>
                  <a:srgbClr val="007C85"/>
                </a:solidFill>
                <a:latin typeface="Arial"/>
              </a:rPr>
              <a:t>💡 Be careful with dropping a table — restoring it from a backup will be very hard. </a:t>
            </a:r>
            <a:r>
              <a:rPr sz="1425" b="0" i="0">
                <a:solidFill>
                  <a:srgbClr val="007C85"/>
                </a:solidFill>
                <a:latin typeface="Consolas"/>
              </a:rPr>
              <a:t>DROP TABLE IF EXISTS</a:t>
            </a:r>
            <a:r>
              <a:rPr sz="1500" b="0" i="0">
                <a:solidFill>
                  <a:srgbClr val="007C85"/>
                </a:solidFill>
                <a:latin typeface="Arial"/>
              </a:rPr>
              <a:t> avoids an error when the table may not be there, which is what you want in a script; it does not make the drop any less permanent.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2.1 CREATING AND UPDATING TABLES  ·  DML — DATA MANIPULATION LANGUAGE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INSERT</a:t>
            </a:r>
          </a:p>
        </p:txBody>
      </p:sp>
      <p:sp>
        <p:nvSpPr>
          <p:cNvPr id="14" name="Lead"/>
          <p:cNvSpPr txBox="1"/>
          <p:nvPr/>
        </p:nvSpPr>
        <p:spPr>
          <a:xfrm>
            <a:off x="1005840" y="1367028"/>
            <a:ext cx="10332720" cy="4267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Adding records from literal values — we did this above:</a:t>
            </a:r>
          </a:p>
        </p:txBody>
      </p:sp>
      <p:pic>
        <p:nvPicPr>
          <p:cNvPr id="15" name="Picture 14" descr="INSERT INTO playlists (name, owner) VALUES&#10;    ('Late Night Drive', 'denis'),&#10;    ('Loud and Fast',    'denis')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885187"/>
            <a:ext cx="5772150" cy="12382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2.1 CREATING AND UPDATING TABLES  ·  DML — DATA MANIPULATION LANGUAGE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INSERT</a:t>
            </a:r>
          </a:p>
        </p:txBody>
      </p:sp>
      <p:sp>
        <p:nvSpPr>
          <p:cNvPr id="14" name="Lead"/>
          <p:cNvSpPr txBox="1"/>
          <p:nvPr/>
        </p:nvSpPr>
        <p:spPr>
          <a:xfrm>
            <a:off x="1005840" y="1367028"/>
            <a:ext cx="10332720" cy="6705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Adding rows </a:t>
            </a:r>
            <a:r>
              <a:rPr sz="1600" b="1" i="0">
                <a:solidFill>
                  <a:srgbClr val="000000"/>
                </a:solidFill>
                <a:latin typeface="Arial"/>
              </a:rPr>
              <a:t>from a query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is where it gets interesting. Filling a playlist from the catalogue — energetic tracks at a running tempo, most popular first:</a:t>
            </a:r>
          </a:p>
        </p:txBody>
      </p:sp>
      <p:pic>
        <p:nvPicPr>
          <p:cNvPr id="15" name="Picture 14" descr="INSERT INTO playlist_tracks (playlist_id, track_id, position)&#10;SELECT 1,&#10;       t.id,&#10;       ROW_NUMBER() OVER (ORDER BY t.popularity DESC, t.name)&#10;  FROM tracks AS t&#10; WHERE t.tempo BETWEEN 150 AND 170&#10;   AND t.energy &gt; 0.8&#10;   AND t.popularity &gt; 60&#10; ORDER BY t.popularity DESC, t.name&#10; LIMIT 10;&#10;&#10;SELECT pt.position, t.name, t.popularity, round(t.tempo::numeric, 0) AS bpm&#10;  FROM playlist_tracks AS pt&#10;  JOIN tracks AS t ON t.id = pt.track_id&#10; WHERE pt.playlist_id = 1&#10; ORDER BY pt.position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129028"/>
            <a:ext cx="8329646" cy="434035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2.1 CREATING AND UPDATING TABLES  ·  DML — DATA MANIPULATION LANGUAGE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INSERT</a:t>
            </a:r>
          </a:p>
        </p:txBody>
      </p:sp>
      <p:pic>
        <p:nvPicPr>
          <p:cNvPr id="14" name="Picture 13" descr="INSERT INTO playlist_tracks (playlist_id, track_id, position)&#10;SELECT 1,&#10;       t.id,&#10;       ROW_NUMBER() OVER (ORDER BY t.popularity DESC, t.name)&#10;  FROM tracks AS t&#10; WHERE t.tempo BETWEEN 150 AND 170&#10;   AND t.energy &gt; 0.8&#10;   AND t.popularity &gt; 60&#10; ORDER BY t.popularity DESC, t.name&#10; LIMIT 10;&#10;&#10;SELECT pt.position, t.name, t.popularity, round(t.tempo::numeric, 0) AS bpm&#10;  FROM playlist_tracks AS pt&#10;  JOIN tracks AS t ON t.id = pt.track_id&#10; WHERE pt.playlist_id = 1&#10; ORDER BY pt.position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367028"/>
            <a:ext cx="5953125" cy="4190999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2.1 CREATING AND UPDATING TABLES  ·  DML — DATA MANIPULATION LANGUAGE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INSERT</a:t>
            </a:r>
          </a:p>
        </p:txBody>
      </p:sp>
      <p:sp>
        <p:nvSpPr>
          <p:cNvPr id="14" name="Lead"/>
          <p:cNvSpPr txBox="1"/>
          <p:nvPr/>
        </p:nvSpPr>
        <p:spPr>
          <a:xfrm>
            <a:off x="1005840" y="1367028"/>
            <a:ext cx="10332720" cy="14935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The fields selected in </a:t>
            </a:r>
            <a:r>
              <a:rPr sz="1520" b="0" i="0">
                <a:solidFill>
                  <a:srgbClr val="007C85"/>
                </a:solidFill>
                <a:latin typeface="Consolas"/>
              </a:rPr>
              <a:t>SELECT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must match, in order and in type, the fields listed for the target table. If a field has no source, put something explicit — a constant, or </a:t>
            </a:r>
            <a:r>
              <a:rPr sz="1520" b="0" i="0">
                <a:solidFill>
                  <a:srgbClr val="007C85"/>
                </a:solidFill>
                <a:latin typeface="Consolas"/>
              </a:rPr>
              <a:t>NULL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— in its place, as we did with the literal </a:t>
            </a:r>
            <a:r>
              <a:rPr sz="1520" b="0" i="0">
                <a:solidFill>
                  <a:srgbClr val="007C85"/>
                </a:solidFill>
                <a:latin typeface="Consolas"/>
              </a:rPr>
              <a:t>1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for </a:t>
            </a:r>
            <a:r>
              <a:rPr sz="1520" b="0" i="0">
                <a:solidFill>
                  <a:srgbClr val="007C85"/>
                </a:solidFill>
                <a:latin typeface="Consolas"/>
              </a:rPr>
              <a:t>playlist_id</a:t>
            </a:r>
            <a:r>
              <a:rPr sz="1600" b="0" i="0">
                <a:solidFill>
                  <a:srgbClr val="000000"/>
                </a:solidFill>
                <a:latin typeface="Arial"/>
              </a:rPr>
              <a:t>.</a:t>
            </a:r>
          </a:p>
          <a:p>
            <a:pPr>
              <a:spcAft>
                <a:spcPts val="720"/>
              </a:spcAft>
            </a:pPr>
            <a:r>
              <a:rPr sz="1520" b="1" i="0">
                <a:solidFill>
                  <a:srgbClr val="007C85"/>
                </a:solidFill>
                <a:latin typeface="Consolas"/>
              </a:rPr>
              <a:t>ON CONFLICT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handles the case where the row is already there. Without it, re-running the insert above would fail on the primary key:</a:t>
            </a:r>
          </a:p>
        </p:txBody>
      </p:sp>
      <p:pic>
        <p:nvPicPr>
          <p:cNvPr id="15" name="Picture 14" descr="INSERT INTO playlists (id, name, owner)&#10;VALUES (1, 'Late Night Drive (renamed)', 'denis')&#10;ON CONFLICT (id) DO UPDATE&#10;   SET name = EXCLUDED.name;&#10;&#10;SELECT id, name, owner FROM playlists ORDER BY id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951988"/>
            <a:ext cx="6615914" cy="2090703"/>
          </a:xfrm>
          <a:prstGeom prst="rect">
            <a:avLst/>
          </a:prstGeom>
        </p:spPr>
      </p:pic>
      <p:pic>
        <p:nvPicPr>
          <p:cNvPr id="16" name="Picture 15" descr="INSERT INTO playlists (id, name, owner)&#10;VALUES (1, 'Late Night Drive (renamed)', 'denis')&#10;ON CONFLICT (id) DO UPDATE&#10;   SET name = EXCLUDED.name;&#10;&#10;SELECT id, name, owner FROM playlists ORDER BY id;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0354" y="2951988"/>
            <a:ext cx="3493797" cy="1979199"/>
          </a:xfrm>
          <a:prstGeom prst="rect">
            <a:avLst/>
          </a:prstGeom>
        </p:spPr>
      </p:pic>
      <p:sp>
        <p:nvSpPr>
          <p:cNvPr id="17" name="Note"/>
          <p:cNvSpPr txBox="1"/>
          <p:nvPr/>
        </p:nvSpPr>
        <p:spPr>
          <a:xfrm>
            <a:off x="1005840" y="5271291"/>
            <a:ext cx="10332720" cy="6705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520" b="0" i="0">
                <a:solidFill>
                  <a:srgbClr val="007C85"/>
                </a:solidFill>
                <a:latin typeface="Consolas"/>
              </a:rPr>
              <a:t>EXCLUDED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is the row that </a:t>
            </a:r>
            <a:r>
              <a:rPr sz="1600" b="0" i="1">
                <a:solidFill>
                  <a:srgbClr val="000000"/>
                </a:solidFill>
                <a:latin typeface="Arial"/>
              </a:rPr>
              <a:t>would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have been inserted. This "insert, or update if it exists" pattern is called an </a:t>
            </a:r>
            <a:r>
              <a:rPr sz="1600" b="1" i="0">
                <a:solidFill>
                  <a:srgbClr val="000000"/>
                </a:solidFill>
                <a:latin typeface="Arial"/>
              </a:rPr>
              <a:t>upsert</a:t>
            </a:r>
            <a:r>
              <a:rPr sz="1600" b="0" i="0">
                <a:solidFill>
                  <a:srgbClr val="000000"/>
                </a:solidFill>
                <a:latin typeface="Arial"/>
              </a:rPr>
              <a:t>, and it is everywhere in data loading.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2.1 CREATING AND UPDATING TABLES  ·  DML — DATA MANIPULATION LANGUAGE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UPDATE</a:t>
            </a:r>
          </a:p>
        </p:txBody>
      </p:sp>
      <p:sp>
        <p:nvSpPr>
          <p:cNvPr id="14" name="Lead"/>
          <p:cNvSpPr txBox="1"/>
          <p:nvPr/>
        </p:nvSpPr>
        <p:spPr>
          <a:xfrm>
            <a:off x="1005840" y="1367028"/>
            <a:ext cx="10332720" cy="4267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Changing data in all records of a column:</a:t>
            </a:r>
          </a:p>
        </p:txBody>
      </p:sp>
      <p:pic>
        <p:nvPicPr>
          <p:cNvPr id="15" name="Picture 14" descr="UPDATE playlists SET is_public = false;&#10;&#10;SELECT id, name, is_public FROM playlists ORDER BY id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885187"/>
            <a:ext cx="7286625" cy="1238250"/>
          </a:xfrm>
          <a:prstGeom prst="rect">
            <a:avLst/>
          </a:prstGeom>
        </p:spPr>
      </p:pic>
      <p:pic>
        <p:nvPicPr>
          <p:cNvPr id="16" name="Picture 15" descr="UPDATE playlists SET is_public = false;&#10;&#10;SELECT id, name, is_public FROM playlists ORDER BY id;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352038"/>
            <a:ext cx="3829050" cy="202882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2.1 CREATING AND UPDATING TABLES  ·  DML — DATA MANIPULATION LANGUAGE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UPDATE</a:t>
            </a:r>
          </a:p>
        </p:txBody>
      </p:sp>
      <p:sp>
        <p:nvSpPr>
          <p:cNvPr id="14" name="Lead"/>
          <p:cNvSpPr txBox="1"/>
          <p:nvPr/>
        </p:nvSpPr>
        <p:spPr>
          <a:xfrm>
            <a:off x="1005840" y="1367028"/>
            <a:ext cx="10332720" cy="4267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Changing data in filtered records:</a:t>
            </a:r>
          </a:p>
        </p:txBody>
      </p:sp>
      <p:pic>
        <p:nvPicPr>
          <p:cNvPr id="15" name="Picture 14" descr="UPDATE playlists&#10;   SET is_public = true,&#10;       blurb     = 'Curated by ' || owner&#10; WHERE owner = 'denis';&#10;&#10;SELECT id, name, owner, is_public, blurb FROM playlists ORDER BY id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885187"/>
            <a:ext cx="9058275" cy="2143125"/>
          </a:xfrm>
          <a:prstGeom prst="rect">
            <a:avLst/>
          </a:prstGeom>
        </p:spPr>
      </p:pic>
      <p:pic>
        <p:nvPicPr>
          <p:cNvPr id="16" name="Picture 15" descr="UPDATE playlists&#10;   SET is_public = true,&#10;       blurb     = 'Curated by ' || owner&#10; WHERE owner = 'denis';&#10;&#10;SELECT id, name, owner, is_public, blurb FROM playlists ORDER BY id;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256913"/>
            <a:ext cx="6191250" cy="202882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2.1 CREATING AND UPDATING TABLES  ·  DML — DATA MANIPULATION LANGUAGE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UPDATE</a:t>
            </a:r>
          </a:p>
        </p:txBody>
      </p:sp>
      <p:sp>
        <p:nvSpPr>
          <p:cNvPr id="14" name="Lead"/>
          <p:cNvSpPr txBox="1"/>
          <p:nvPr/>
        </p:nvSpPr>
        <p:spPr>
          <a:xfrm>
            <a:off x="1005840" y="1367028"/>
            <a:ext cx="10332720" cy="6705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An </a:t>
            </a:r>
            <a:r>
              <a:rPr sz="1520" b="0" i="0">
                <a:solidFill>
                  <a:srgbClr val="007C85"/>
                </a:solidFill>
                <a:latin typeface="Consolas"/>
              </a:rPr>
              <a:t>UPDATE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can also draw its new values from another table. Storing each playlist's average track popularity:</a:t>
            </a:r>
          </a:p>
        </p:txBody>
      </p:sp>
      <p:pic>
        <p:nvPicPr>
          <p:cNvPr id="15" name="Picture 14" descr="ALTER TABLE playlists ADD COLUMN avg_popularity numeric(5,2);&#10;&#10;UPDATE playlists AS p&#10;   SET avg_popularity = stats.avg_pop&#10;  FROM (&#10;        SELECT pt.playlist_id, round(avg(t.popularity), 2) AS avg_pop&#10;          FROM playlist_tracks AS pt&#10;          JOIN tracks AS t ON t.id = pt.track_id&#10;         GROUP BY pt.playlist_id&#10;       ) AS stats&#10; WHERE p.id = stats.playlist_id;&#10;&#10;SELECT id, name, avg_popularity FROM playlists ORDER BY id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129028"/>
            <a:ext cx="6902801" cy="3215101"/>
          </a:xfrm>
          <a:prstGeom prst="rect">
            <a:avLst/>
          </a:prstGeom>
        </p:spPr>
      </p:pic>
      <p:pic>
        <p:nvPicPr>
          <p:cNvPr id="16" name="Picture 15" descr="ALTER TABLE playlists ADD COLUMN avg_popularity numeric(5,2);&#10;&#10;UPDATE playlists AS p&#10;   SET avg_popularity = stats.avg_pop&#10;  FROM (&#10;        SELECT pt.playlist_id, round(avg(t.popularity), 2) AS avg_pop&#10;          FROM playlist_tracks AS pt&#10;          JOIN tracks AS t ON t.id = pt.track_id&#10;         GROUP BY pt.playlist_id&#10;       ) AS stats&#10; WHERE p.id = stats.playlist_id;&#10;&#10;SELECT id, name, avg_popularity FROM playlists ORDER BY id;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7241" y="2129028"/>
            <a:ext cx="3258064" cy="1525203"/>
          </a:xfrm>
          <a:prstGeom prst="rect">
            <a:avLst/>
          </a:prstGeom>
        </p:spPr>
      </p:pic>
      <p:sp>
        <p:nvSpPr>
          <p:cNvPr id="17" name="Note"/>
          <p:cNvSpPr txBox="1"/>
          <p:nvPr/>
        </p:nvSpPr>
        <p:spPr>
          <a:xfrm>
            <a:off x="1005840" y="5572729"/>
            <a:ext cx="10332720" cy="6705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520" b="0" i="0">
                <a:solidFill>
                  <a:srgbClr val="007C85"/>
                </a:solidFill>
                <a:latin typeface="Consolas"/>
              </a:rPr>
              <a:t>UPDATE … FROM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is PostgreSQL's way of writing "update these rows using a join". Playlists with no tracks keep </a:t>
            </a:r>
            <a:r>
              <a:rPr sz="1520" b="0" i="0">
                <a:solidFill>
                  <a:srgbClr val="007C85"/>
                </a:solidFill>
                <a:latin typeface="Consolas"/>
              </a:rPr>
              <a:t>NULL</a:t>
            </a:r>
            <a:r>
              <a:rPr sz="1600" b="0" i="0">
                <a:solidFill>
                  <a:srgbClr val="000000"/>
                </a:solidFill>
                <a:latin typeface="Arial"/>
              </a:rPr>
              <a:t>, which is correct: the average of nothing is not zero.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2.1 CREATING AND UPDATING TABLES  ·  DML — DATA MANIPULATION LANGUAGE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DELETE</a:t>
            </a:r>
          </a:p>
        </p:txBody>
      </p:sp>
      <p:pic>
        <p:nvPicPr>
          <p:cNvPr id="14" name="Picture 13" descr="DELETE FROM playlists WHERE owner = 'anna';&#10;&#10;SELECT id, name, owner FROM playlists ORDER BY id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367028"/>
            <a:ext cx="6781800" cy="1238250"/>
          </a:xfrm>
          <a:prstGeom prst="rect">
            <a:avLst/>
          </a:prstGeom>
        </p:spPr>
      </p:pic>
      <p:pic>
        <p:nvPicPr>
          <p:cNvPr id="15" name="Picture 14" descr="DELETE FROM playlists WHERE owner = 'anna';&#10;&#10;SELECT id, name, owner FROM playlists ORDER BY id;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833878"/>
            <a:ext cx="3581400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2.1 CREATING AND UPDATING TABLES  ·  DML — DATA MANIPULATION LANGUAGE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DELETE</a:t>
            </a:r>
          </a:p>
        </p:txBody>
      </p:sp>
      <p:sp>
        <p:nvSpPr>
          <p:cNvPr id="14" name="Lead"/>
          <p:cNvSpPr txBox="1"/>
          <p:nvPr/>
        </p:nvSpPr>
        <p:spPr>
          <a:xfrm>
            <a:off x="1005840" y="1367028"/>
            <a:ext cx="10332720" cy="123444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marL="274320">
              <a:spcBef>
                <a:spcPts val="600"/>
              </a:spcBef>
              <a:spcAft>
                <a:spcPts val="720"/>
              </a:spcAft>
            </a:pPr>
            <a:r>
              <a:rPr sz="1500" b="0" i="0">
                <a:solidFill>
                  <a:srgbClr val="007C85"/>
                </a:solidFill>
                <a:latin typeface="Arial"/>
              </a:rPr>
              <a:t>💡 </a:t>
            </a:r>
            <a:r>
              <a:rPr sz="1425" b="0" i="0">
                <a:solidFill>
                  <a:srgbClr val="007C85"/>
                </a:solidFill>
                <a:latin typeface="Consolas"/>
              </a:rPr>
              <a:t>DELETE</a:t>
            </a:r>
            <a:r>
              <a:rPr sz="1500" b="0" i="0">
                <a:solidFill>
                  <a:srgbClr val="007C85"/>
                </a:solidFill>
                <a:latin typeface="Arial"/>
              </a:rPr>
              <a:t> should always have a condition. If you mean to delete everything, </a:t>
            </a:r>
            <a:r>
              <a:rPr sz="1425" b="0" i="0">
                <a:solidFill>
                  <a:srgbClr val="007C85"/>
                </a:solidFill>
                <a:latin typeface="Consolas"/>
              </a:rPr>
              <a:t>TRUNCATE</a:t>
            </a:r>
            <a:r>
              <a:rPr sz="1500" b="0" i="0">
                <a:solidFill>
                  <a:srgbClr val="007C85"/>
                </a:solidFill>
                <a:latin typeface="Arial"/>
              </a:rPr>
              <a:t> is the right statement.</a:t>
            </a:r>
          </a:p>
          <a:p>
            <a:pPr>
              <a:spcAft>
                <a:spcPts val="720"/>
              </a:spcAft>
            </a:pPr>
            <a:r>
              <a:rPr sz="1520" b="0" i="0">
                <a:solidFill>
                  <a:srgbClr val="007C85"/>
                </a:solidFill>
                <a:latin typeface="Consolas"/>
              </a:rPr>
              <a:t>DELETE … RETURNING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gives back the rows it removed — useful when you want to log or archive them:</a:t>
            </a:r>
          </a:p>
        </p:txBody>
      </p:sp>
      <p:pic>
        <p:nvPicPr>
          <p:cNvPr id="15" name="Picture 14" descr="DELETE FROM playlist_tracks&#10; WHERE playlist_id = 1&#10;   AND position &gt; 8&#10;RETURNING playlist_id, track_id, position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692908"/>
            <a:ext cx="5772150" cy="1543050"/>
          </a:xfrm>
          <a:prstGeom prst="rect">
            <a:avLst/>
          </a:prstGeom>
        </p:spPr>
      </p:pic>
      <p:pic>
        <p:nvPicPr>
          <p:cNvPr id="16" name="Picture 15" descr="DELETE FROM playlist_tracks&#10; WHERE playlist_id = 1&#10;   AND position &gt; 8&#10;RETURNING playlist_id, track_id, position;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464558"/>
            <a:ext cx="4438650" cy="131445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close-up of a bunch of paint brushes&#10;&#10;AI-generated content may be incorrect.">
            <a:extLst>
              <a:ext uri="{FF2B5EF4-FFF2-40B4-BE49-F238E27FC236}">
                <a16:creationId xmlns:a16="http://schemas.microsoft.com/office/drawing/2014/main" id="{34B42168-D1AC-F5B4-26AE-D6D4372602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603504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2.1 CREATING AND UPDATING TABLES  ·  DML — DATA MANIPULATION LANGUAGE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603504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DELETE</a:t>
            </a:r>
          </a:p>
        </p:txBody>
      </p:sp>
      <p:sp>
        <p:nvSpPr>
          <p:cNvPr id="14" name="Body"/>
          <p:cNvSpPr txBox="1"/>
          <p:nvPr/>
        </p:nvSpPr>
        <p:spPr>
          <a:xfrm>
            <a:off x="1005840" y="2057400"/>
            <a:ext cx="6766560" cy="42976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810"/>
              </a:spcAft>
            </a:pPr>
            <a:r>
              <a:rPr sz="1709" b="0" i="0">
                <a:solidFill>
                  <a:srgbClr val="007C85"/>
                </a:solidFill>
                <a:latin typeface="Consolas"/>
              </a:rPr>
              <a:t>RETURNING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works on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INSERT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and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UPDATE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too, and it is the cheapest way to find out what a statement actually did.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close-up of a bunch of paint brushes&#10;&#10;AI-generated content may be incorrect.">
            <a:extLst>
              <a:ext uri="{FF2B5EF4-FFF2-40B4-BE49-F238E27FC236}">
                <a16:creationId xmlns:a16="http://schemas.microsoft.com/office/drawing/2014/main" id="{34B42168-D1AC-F5B4-26AE-D6D4372602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603504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2.1 CREATING AND UPDATING TABLES  ·  DML — DATA MANIPULATION LANGUAGE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603504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DELETE vs TRUNCATE</a:t>
            </a:r>
          </a:p>
        </p:txBody>
      </p:sp>
      <p:sp>
        <p:nvSpPr>
          <p:cNvPr id="14" name="Body"/>
          <p:cNvSpPr txBox="1"/>
          <p:nvPr/>
        </p:nvSpPr>
        <p:spPr>
          <a:xfrm>
            <a:off x="1005840" y="2057400"/>
            <a:ext cx="6766560" cy="42976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709" b="1" i="0">
                <a:solidFill>
                  <a:srgbClr val="007C85"/>
                </a:solidFill>
                <a:latin typeface="Consolas"/>
              </a:rPr>
              <a:t>DELETE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removes rows one by one and is normally used with a filter condition. It can clear a whole table, but slowly, since every row is processed separately. It can be rolled back.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709" b="1" i="0">
                <a:solidFill>
                  <a:srgbClr val="007C85"/>
                </a:solidFill>
                <a:latin typeface="Consolas"/>
              </a:rPr>
              <a:t>TRUNCATE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clears the whole table at once. It is much faster, because no row-by-row deletion happens — at the cost of not being able to delete selectively.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2.1 CREATING AND UPDATING TABLES  ·  DML — DATA MANIPULATION LANGUAGE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A note on safety</a:t>
            </a:r>
          </a:p>
        </p:txBody>
      </p:sp>
      <p:sp>
        <p:nvSpPr>
          <p:cNvPr id="14" name="Lead"/>
          <p:cNvSpPr txBox="1"/>
          <p:nvPr/>
        </p:nvSpPr>
        <p:spPr>
          <a:xfrm>
            <a:off x="1005840" y="1367028"/>
            <a:ext cx="10332720" cy="13411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Every DML statement in this section changes data. Two habits worth forming now:</a:t>
            </a:r>
          </a:p>
          <a:p>
            <a:pPr marL="292608" indent="-292608">
              <a:spcAft>
                <a:spcPts val="720"/>
              </a:spcAft>
              <a:buFont typeface="Arial"/>
              <a:buAutoNum type="arabicPeriod" startAt="1"/>
            </a:pPr>
            <a:r>
              <a:rPr sz="1600" b="0" i="0">
                <a:solidFill>
                  <a:srgbClr val="000000"/>
                </a:solidFill>
                <a:latin typeface="Arial"/>
              </a:rPr>
              <a:t>Write the </a:t>
            </a:r>
            <a:r>
              <a:rPr sz="1520" b="0" i="0">
                <a:solidFill>
                  <a:srgbClr val="007C85"/>
                </a:solidFill>
                <a:latin typeface="Consolas"/>
              </a:rPr>
              <a:t>SELECT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first, check what it returns, and only then convert it into a </a:t>
            </a:r>
            <a:r>
              <a:rPr sz="1520" b="0" i="0">
                <a:solidFill>
                  <a:srgbClr val="007C85"/>
                </a:solidFill>
                <a:latin typeface="Consolas"/>
              </a:rPr>
              <a:t>DELETE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or an </a:t>
            </a:r>
            <a:r>
              <a:rPr sz="1520" b="0" i="0">
                <a:solidFill>
                  <a:srgbClr val="007C85"/>
                </a:solidFill>
                <a:latin typeface="Consolas"/>
              </a:rPr>
              <a:t>UPDATE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with the same </a:t>
            </a:r>
            <a:r>
              <a:rPr sz="1520" b="0" i="0">
                <a:solidFill>
                  <a:srgbClr val="007C85"/>
                </a:solidFill>
                <a:latin typeface="Consolas"/>
              </a:rPr>
              <a:t>WHERE</a:t>
            </a:r>
            <a:r>
              <a:rPr sz="1600" b="0" i="0">
                <a:solidFill>
                  <a:srgbClr val="000000"/>
                </a:solidFill>
                <a:latin typeface="Arial"/>
              </a:rPr>
              <a:t>.</a:t>
            </a:r>
          </a:p>
          <a:p>
            <a:pPr marL="292608" indent="-292608">
              <a:spcAft>
                <a:spcPts val="720"/>
              </a:spcAft>
              <a:buFont typeface="Arial"/>
              <a:buAutoNum type="arabicPeriod" startAt="2"/>
            </a:pPr>
            <a:r>
              <a:rPr sz="1600" b="0" i="0">
                <a:solidFill>
                  <a:srgbClr val="000000"/>
                </a:solidFill>
                <a:latin typeface="Arial"/>
              </a:rPr>
              <a:t>Wrap risky changes in a transaction, so a mistake can be undone:</a:t>
            </a:r>
          </a:p>
        </p:txBody>
      </p:sp>
      <p:pic>
        <p:nvPicPr>
          <p:cNvPr id="15" name="Picture 14" descr="BEGIN;&#10;&#10;UPDATE playlists SET owner = 'oops';&#10;&#10;SELECT id, name, owner FROM playlists ORDER BY id;   -- check the result&#10;&#10;ROLLBACK;                                            -- or COMMIT if it looks right&#10;&#10;SELECT id, name, owner FROM playlists ORDER BY id;   -- unchang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799588"/>
            <a:ext cx="10332720" cy="2886686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2.1 CREATING AND UPDATING TABLES  ·  DML — DATA MANIPULATION LANGUAGE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A note on safety</a:t>
            </a:r>
          </a:p>
        </p:txBody>
      </p:sp>
      <p:pic>
        <p:nvPicPr>
          <p:cNvPr id="14" name="Picture 13" descr="BEGIN;&#10;&#10;UPDATE playlists SET owner = 'oops';&#10;&#10;SELECT id, name, owner FROM playlists ORDER BY id;   -- check the result&#10;&#10;ROLLBACK;                                            -- or COMMIT if it looks right&#10;&#10;SELECT id, name, owner FROM playlists ORDER BY id;   -- unchang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367028"/>
            <a:ext cx="3581400" cy="1676400"/>
          </a:xfrm>
          <a:prstGeom prst="rect">
            <a:avLst/>
          </a:prstGeom>
        </p:spPr>
      </p:pic>
      <p:sp>
        <p:nvSpPr>
          <p:cNvPr id="15" name="Note"/>
          <p:cNvSpPr txBox="1"/>
          <p:nvPr/>
        </p:nvSpPr>
        <p:spPr>
          <a:xfrm>
            <a:off x="1005840" y="3272028"/>
            <a:ext cx="10332720" cy="4267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Note the missing </a:t>
            </a:r>
            <a:r>
              <a:rPr sz="1520" b="0" i="0">
                <a:solidFill>
                  <a:srgbClr val="007C85"/>
                </a:solidFill>
                <a:latin typeface="Consolas"/>
              </a:rPr>
              <a:t>WHERE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on that </a:t>
            </a:r>
            <a:r>
              <a:rPr sz="1520" b="0" i="0">
                <a:solidFill>
                  <a:srgbClr val="007C85"/>
                </a:solidFill>
                <a:latin typeface="Consolas"/>
              </a:rPr>
              <a:t>UPDATE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— the classic accident. Inside a transaction it costs nothing.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Content Placeholder 4" descr="A close-up of a colorful object&#10;&#10;AI-generated content may be incorrect.">
            <a:extLst>
              <a:ext uri="{FF2B5EF4-FFF2-40B4-BE49-F238E27FC236}">
                <a16:creationId xmlns:a16="http://schemas.microsoft.com/office/drawing/2014/main" id="{94BE2C03-EF74-F5AD-32D8-416E363868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10" name="Picture 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665C1B3-FAA8-E5C8-582A-771B8F2A5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6498" y="198723"/>
            <a:ext cx="332804" cy="332804"/>
          </a:xfrm>
          <a:prstGeom prst="rect">
            <a:avLst/>
          </a:prstGeom>
        </p:spPr>
      </p:pic>
      <p:sp>
        <p:nvSpPr>
          <p:cNvPr id="11" name="Title"/>
          <p:cNvSpPr txBox="1"/>
          <p:nvPr/>
        </p:nvSpPr>
        <p:spPr>
          <a:xfrm>
            <a:off x="6035040" y="685800"/>
            <a:ext cx="5394960" cy="146304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200" b="1" i="0">
                <a:solidFill>
                  <a:srgbClr val="000000"/>
                </a:solidFill>
                <a:latin typeface="Arial"/>
              </a:rPr>
              <a:t>2.2 Materializations: views and materialized views</a:t>
            </a:r>
          </a:p>
        </p:txBody>
      </p:sp>
      <p:sp>
        <p:nvSpPr>
          <p:cNvPr id="12" name="Body"/>
          <p:cNvSpPr txBox="1"/>
          <p:nvPr/>
        </p:nvSpPr>
        <p:spPr>
          <a:xfrm>
            <a:off x="6035040" y="1986279"/>
            <a:ext cx="5394960" cy="43688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81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When several source tables are joined, filtered and aggregated, and the result is needed again and again, writing the query out repeatedly becomes laborious. Instead, give the query a name.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Arial"/>
              </a:rPr>
              <a:t>Views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Arial"/>
              </a:rPr>
              <a:t>Materialized views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Arial"/>
              </a:rPr>
              <a:t>Check yourself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2.2 MATERIALIZATIONS: VIEWS AND MATERIALIZED VIEWS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Views</a:t>
            </a:r>
          </a:p>
        </p:txBody>
      </p:sp>
      <p:sp>
        <p:nvSpPr>
          <p:cNvPr id="14" name="Lead"/>
          <p:cNvSpPr txBox="1"/>
          <p:nvPr/>
        </p:nvSpPr>
        <p:spPr>
          <a:xfrm>
            <a:off x="1005840" y="1367028"/>
            <a:ext cx="10332720" cy="12496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A </a:t>
            </a:r>
            <a:r>
              <a:rPr sz="1600" b="1" i="0">
                <a:solidFill>
                  <a:srgbClr val="000000"/>
                </a:solidFill>
                <a:latin typeface="Arial"/>
              </a:rPr>
              <a:t>view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(</a:t>
            </a:r>
            <a:r>
              <a:rPr sz="1520" b="0" i="0">
                <a:solidFill>
                  <a:srgbClr val="007C85"/>
                </a:solidFill>
                <a:latin typeface="Consolas"/>
              </a:rPr>
              <a:t>VIEW</a:t>
            </a:r>
            <a:r>
              <a:rPr sz="1600" b="0" i="0">
                <a:solidFill>
                  <a:srgbClr val="000000"/>
                </a:solidFill>
                <a:latin typeface="Arial"/>
              </a:rPr>
              <a:t>) is a named query. You address it as if it were a table — but it is not a table: the data stays in the source tables, and every time the view is addressed the same query is executed anew.</a:t>
            </a:r>
          </a:p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Lecture 1 kept re-writing the three-table join between tracks and artists. A view retires that repetition for good:</a:t>
            </a:r>
          </a:p>
        </p:txBody>
      </p:sp>
      <p:pic>
        <p:nvPicPr>
          <p:cNvPr id="15" name="Picture 14" descr="CREATE VIEW v_tracks_with_artists AS&#10;SELECT t.id,&#10;       t.name       AS track,&#10;       t.popularity,&#10;       t.release_date,&#10;       string_agg(a.name, ', ' ORDER BY ta.position) AS artists&#10;  FROM tracks AS t&#10;  JOIN track_artists AS ta ON ta.track_id = t.id&#10;  JOIN artists AS a        ON a.id = ta.artist_id&#10; GROUP BY t.id, t.name, t.popularity, t.release_date;&#10;&#10;SELECT track, artists, popularity&#10;  FROM v_tracks_with_artists&#10; ORDER BY popularity DESC&#10; LIMIT 8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708148"/>
            <a:ext cx="6501348" cy="3761232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2.2 MATERIALIZATIONS: VIEWS AND MATERIALIZED VIEWS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Views</a:t>
            </a:r>
          </a:p>
        </p:txBody>
      </p:sp>
      <p:pic>
        <p:nvPicPr>
          <p:cNvPr id="14" name="Picture 13" descr="CREATE VIEW v_tracks_with_artists AS&#10;SELECT t.id,&#10;       t.name       AS track,&#10;       t.popularity,&#10;       t.release_date,&#10;       string_agg(a.name, ', ' ORDER BY ta.position) AS artists&#10;  FROM tracks AS t&#10;  JOIN track_artists AS ta ON ta.track_id = t.id&#10;  JOIN artists AS a        ON a.id = ta.artist_id&#10; GROUP BY t.id, t.name, t.popularity, t.release_date;&#10;&#10;SELECT track, artists, popularity&#10;  FROM v_tracks_with_artists&#10; ORDER BY popularity DESC&#10; LIMIT 8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367028"/>
            <a:ext cx="7743825" cy="34671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2.2 MATERIALIZATIONS: VIEWS AND MATERIALIZED VIEWS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Views</a:t>
            </a:r>
          </a:p>
        </p:txBody>
      </p:sp>
      <p:sp>
        <p:nvSpPr>
          <p:cNvPr id="14" name="Lead"/>
          <p:cNvSpPr txBox="1"/>
          <p:nvPr/>
        </p:nvSpPr>
        <p:spPr>
          <a:xfrm>
            <a:off x="1005840" y="1367028"/>
            <a:ext cx="10332720" cy="4267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Now the view can be filtered, joined and aggregated like any table:</a:t>
            </a:r>
          </a:p>
        </p:txBody>
      </p:sp>
      <p:pic>
        <p:nvPicPr>
          <p:cNvPr id="15" name="Picture 14" descr="SELECT (EXTRACT(YEAR FROM release_date)::int / 10) * 10 AS decade,&#10;       count(*) AS collaborations&#10;  FROM v_tracks_with_artists&#10; WHERE artists LIKE '%,%'          -- more than one credited artist&#10; GROUP BY decade&#10; ORDER BY decade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885187"/>
            <a:ext cx="8027992" cy="1927746"/>
          </a:xfrm>
          <a:prstGeom prst="rect">
            <a:avLst/>
          </a:prstGeom>
        </p:spPr>
      </p:pic>
      <p:pic>
        <p:nvPicPr>
          <p:cNvPr id="16" name="Picture 15" descr="SELECT (EXTRACT(YEAR FROM release_date)::int / 10) * 10 AS decade,&#10;       count(*) AS collaborations&#10;  FROM v_tracks_with_artists&#10; WHERE artists LIKE '%,%'          -- more than one credited artist&#10; GROUP BY decade&#10; ORDER BY decade;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2432" y="1885187"/>
            <a:ext cx="2099101" cy="4086822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2.2 MATERIALIZATIONS: VIEWS AND MATERIALIZED VIEWS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Views</a:t>
            </a:r>
          </a:p>
        </p:txBody>
      </p:sp>
      <p:sp>
        <p:nvSpPr>
          <p:cNvPr id="14" name="Lead"/>
          <p:cNvSpPr txBox="1"/>
          <p:nvPr/>
        </p:nvSpPr>
        <p:spPr>
          <a:xfrm>
            <a:off x="1005840" y="1367028"/>
            <a:ext cx="10332720" cy="4267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Replacing and dropping a view:</a:t>
            </a:r>
          </a:p>
        </p:txBody>
      </p:sp>
      <p:pic>
        <p:nvPicPr>
          <p:cNvPr id="15" name="Picture 14" descr="CREATE OR REPLACE VIEW v_tracks_with_artists AS&#10;SELECT …;              -- the new definition&#10;&#10;DROP VIEW v_tracks_with_artists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885187"/>
            <a:ext cx="6410325" cy="1543050"/>
          </a:xfrm>
          <a:prstGeom prst="rect">
            <a:avLst/>
          </a:prstGeom>
        </p:spPr>
      </p:pic>
      <p:sp>
        <p:nvSpPr>
          <p:cNvPr id="16" name="Note"/>
          <p:cNvSpPr txBox="1"/>
          <p:nvPr/>
        </p:nvSpPr>
        <p:spPr>
          <a:xfrm>
            <a:off x="1005840" y="3656838"/>
            <a:ext cx="10332720" cy="6705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520" b="0" i="0">
                <a:solidFill>
                  <a:srgbClr val="007C85"/>
                </a:solidFill>
                <a:latin typeface="Consolas"/>
              </a:rPr>
              <a:t>CREATE OR REPLACE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can add columns to the end of a view but cannot rename or remove existing ones — for that you must </a:t>
            </a:r>
            <a:r>
              <a:rPr sz="1520" b="0" i="0">
                <a:solidFill>
                  <a:srgbClr val="007C85"/>
                </a:solidFill>
                <a:latin typeface="Consolas"/>
              </a:rPr>
              <a:t>DROP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and re-create.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2.2 MATERIALIZATIONS: VIEWS AND MATERIALIZED VIEWS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Views</a:t>
            </a:r>
          </a:p>
        </p:txBody>
      </p:sp>
      <p:sp>
        <p:nvSpPr>
          <p:cNvPr id="14" name="Body"/>
          <p:cNvSpPr txBox="1"/>
          <p:nvPr/>
        </p:nvSpPr>
        <p:spPr>
          <a:xfrm>
            <a:off x="1005840" y="1367028"/>
            <a:ext cx="10332720" cy="498805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810"/>
              </a:spcAft>
            </a:pPr>
            <a:r>
              <a:rPr sz="1800" b="1" i="0">
                <a:solidFill>
                  <a:srgbClr val="000000"/>
                </a:solidFill>
                <a:latin typeface="Arial"/>
              </a:rPr>
              <a:t>Advantages: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Arial"/>
              </a:rPr>
              <a:t>simplifies work with frequently used queries — a view can be reused in different queries;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Arial"/>
              </a:rPr>
              <a:t>improves readability and is convenient when providing data to stakeholders;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Arial"/>
              </a:rPr>
              <a:t>restricts access — users can be granted access to particular views that expose only the data they are allowed to see, without exposing the whole database.</a:t>
            </a:r>
          </a:p>
          <a:p>
            <a:pPr marL="274320">
              <a:spcBef>
                <a:spcPts val="600"/>
              </a:spcBef>
              <a:spcAft>
                <a:spcPts val="810"/>
              </a:spcAft>
            </a:pPr>
            <a:r>
              <a:rPr sz="1700" b="0" i="0">
                <a:solidFill>
                  <a:srgbClr val="007C85"/>
                </a:solidFill>
                <a:latin typeface="Arial"/>
              </a:rPr>
              <a:t>💡 Data is not stored in a view. Every time it is addressed, the source tables are joined, filtered and aggregated again. Using a view does not save computing resources.</a:t>
            </a:r>
          </a:p>
          <a:p>
            <a:pPr>
              <a:spcAft>
                <a:spcPts val="810"/>
              </a:spcAft>
            </a:pPr>
            <a:r>
              <a:rPr sz="1800" b="1" i="0">
                <a:solidFill>
                  <a:srgbClr val="000000"/>
                </a:solidFill>
                <a:latin typeface="Arial"/>
              </a:rPr>
              <a:t>View vs CTE: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Arial"/>
              </a:rPr>
              <a:t>A view is a permanent object in the database and can be used by </a:t>
            </a:r>
            <a:r>
              <a:rPr sz="1800" b="0" i="1">
                <a:solidFill>
                  <a:srgbClr val="000000"/>
                </a:solidFill>
                <a:latin typeface="Arial"/>
              </a:rPr>
              <a:t>other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queries, by other people, tomorrow. A CTE lives within a single query and disappears with it.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Arial"/>
              </a:rPr>
              <a:t>A CTE can be part of a view. That matters, for example, for recursive queries, which are impossible without a CTE.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2.2 MATERIALIZATIONS: VIEWS AND MATERIALIZED VIEWS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Materialized views</a:t>
            </a:r>
          </a:p>
        </p:txBody>
      </p:sp>
      <p:sp>
        <p:nvSpPr>
          <p:cNvPr id="14" name="Lead"/>
          <p:cNvSpPr txBox="1"/>
          <p:nvPr/>
        </p:nvSpPr>
        <p:spPr>
          <a:xfrm>
            <a:off x="1005840" y="1367028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A </a:t>
            </a:r>
            <a:r>
              <a:rPr sz="1600" b="1" i="0">
                <a:solidFill>
                  <a:srgbClr val="000000"/>
                </a:solidFill>
                <a:latin typeface="Arial"/>
              </a:rPr>
              <a:t>materialized view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looks like an ordinary one, but the result of the query is saved into a physical table stored on disk. That is the trade-off: reads become cheap, but the data is a snapshot and can go stale.</a:t>
            </a:r>
          </a:p>
        </p:txBody>
      </p:sp>
      <p:pic>
        <p:nvPicPr>
          <p:cNvPr id="15" name="Picture 14" descr="CREATE VIEW v_decade_counts AS&#10;SELECT (EXTRACT(YEAR FROM release_date)::int / 10) * 10 AS decade,&#10;       count(*) AS tracks&#10;  FROM tracks&#10; GROUP BY 1;&#10;&#10;CREATE MATERIALIZED VIEW mv_decade_counts AS&#10;SELECT (EXTRACT(YEAR FROM release_date)::int / 10) * 10 AS decade,&#10;       count(*) AS tracks&#10;  FROM tracks&#10; GROUP BY 1;&#10;&#10;SELECT 'view' AS source, tracks FROM v_decade_counts  WHERE decade = 2020&#10;UNION ALL&#10;SELECT 'materialized',    tracks FROM mv_decade_counts WHERE decade = 2020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372868"/>
            <a:ext cx="8353044" cy="4096512"/>
          </a:xfrm>
          <a:prstGeom prst="rect">
            <a:avLst/>
          </a:prstGeom>
        </p:spPr>
      </p:pic>
      <p:pic>
        <p:nvPicPr>
          <p:cNvPr id="16" name="Picture 15" descr="CREATE VIEW v_decade_counts AS&#10;SELECT (EXTRACT(YEAR FROM release_date)::int / 10) * 10 AS decade,&#10;       count(*) AS tracks&#10;  FROM tracks&#10; GROUP BY 1;&#10;&#10;CREATE MATERIALIZED VIEW mv_decade_counts AS&#10;SELECT (EXTRACT(YEAR FROM release_date)::int / 10) * 10 AS decade,&#10;       count(*) AS tracks&#10;  FROM tracks&#10; GROUP BY 1;&#10;&#10;SELECT 'view' AS source, tracks FROM v_decade_counts  WHERE decade = 2020&#10;UNION ALL&#10;SELECT 'materialized',    tracks FROM mv_decade_counts WHERE decade = 2020;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7484" y="2372868"/>
            <a:ext cx="1664208" cy="110413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2.2 MATERIALIZATIONS: VIEWS AND MATERIALIZED VIEWS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Materialized views</a:t>
            </a:r>
          </a:p>
        </p:txBody>
      </p:sp>
      <p:sp>
        <p:nvSpPr>
          <p:cNvPr id="14" name="Lead"/>
          <p:cNvSpPr txBox="1"/>
          <p:nvPr/>
        </p:nvSpPr>
        <p:spPr>
          <a:xfrm>
            <a:off x="1005840" y="1367028"/>
            <a:ext cx="10332720" cy="4267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Identical, so far. Now add a track and ask both again — </a:t>
            </a:r>
            <a:r>
              <a:rPr sz="1600" b="1" i="0">
                <a:solidFill>
                  <a:srgbClr val="000000"/>
                </a:solidFill>
                <a:latin typeface="Arial"/>
              </a:rPr>
              <a:t>without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refreshing:</a:t>
            </a:r>
          </a:p>
        </p:txBody>
      </p:sp>
      <p:pic>
        <p:nvPicPr>
          <p:cNvPr id="15" name="Picture 14" descr="INSERT INTO tracks (id, name, popularity, duration_ms, explicit,&#10;                    release_date, release_date_precision)&#10;VALUES ('demo0000000000000000001', 'A Brand New Song', 0, 180000, false,&#10;        DATE '2021-06-01', 'day');&#10;&#10;SELECT 'view' AS source, tracks FROM v_decade_counts  WHERE decade = 2020&#10;UNION ALL&#10;SELECT 'materialized',    tracks FROM mv_decade_counts WHERE decade = 2020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885187"/>
            <a:ext cx="9944100" cy="2752725"/>
          </a:xfrm>
          <a:prstGeom prst="rect">
            <a:avLst/>
          </a:prstGeom>
        </p:spPr>
      </p:pic>
      <p:pic>
        <p:nvPicPr>
          <p:cNvPr id="16" name="Picture 15" descr="INSERT INTO tracks (id, name, popularity, duration_ms, explicit,&#10;                    release_date, release_date_precision)&#10;VALUES ('demo0000000000000000001', 'A Brand New Song', 0, 180000, false,&#10;        DATE '2021-06-01', 'day');&#10;&#10;SELECT 'view' AS source, tracks FROM v_decade_counts  WHERE decade = 2020&#10;UNION ALL&#10;SELECT 'materialized',    tracks FROM mv_decade_counts WHERE decade = 2020;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866513"/>
            <a:ext cx="1981199" cy="131445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close-up of a bunch of paint brushes&#10;&#10;AI-generated content may be incorrect.">
            <a:extLst>
              <a:ext uri="{FF2B5EF4-FFF2-40B4-BE49-F238E27FC236}">
                <a16:creationId xmlns:a16="http://schemas.microsoft.com/office/drawing/2014/main" id="{34B42168-D1AC-F5B4-26AE-D6D4372602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603504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2.2 MATERIALIZATIONS: VIEWS AND MATERIALIZED VIEWS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603504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Materialized views</a:t>
            </a:r>
          </a:p>
        </p:txBody>
      </p:sp>
      <p:sp>
        <p:nvSpPr>
          <p:cNvPr id="14" name="Body"/>
          <p:cNvSpPr txBox="1"/>
          <p:nvPr/>
        </p:nvSpPr>
        <p:spPr>
          <a:xfrm>
            <a:off x="1005840" y="2057400"/>
            <a:ext cx="6766560" cy="42976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81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There it is: the view re-ran the query and saw the new row; the materialized view returned its stored snapshot and did not. That is the whole concept in one result.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2.2 MATERIALIZATIONS: VIEWS AND MATERIALIZED VIEWS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Materialized views</a:t>
            </a:r>
          </a:p>
        </p:txBody>
      </p:sp>
      <p:pic>
        <p:nvPicPr>
          <p:cNvPr id="14" name="Picture 13" descr="REFRESH MATERIALIZED VIEW mv_decade_counts;&#10;&#10;SELECT 'view' AS source, tracks FROM v_decade_counts  WHERE decade = 2020&#10;UNION ALL&#10;SELECT 'materialized',    tracks FROM mv_decade_counts WHERE decade = 2020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367028"/>
            <a:ext cx="9944100" cy="1838324"/>
          </a:xfrm>
          <a:prstGeom prst="rect">
            <a:avLst/>
          </a:prstGeom>
        </p:spPr>
      </p:pic>
      <p:pic>
        <p:nvPicPr>
          <p:cNvPr id="15" name="Picture 14" descr="REFRESH MATERIALIZED VIEW mv_decade_counts;&#10;&#10;SELECT 'view' AS source, tracks FROM v_decade_counts  WHERE decade = 2020&#10;UNION ALL&#10;SELECT 'materialized',    tracks FROM mv_decade_counts WHERE decade = 2020;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433952"/>
            <a:ext cx="1981199" cy="131445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2.2 MATERIALIZATIONS: VIEWS AND MATERIALIZED VIEWS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Materialized views</a:t>
            </a:r>
          </a:p>
        </p:txBody>
      </p:sp>
      <p:sp>
        <p:nvSpPr>
          <p:cNvPr id="14" name="Lead"/>
          <p:cNvSpPr txBox="1"/>
          <p:nvPr/>
        </p:nvSpPr>
        <p:spPr>
          <a:xfrm>
            <a:off x="1005840" y="1367028"/>
            <a:ext cx="10332720" cy="12496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In PostgreSQL the refresh is explicit — </a:t>
            </a:r>
            <a:r>
              <a:rPr sz="1520" b="0" i="0">
                <a:solidFill>
                  <a:srgbClr val="007C85"/>
                </a:solidFill>
                <a:latin typeface="Consolas"/>
              </a:rPr>
              <a:t>REFRESH MATERIALIZED VIEW</a:t>
            </a:r>
            <a:r>
              <a:rPr sz="1600" b="0" i="0">
                <a:solidFill>
                  <a:srgbClr val="000000"/>
                </a:solidFill>
                <a:latin typeface="Arial"/>
              </a:rPr>
              <a:t>, run manually or on a schedule. Other DBMSs differ substantially: some refresh in real time, some by a trigger, and some have no such functionality at all. Always consult the documentation.</a:t>
            </a:r>
          </a:p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A materialized view can be indexed, which an ordinary view cannot:</a:t>
            </a:r>
          </a:p>
        </p:txBody>
      </p:sp>
      <p:pic>
        <p:nvPicPr>
          <p:cNvPr id="15" name="Picture 14" descr="CREATE UNIQUE INDEX mv_decade_counts_decade ON mv_decade_counts(decade);&#10;&#10;SELECT indexname, indexdef&#10;  FROM pg_indexes&#10; WHERE tablename = 'mv_decade_counts'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708148"/>
            <a:ext cx="9563100" cy="1838324"/>
          </a:xfrm>
          <a:prstGeom prst="rect">
            <a:avLst/>
          </a:prstGeom>
        </p:spPr>
      </p:pic>
      <p:pic>
        <p:nvPicPr>
          <p:cNvPr id="16" name="Picture 15" descr="CREATE UNIQUE INDEX mv_decade_counts_decade ON mv_decade_counts(decade);&#10;&#10;SELECT indexname, indexdef&#10;  FROM pg_indexes&#10; WHERE tablename = 'mv_decade_counts';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775073"/>
            <a:ext cx="693420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close-up of a bunch of paint brushes&#10;&#10;AI-generated content may be incorrect.">
            <a:extLst>
              <a:ext uri="{FF2B5EF4-FFF2-40B4-BE49-F238E27FC236}">
                <a16:creationId xmlns:a16="http://schemas.microsoft.com/office/drawing/2014/main" id="{34B42168-D1AC-F5B4-26AE-D6D4372602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603504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2.2 MATERIALIZATIONS: VIEWS AND MATERIALIZED VIEWS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603504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Materialized views</a:t>
            </a:r>
          </a:p>
        </p:txBody>
      </p:sp>
      <p:sp>
        <p:nvSpPr>
          <p:cNvPr id="14" name="Body"/>
          <p:cNvSpPr txBox="1"/>
          <p:nvPr/>
        </p:nvSpPr>
        <p:spPr>
          <a:xfrm>
            <a:off x="1005840" y="2057400"/>
            <a:ext cx="6766560" cy="42976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81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A unique index also unlocks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REFRESH MATERIALIZED VIEW CONCURRENTLY</a:t>
            </a:r>
            <a:r>
              <a:rPr sz="1800" b="0" i="0">
                <a:solidFill>
                  <a:srgbClr val="000000"/>
                </a:solidFill>
                <a:latin typeface="Arial"/>
              </a:rPr>
              <a:t>, which rebuilds it without locking readers out.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2.2 MATERIALIZATIONS: VIEWS AND MATERIALIZED VIEWS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Materialized views</a:t>
            </a:r>
          </a:p>
        </p:txBody>
      </p:sp>
      <p:graphicFrame>
        <p:nvGraphicFramePr>
          <p:cNvPr id="14" name="Table"/>
          <p:cNvGraphicFramePr>
            <a:graphicFrameLocks noGrp="1"/>
          </p:cNvGraphicFramePr>
          <p:nvPr/>
        </p:nvGraphicFramePr>
        <p:xfrm>
          <a:off x="1005840" y="1367028"/>
          <a:ext cx="10332718" cy="18288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845128"/>
                <a:gridCol w="3198222"/>
                <a:gridCol w="2706188"/>
                <a:gridCol w="2583180"/>
              </a:tblGrid>
              <a:tr h="304800">
                <a:tc>
                  <a:txBody>
                    <a:bodyPr wrap="square"/>
                    <a:lstStyle/>
                    <a:p/>
                  </a:txBody>
                  <a:tcPr marL="91440" marR="91440" marT="45720" marB="45720">
                    <a:solidFill>
                      <a:srgbClr val="03CDD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Arial"/>
                        </a:rPr>
                        <a:t>View</a:t>
                      </a:r>
                    </a:p>
                  </a:txBody>
                  <a:tcPr marL="91440" marR="91440" marT="45720" marB="45720">
                    <a:solidFill>
                      <a:srgbClr val="03CDD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Arial"/>
                        </a:rPr>
                        <a:t>Materialized view</a:t>
                      </a:r>
                    </a:p>
                  </a:txBody>
                  <a:tcPr marL="91440" marR="91440" marT="45720" marB="45720">
                    <a:solidFill>
                      <a:srgbClr val="03CDD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Arial"/>
                        </a:rPr>
                        <a:t>Table</a:t>
                      </a:r>
                    </a:p>
                  </a:txBody>
                  <a:tcPr marL="91440" marR="91440" marT="45720" marB="45720">
                    <a:solidFill>
                      <a:srgbClr val="03CDD8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Stores 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Cost of reading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the full query, every time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a read of stored rows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a read of stored rows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Freshness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always current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as of the last refresh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always current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Occupies disk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no (only the definition)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Can be indexed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2.2 MATERIALIZATIONS: VIEWS AND MATERIALIZED VIEWS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Materialized views</a:t>
            </a:r>
          </a:p>
        </p:txBody>
      </p:sp>
      <p:pic>
        <p:nvPicPr>
          <p:cNvPr id="14" name="Picture 13" descr="-- tidy up the demo row&#10;DELETE FROM tracks WHERE id = 'demo0000000000000000001';&#10;REFRESH MATERIALIZED VIEW mv_decade_counts;&#10;&#10;SELECT tracks FROM mv_decade_counts WHERE decade = 2020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367028"/>
            <a:ext cx="7543800" cy="1838324"/>
          </a:xfrm>
          <a:prstGeom prst="rect">
            <a:avLst/>
          </a:prstGeom>
        </p:spPr>
      </p:pic>
      <p:pic>
        <p:nvPicPr>
          <p:cNvPr id="15" name="Picture 14" descr="-- tidy up the demo row&#10;DELETE FROM tracks WHERE id = 'demo0000000000000000001';&#10;REFRESH MATERIALIZED VIEW mv_decade_counts;&#10;&#10;SELECT tracks FROM mv_decade_counts WHERE decade = 2020;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433952"/>
            <a:ext cx="78105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close-up of a bunch of paint brushes&#10;&#10;AI-generated content may be incorrect.">
            <a:extLst>
              <a:ext uri="{FF2B5EF4-FFF2-40B4-BE49-F238E27FC236}">
                <a16:creationId xmlns:a16="http://schemas.microsoft.com/office/drawing/2014/main" id="{34B42168-D1AC-F5B4-26AE-D6D4372602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603504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2.2 MATERIALIZATIONS: VIEWS AND MATERIALIZED VIEWS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603504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Check yourself</a:t>
            </a:r>
          </a:p>
        </p:txBody>
      </p:sp>
      <p:sp>
        <p:nvSpPr>
          <p:cNvPr id="14" name="Body"/>
          <p:cNvSpPr txBox="1"/>
          <p:nvPr/>
        </p:nvSpPr>
        <p:spPr>
          <a:xfrm>
            <a:off x="1005840" y="2057400"/>
            <a:ext cx="6766560" cy="42976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810"/>
              </a:spcAft>
            </a:pPr>
            <a:r>
              <a:rPr sz="1800" b="1" i="0">
                <a:solidFill>
                  <a:srgbClr val="000000"/>
                </a:solidFill>
                <a:latin typeface="Arial"/>
              </a:rPr>
              <a:t>What are views used for?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— to simplify collecting data from the same source tables and reduce duplicated code.</a:t>
            </a:r>
          </a:p>
          <a:p>
            <a:pPr>
              <a:spcAft>
                <a:spcPts val="810"/>
              </a:spcAft>
            </a:pPr>
            <a:r>
              <a:rPr sz="1800" b="1" i="0">
                <a:solidFill>
                  <a:srgbClr val="000000"/>
                </a:solidFill>
                <a:latin typeface="Arial"/>
              </a:rPr>
              <a:t>How does a materialized view differ from an ordinary one?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— a materialized view stores the result physically and must be refreshed; an ordinary view is simply a named query, always current.</a:t>
            </a:r>
          </a:p>
          <a:p>
            <a:pPr>
              <a:spcAft>
                <a:spcPts val="810"/>
              </a:spcAft>
            </a:pPr>
            <a:r>
              <a:rPr sz="1800" b="1" i="0">
                <a:solidFill>
                  <a:srgbClr val="000000"/>
                </a:solidFill>
                <a:latin typeface="Arial"/>
              </a:rPr>
              <a:t>When is a materialized view the wrong choice?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— when the data must always be current, or when it changes far more often than it is read.</a:t>
            </a:r>
          </a:p>
          <a:p>
            <a:pPr>
              <a:spcAft>
                <a:spcPts val="810"/>
              </a:spcAft>
            </a:pPr>
            <a:r>
              <a:rPr sz="1800" b="1" i="0">
                <a:solidFill>
                  <a:srgbClr val="000000"/>
                </a:solidFill>
                <a:latin typeface="Arial"/>
              </a:rPr>
              <a:t>What happens if the schema of the table a view is built on changes?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— the view breaks; drop and re-create it.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close-up of a colorful background&#10;&#10;AI-generated content may be incorrect.">
            <a:extLst>
              <a:ext uri="{FF2B5EF4-FFF2-40B4-BE49-F238E27FC236}">
                <a16:creationId xmlns:a16="http://schemas.microsoft.com/office/drawing/2014/main" id="{FB6389BF-F4D2-40D5-62DD-3C105EE3C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62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5" name="Picture 1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501C81A-DBE5-E6A0-4619-C2A3D5341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6" name="Title"/>
          <p:cNvSpPr txBox="1"/>
          <p:nvPr/>
        </p:nvSpPr>
        <p:spPr>
          <a:xfrm>
            <a:off x="548640" y="1188720"/>
            <a:ext cx="5120640" cy="146304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4000" b="1" i="0">
                <a:solidFill>
                  <a:srgbClr val="000000"/>
                </a:solidFill>
                <a:latin typeface="Arial"/>
              </a:rPr>
              <a:t>2.3 Procedures</a:t>
            </a:r>
          </a:p>
        </p:txBody>
      </p:sp>
      <p:sp>
        <p:nvSpPr>
          <p:cNvPr id="17" name="Body"/>
          <p:cNvSpPr txBox="1"/>
          <p:nvPr/>
        </p:nvSpPr>
        <p:spPr>
          <a:xfrm>
            <a:off x="548640" y="2138679"/>
            <a:ext cx="5120640" cy="42164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81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Views name a </a:t>
            </a:r>
            <a:r>
              <a:rPr sz="1800" b="0" i="1">
                <a:solidFill>
                  <a:srgbClr val="000000"/>
                </a:solidFill>
                <a:latin typeface="Arial"/>
              </a:rPr>
              <a:t>query</a:t>
            </a:r>
            <a:r>
              <a:rPr sz="1800" b="0" i="0">
                <a:solidFill>
                  <a:srgbClr val="000000"/>
                </a:solidFill>
                <a:latin typeface="Arial"/>
              </a:rPr>
              <a:t>. Procedures and functions name a </a:t>
            </a:r>
            <a:r>
              <a:rPr sz="1800" b="0" i="1">
                <a:solidFill>
                  <a:srgbClr val="000000"/>
                </a:solidFill>
                <a:latin typeface="Arial"/>
              </a:rPr>
              <a:t>sequence of statements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— logic that lives inside the database and can contain variables, conditions and loops. In PostgreSQL this code is written in </a:t>
            </a:r>
            <a:r>
              <a:rPr sz="1800" b="1" i="0">
                <a:solidFill>
                  <a:srgbClr val="000000"/>
                </a:solidFill>
                <a:latin typeface="Arial"/>
              </a:rPr>
              <a:t>PL/pgSQL</a:t>
            </a:r>
            <a:r>
              <a:rPr sz="1800" b="0" i="0">
                <a:solidFill>
                  <a:srgbClr val="000000"/>
                </a:solidFill>
                <a:latin typeface="Arial"/>
              </a:rPr>
              <a:t>.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Arial"/>
              </a:rPr>
              <a:t>Function or procedure?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Arial"/>
              </a:rPr>
              <a:t>A function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Arial"/>
              </a:rPr>
              <a:t>A procedure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Arial"/>
              </a:rPr>
              <a:t>Parameters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Arial"/>
              </a:rPr>
              <a:t>Control flow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Arial"/>
              </a:rPr>
              <a:t>Error handling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Arial"/>
              </a:rPr>
              <a:t>Dropping a routine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2.3 PROCEDURES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Function or procedure?</a:t>
            </a:r>
          </a:p>
        </p:txBody>
      </p:sp>
      <p:sp>
        <p:nvSpPr>
          <p:cNvPr id="14" name="Lead"/>
          <p:cNvSpPr txBox="1"/>
          <p:nvPr/>
        </p:nvSpPr>
        <p:spPr>
          <a:xfrm>
            <a:off x="1005840" y="1367028"/>
            <a:ext cx="10332720" cy="4267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PostgreSQL has both, and the difference matters:</a:t>
            </a:r>
          </a:p>
        </p:txBody>
      </p:sp>
      <p:graphicFrame>
        <p:nvGraphicFramePr>
          <p:cNvPr id="15" name="Table"/>
          <p:cNvGraphicFramePr>
            <a:graphicFrameLocks noGrp="1"/>
          </p:cNvGraphicFramePr>
          <p:nvPr/>
        </p:nvGraphicFramePr>
        <p:xfrm>
          <a:off x="1005840" y="1885187"/>
          <a:ext cx="10332718" cy="1524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046827"/>
                <a:gridCol w="3179298"/>
                <a:gridCol w="4106593"/>
              </a:tblGrid>
              <a:tr h="304800">
                <a:tc>
                  <a:txBody>
                    <a:bodyPr wrap="square"/>
                    <a:lstStyle/>
                    <a:p/>
                  </a:txBody>
                  <a:tcPr marL="91440" marR="91440" marT="45720" marB="45720">
                    <a:solidFill>
                      <a:srgbClr val="03CDD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30" b="1" i="0">
                          <a:solidFill>
                            <a:srgbClr val="007C85"/>
                          </a:solidFill>
                          <a:latin typeface="Consolas"/>
                        </a:rPr>
                        <a:t>FUNCTION</a:t>
                      </a:r>
                    </a:p>
                  </a:txBody>
                  <a:tcPr marL="91440" marR="91440" marT="45720" marB="45720">
                    <a:solidFill>
                      <a:srgbClr val="03CDD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30" b="1" i="0">
                          <a:solidFill>
                            <a:srgbClr val="007C85"/>
                          </a:solidFill>
                          <a:latin typeface="Consolas"/>
                        </a:rPr>
                        <a:t>PROCEDURE</a:t>
                      </a:r>
                    </a:p>
                  </a:txBody>
                  <a:tcPr marL="91440" marR="91440" marT="45720" marB="45720">
                    <a:solidFill>
                      <a:srgbClr val="03CDD8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Called with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30" b="0" i="0">
                          <a:solidFill>
                            <a:srgbClr val="007C85"/>
                          </a:solidFill>
                          <a:latin typeface="Consolas"/>
                        </a:rPr>
                        <a:t>SELECT my_func(…)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30" b="0" i="0">
                          <a:solidFill>
                            <a:srgbClr val="007C85"/>
                          </a:solidFill>
                          <a:latin typeface="Consolas"/>
                        </a:rPr>
                        <a:t>CALL my_proc(…)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Returns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a value or a set of rows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nothing (only </a:t>
                      </a:r>
                      <a:r>
                        <a:rPr sz="1330" b="0" i="0">
                          <a:solidFill>
                            <a:srgbClr val="007C85"/>
                          </a:solidFill>
                          <a:latin typeface="Consolas"/>
                        </a:rPr>
                        <a:t>INOUT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 parameters)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Usable inside a query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Can manage transactions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yes (</a:t>
                      </a:r>
                      <a:r>
                        <a:rPr sz="1330" b="0" i="0">
                          <a:solidFill>
                            <a:srgbClr val="007C85"/>
                          </a:solidFill>
                          <a:latin typeface="Consolas"/>
                        </a:rPr>
                        <a:t>COMMIT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 / </a:t>
                      </a:r>
                      <a:r>
                        <a:rPr sz="1330" b="0" i="0">
                          <a:solidFill>
                            <a:srgbClr val="007C85"/>
                          </a:solidFill>
                          <a:latin typeface="Consolas"/>
                        </a:rPr>
                        <a:t>ROLLBACK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 inside)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16" name="Note"/>
          <p:cNvSpPr txBox="1"/>
          <p:nvPr/>
        </p:nvSpPr>
        <p:spPr>
          <a:xfrm>
            <a:off x="1005840" y="3774948"/>
            <a:ext cx="10332720" cy="4267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Rule of thumb: if you need a </a:t>
            </a:r>
            <a:r>
              <a:rPr sz="1600" b="1" i="0">
                <a:solidFill>
                  <a:srgbClr val="000000"/>
                </a:solidFill>
                <a:latin typeface="Arial"/>
              </a:rPr>
              <a:t>value</a:t>
            </a:r>
            <a:r>
              <a:rPr sz="1600" b="0" i="0">
                <a:solidFill>
                  <a:srgbClr val="000000"/>
                </a:solidFill>
                <a:latin typeface="Arial"/>
              </a:rPr>
              <a:t>, write a function; if you need an </a:t>
            </a:r>
            <a:r>
              <a:rPr sz="1600" b="1" i="0">
                <a:solidFill>
                  <a:srgbClr val="000000"/>
                </a:solidFill>
                <a:latin typeface="Arial"/>
              </a:rPr>
              <a:t>action</a:t>
            </a:r>
            <a:r>
              <a:rPr sz="1600" b="0" i="0">
                <a:solidFill>
                  <a:srgbClr val="000000"/>
                </a:solidFill>
                <a:latin typeface="Arial"/>
              </a:rPr>
              <a:t>, write a procedure.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2.3 PROCEDURES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A function</a:t>
            </a:r>
          </a:p>
        </p:txBody>
      </p:sp>
      <p:sp>
        <p:nvSpPr>
          <p:cNvPr id="14" name="Lead"/>
          <p:cNvSpPr txBox="1"/>
          <p:nvPr/>
        </p:nvSpPr>
        <p:spPr>
          <a:xfrm>
            <a:off x="1005840" y="1367028"/>
            <a:ext cx="10332720" cy="4267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The decade expression has appeared in nearly every query so far. It belongs in a function:</a:t>
            </a:r>
          </a:p>
        </p:txBody>
      </p:sp>
      <p:pic>
        <p:nvPicPr>
          <p:cNvPr id="15" name="Picture 14" descr="CREATE OR REPLACE FUNCTION decade_of(d date)&#10;RETURNS int&#10;LANGUAGE sql&#10;IMMUTABLE&#10;AS $$&#10;    SELECT (EXTRACT(YEAR FROM d)::int / 10) * 10;&#10;$$;&#10;&#10;SELECT decade_of(release_date) AS decade, count(*) AS tracks&#10;  FROM tracks&#10; GROUP BY 1&#10; ORDER BY 1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885187"/>
            <a:ext cx="7521635" cy="3711860"/>
          </a:xfrm>
          <a:prstGeom prst="rect">
            <a:avLst/>
          </a:prstGeom>
        </p:spPr>
      </p:pic>
      <p:pic>
        <p:nvPicPr>
          <p:cNvPr id="16" name="Picture 15" descr="CREATE OR REPLACE FUNCTION decade_of(d date)&#10;RETURNS int&#10;LANGUAGE sql&#10;IMMUTABLE&#10;AS $$&#10;    SELECT (EXTRACT(YEAR FROM d)::int / 10) * 10;&#10;$$;&#10;&#10;SELECT decade_of(release_date) AS decade, count(*) AS tracks&#10;  FROM tracks&#10; GROUP BY 1&#10; ORDER BY 1;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6075" y="1885187"/>
            <a:ext cx="1522129" cy="4584192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2.3 PROCEDURES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A function</a:t>
            </a:r>
          </a:p>
        </p:txBody>
      </p:sp>
      <p:sp>
        <p:nvSpPr>
          <p:cNvPr id="14" name="Lead"/>
          <p:cNvSpPr txBox="1"/>
          <p:nvPr/>
        </p:nvSpPr>
        <p:spPr>
          <a:xfrm>
            <a:off x="1005840" y="1367028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That one was </a:t>
            </a:r>
            <a:r>
              <a:rPr sz="1520" b="0" i="0">
                <a:solidFill>
                  <a:srgbClr val="007C85"/>
                </a:solidFill>
                <a:latin typeface="Consolas"/>
              </a:rPr>
              <a:t>LANGUAGE sql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— a single expression, no procedural logic needed. </a:t>
            </a:r>
            <a:r>
              <a:rPr sz="1520" b="0" i="0">
                <a:solidFill>
                  <a:srgbClr val="007C85"/>
                </a:solidFill>
                <a:latin typeface="Consolas"/>
              </a:rPr>
              <a:t>IMMUTABLE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promises the same input always gives the same output, which lets the planner cache and even index it.</a:t>
            </a:r>
          </a:p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For anything with variables or branching, use </a:t>
            </a:r>
            <a:r>
              <a:rPr sz="1520" b="0" i="0">
                <a:solidFill>
                  <a:srgbClr val="007C85"/>
                </a:solidFill>
                <a:latin typeface="Consolas"/>
              </a:rPr>
              <a:t>LANGUAGE plpgsql</a:t>
            </a:r>
            <a:r>
              <a:rPr sz="1600" b="0" i="0">
                <a:solidFill>
                  <a:srgbClr val="000000"/>
                </a:solidFill>
                <a:latin typeface="Arial"/>
              </a:rPr>
              <a:t>:</a:t>
            </a:r>
          </a:p>
        </p:txBody>
      </p:sp>
      <p:pic>
        <p:nvPicPr>
          <p:cNvPr id="15" name="Picture 14" descr="CREATE OR REPLACE FUNCTION track_count(artist_name text)&#10;RETURNS integer&#10;LANGUAGE plpgsql&#10;AS $$&#10;DECLARE&#10;    result integer;&#10;BEGIN&#10;    SELECT count(*)&#10;      INTO result&#10;      FROM artists AS a&#10;      JOIN track_artists AS ta ON ta.artist_id = a.id&#10;     WHERE a.name = artist_name;&#10;&#10;    RETURN result;&#10;END;&#10;$$;&#10;&#10;SELECT track_count('David Bowie') AS bowie,&#10;       track_count('Bob Dylan')   AS dylan,&#10;       track_count('Nobody')      AS nobody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464308"/>
            <a:ext cx="10332720" cy="2981829"/>
          </a:xfrm>
          <a:prstGeom prst="rect">
            <a:avLst/>
          </a:prstGeom>
        </p:spPr>
      </p:pic>
      <p:pic>
        <p:nvPicPr>
          <p:cNvPr id="16" name="Picture 15" descr="CREATE OR REPLACE FUNCTION track_count(artist_name text)&#10;RETURNS integer&#10;LANGUAGE plpgsql&#10;AS $$&#10;DECLARE&#10;    result integer;&#10;BEGIN&#10;    SELECT count(*)&#10;      INTO result&#10;      FROM artists AS a&#10;      JOIN track_artists AS ta ON ta.artist_id = a.id&#10;     WHERE a.name = artist_name;&#10;&#10;    RETURN result;&#10;END;&#10;$$;&#10;&#10;SELECT track_count('David Bowie') AS bowie,&#10;       track_count('Bob Dylan')   AS dylan,&#10;       track_count('Nobody')      AS nobody;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674737"/>
            <a:ext cx="1759065" cy="715067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2.3 PROCEDURES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A function</a:t>
            </a:r>
          </a:p>
        </p:txBody>
      </p:sp>
      <p:sp>
        <p:nvSpPr>
          <p:cNvPr id="14" name="Lead"/>
          <p:cNvSpPr txBox="1"/>
          <p:nvPr/>
        </p:nvSpPr>
        <p:spPr>
          <a:xfrm>
            <a:off x="1005840" y="1367028"/>
            <a:ext cx="10332720" cy="6705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Because a function returns a value, it can be used anywhere a value is expected — including inside another query:</a:t>
            </a:r>
          </a:p>
        </p:txBody>
      </p:sp>
      <p:pic>
        <p:nvPicPr>
          <p:cNvPr id="15" name="Picture 14" descr="SELECT name, track_count(name) AS tracks&#10;  FROM artists&#10; ORDER BY followers DESC&#10; LIMIT 5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129028"/>
            <a:ext cx="5524500" cy="1543050"/>
          </a:xfrm>
          <a:prstGeom prst="rect">
            <a:avLst/>
          </a:prstGeom>
        </p:spPr>
      </p:pic>
      <p:pic>
        <p:nvPicPr>
          <p:cNvPr id="16" name="Picture 15" descr="SELECT name, track_count(name) AS tracks&#10;  FROM artists&#10; ORDER BY followers DESC&#10; LIMIT 5;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900678"/>
            <a:ext cx="2190750" cy="2390775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close-up of a bunch of paint brushes&#10;&#10;AI-generated content may be incorrect.">
            <a:extLst>
              <a:ext uri="{FF2B5EF4-FFF2-40B4-BE49-F238E27FC236}">
                <a16:creationId xmlns:a16="http://schemas.microsoft.com/office/drawing/2014/main" id="{34B42168-D1AC-F5B4-26AE-D6D4372602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603504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2.3 PROCEDURES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603504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A function</a:t>
            </a:r>
          </a:p>
        </p:txBody>
      </p:sp>
      <p:sp>
        <p:nvSpPr>
          <p:cNvPr id="14" name="Body"/>
          <p:cNvSpPr txBox="1"/>
          <p:nvPr/>
        </p:nvSpPr>
        <p:spPr>
          <a:xfrm>
            <a:off x="1005840" y="2057400"/>
            <a:ext cx="6766560" cy="42976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marL="274320">
              <a:spcBef>
                <a:spcPts val="600"/>
              </a:spcBef>
              <a:spcAft>
                <a:spcPts val="810"/>
              </a:spcAft>
            </a:pPr>
            <a:r>
              <a:rPr sz="1700" b="0" i="0">
                <a:solidFill>
                  <a:srgbClr val="007C85"/>
                </a:solidFill>
                <a:latin typeface="Arial"/>
              </a:rPr>
              <a:t>💡 That query is elegant and slow: the function runs once per row, each time executing its own join. A single </a:t>
            </a:r>
            <a:r>
              <a:rPr sz="1614" b="0" i="0">
                <a:solidFill>
                  <a:srgbClr val="007C85"/>
                </a:solidFill>
                <a:latin typeface="Consolas"/>
              </a:rPr>
              <a:t>GROUP BY</a:t>
            </a:r>
            <a:r>
              <a:rPr sz="1700" b="0" i="0">
                <a:solidFill>
                  <a:srgbClr val="007C85"/>
                </a:solidFill>
                <a:latin typeface="Arial"/>
              </a:rPr>
              <a:t> would do the same work in one pass. Convenience and performance pull in opposite directions here — Lecture 3 returns to the theme.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close-up of a bunch of paint brushes&#10;&#10;AI-generated content may be incorrect.">
            <a:extLst>
              <a:ext uri="{FF2B5EF4-FFF2-40B4-BE49-F238E27FC236}">
                <a16:creationId xmlns:a16="http://schemas.microsoft.com/office/drawing/2014/main" id="{34B42168-D1AC-F5B4-26AE-D6D4372602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603504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2.3 PROCEDURES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603504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A function</a:t>
            </a:r>
          </a:p>
        </p:txBody>
      </p:sp>
      <p:sp>
        <p:nvSpPr>
          <p:cNvPr id="14" name="Body"/>
          <p:cNvSpPr txBox="1"/>
          <p:nvPr/>
        </p:nvSpPr>
        <p:spPr>
          <a:xfrm>
            <a:off x="1005840" y="2057400"/>
            <a:ext cx="6766560" cy="42976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81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Note the structure, which is the same for every PL/pgSQL routine: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709" b="0" i="0">
                <a:solidFill>
                  <a:srgbClr val="007C85"/>
                </a:solidFill>
                <a:latin typeface="Consolas"/>
              </a:rPr>
              <a:t>$$ … $$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— </a:t>
            </a:r>
            <a:r>
              <a:rPr sz="1800" b="1" i="0">
                <a:solidFill>
                  <a:srgbClr val="000000"/>
                </a:solidFill>
                <a:latin typeface="Arial"/>
              </a:rPr>
              <a:t>dollar quoting</a:t>
            </a:r>
            <a:r>
              <a:rPr sz="1800" b="0" i="0">
                <a:solidFill>
                  <a:srgbClr val="000000"/>
                </a:solidFill>
                <a:latin typeface="Arial"/>
              </a:rPr>
              <a:t>. The body is a string; dollar quoting saves you from escaping every quote inside it.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709" b="0" i="0">
                <a:solidFill>
                  <a:srgbClr val="007C85"/>
                </a:solidFill>
                <a:latin typeface="Consolas"/>
              </a:rPr>
              <a:t>DECLARE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— the block where local variables are declared.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709" b="0" i="0">
                <a:solidFill>
                  <a:srgbClr val="007C85"/>
                </a:solidFill>
                <a:latin typeface="Consolas"/>
              </a:rPr>
              <a:t>BEGIN … END;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— the executable block. (This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BEGIN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is a block delimiter, not the transaction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BEGIN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from §2.1.)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2.3 PROCEDURES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A procedure</a:t>
            </a:r>
          </a:p>
        </p:txBody>
      </p:sp>
      <p:sp>
        <p:nvSpPr>
          <p:cNvPr id="14" name="Lead"/>
          <p:cNvSpPr txBox="1"/>
          <p:nvPr/>
        </p:nvSpPr>
        <p:spPr>
          <a:xfrm>
            <a:off x="1005840" y="1367028"/>
            <a:ext cx="10332720" cy="4267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A procedure performs an action. Rebuilding a summary table:</a:t>
            </a:r>
          </a:p>
        </p:txBody>
      </p:sp>
      <p:pic>
        <p:nvPicPr>
          <p:cNvPr id="15" name="Picture 14" descr="CREATE TABLE decade_summary (&#10;    decade         int PRIMARY KEY,&#10;    tracks         int NOT NULL,&#10;    avg_popularity numeric(5,2)&#10;);&#10;&#10;CREATE OR REPLACE PROCEDURE rebuild_decade_summary()&#10;LANGUAGE plpgsql&#10;AS $$&#10;DECLARE&#10;    affected integer;&#10;BEGIN&#10;    DELETE FROM decade_summary;&#10;&#10;    INSERT INTO decade_summary (decade, tracks, avg_popularity)&#10;    SELECT decade_of(release_date),&#10;           count(*),&#10;           round(avg(popularity), 2)&#10;      FROM tracks&#10;     GROUP BY 1;&#10;&#10;    GET DIAGNOSTICS affected = ROW_COUNT;&#10;&#10;    RAISE NOTICE 'decade_summary rebuilt with % rows', affected;&#10;END;&#10;$$;&#10;&#10;CALL rebuild_decade_summary();&#10;&#10;SELECT * FROM decade_summary ORDER BY decade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885187"/>
            <a:ext cx="10332720" cy="3392275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2.3 PROCEDURES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A procedure</a:t>
            </a:r>
          </a:p>
        </p:txBody>
      </p:sp>
      <p:pic>
        <p:nvPicPr>
          <p:cNvPr id="14" name="Picture 13" descr="CREATE TABLE decade_summary (&#10;    decade         int PRIMARY KEY,&#10;    tracks         int NOT NULL,&#10;    avg_popularity numeric(5,2)&#10;);&#10;&#10;CREATE OR REPLACE PROCEDURE rebuild_decade_summary()&#10;LANGUAGE plpgsql&#10;AS $$&#10;DECLARE&#10;    affected integer;&#10;BEGIN&#10;    DELETE FROM decade_summary;&#10;&#10;    INSERT INTO decade_summary (decade, tracks, avg_popularity)&#10;    SELECT decade_of(release_date),&#10;           count(*),&#10;           round(avg(popularity), 2)&#10;      FROM tracks&#10;     GROUP BY 1;&#10;&#10;    GET DIAGNOSTICS affected = ROW_COUNT;&#10;&#10;    RAISE NOTICE 'decade_summary rebuilt with % rows', affected;&#10;END;&#10;$$;&#10;&#10;CALL rebuild_decade_summary();&#10;&#10;SELECT * FROM decade_summary ORDER BY decade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367028"/>
            <a:ext cx="3152775" cy="490537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close-up of a bunch of paint brushes&#10;&#10;AI-generated content may be incorrect.">
            <a:extLst>
              <a:ext uri="{FF2B5EF4-FFF2-40B4-BE49-F238E27FC236}">
                <a16:creationId xmlns:a16="http://schemas.microsoft.com/office/drawing/2014/main" id="{34B42168-D1AC-F5B4-26AE-D6D4372602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603504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2.3 PROCEDURES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603504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A procedure</a:t>
            </a:r>
          </a:p>
        </p:txBody>
      </p:sp>
      <p:sp>
        <p:nvSpPr>
          <p:cNvPr id="14" name="Body"/>
          <p:cNvSpPr txBox="1"/>
          <p:nvPr/>
        </p:nvSpPr>
        <p:spPr>
          <a:xfrm>
            <a:off x="1005840" y="2057400"/>
            <a:ext cx="6766560" cy="42976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810"/>
              </a:spcAft>
            </a:pPr>
            <a:r>
              <a:rPr sz="1709" b="0" i="0">
                <a:solidFill>
                  <a:srgbClr val="007C85"/>
                </a:solidFill>
                <a:latin typeface="Consolas"/>
              </a:rPr>
              <a:t>GET DIAGNOSTICS … = ROW_COUNT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reads how many rows the previous statement touched;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RAISE NOTICE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prints a message to the client — the closest thing PL/pgSQL has to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print</a:t>
            </a:r>
            <a:r>
              <a:rPr sz="1800" b="0" i="0">
                <a:solidFill>
                  <a:srgbClr val="000000"/>
                </a:solidFill>
                <a:latin typeface="Arial"/>
              </a:rPr>
              <a:t>. The playground shows notices above the result grid.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2.3 PROCEDURES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Parameters</a:t>
            </a:r>
          </a:p>
        </p:txBody>
      </p:sp>
      <p:sp>
        <p:nvSpPr>
          <p:cNvPr id="14" name="Lead"/>
          <p:cNvSpPr txBox="1"/>
          <p:nvPr/>
        </p:nvSpPr>
        <p:spPr>
          <a:xfrm>
            <a:off x="1005840" y="1367028"/>
            <a:ext cx="10332720" cy="4267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Parameters have three modes:</a:t>
            </a:r>
          </a:p>
        </p:txBody>
      </p:sp>
      <p:pic>
        <p:nvPicPr>
          <p:cNvPr id="15" name="Picture 14" descr="-- a working copy, so the demo leaves the catalogue alone&#10;CREATE TABLE tracks_pool AS&#10;SELECT id, name, popularity FROM tracks;&#10;&#10;CREATE OR REPLACE PROCEDURE archive_unpopular(&#10;    IN    threshold integer DEFAULT 5,&#10;    INOUT moved     integer DEFAULT 0&#10;)&#10;LANGUAGE plpgsql&#10;AS $$&#10;BEGIN&#10;    CREATE TABLE IF NOT EXISTS tracks_archive (LIKE tracks_pool);&#10;&#10;    WITH moved_rows AS (&#10;        DELETE FROM tracks_pool&#10;         WHERE popularity &lt; threshold&#10;        RETURNING *&#10;    )&#10;    INSERT INTO tracks_archive SELECT * FROM moved_rows;&#10;&#10;    GET DIAGNOSTICS moved = ROW_COUNT;&#10;END;&#10;$$;&#10;&#10;CALL archive_unpopular(1, NULL)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885187"/>
            <a:ext cx="10332720" cy="2500722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2.3 PROCEDURES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Parameters</a:t>
            </a:r>
          </a:p>
        </p:txBody>
      </p:sp>
      <p:pic>
        <p:nvPicPr>
          <p:cNvPr id="14" name="Picture 13" descr="-- a working copy, so the demo leaves the catalogue alone&#10;CREATE TABLE tracks_pool AS&#10;SELECT id, name, popularity FROM tracks;&#10;&#10;CREATE OR REPLACE PROCEDURE archive_unpopular(&#10;    IN    threshold integer DEFAULT 5,&#10;    INOUT moved     integer DEFAULT 0&#10;)&#10;LANGUAGE plpgsql&#10;AS $$&#10;BEGIN&#10;    CREATE TABLE IF NOT EXISTS tracks_archive (LIKE tracks_pool);&#10;&#10;    WITH moved_rows AS (&#10;        DELETE FROM tracks_pool&#10;         WHERE popularity &lt; threshold&#10;        RETURNING *&#10;    )&#10;    INSERT INTO tracks_archive SELECT * FROM moved_rows;&#10;&#10;    GET DIAGNOSTICS moved = ROW_COUNT;&#10;END;&#10;$$;&#10;&#10;CALL archive_unpopular(1, NULL)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367028"/>
            <a:ext cx="828675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2.3 PROCEDURES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Parameters</a:t>
            </a:r>
          </a:p>
        </p:txBody>
      </p:sp>
      <p:sp>
        <p:nvSpPr>
          <p:cNvPr id="14" name="Lead"/>
          <p:cNvSpPr txBox="1"/>
          <p:nvPr/>
        </p:nvSpPr>
        <p:spPr>
          <a:xfrm>
            <a:off x="1005840" y="1367028"/>
            <a:ext cx="10332720" cy="16764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marL="292608" indent="-292608">
              <a:spcAft>
                <a:spcPts val="720"/>
              </a:spcAft>
              <a:buFont typeface="Arial"/>
              <a:buChar char="•"/>
            </a:pPr>
            <a:r>
              <a:rPr sz="1520" b="0" i="0">
                <a:solidFill>
                  <a:srgbClr val="007C85"/>
                </a:solidFill>
                <a:latin typeface="Consolas"/>
              </a:rPr>
              <a:t>IN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(the default) — an input parameter;</a:t>
            </a:r>
          </a:p>
          <a:p>
            <a:pPr marL="292608" indent="-292608">
              <a:spcAft>
                <a:spcPts val="720"/>
              </a:spcAft>
              <a:buFont typeface="Arial"/>
              <a:buChar char="•"/>
            </a:pPr>
            <a:r>
              <a:rPr sz="1520" b="0" i="0">
                <a:solidFill>
                  <a:srgbClr val="007C85"/>
                </a:solidFill>
                <a:latin typeface="Consolas"/>
              </a:rPr>
              <a:t>OUT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— an output parameter;</a:t>
            </a:r>
          </a:p>
          <a:p>
            <a:pPr marL="292608" indent="-292608">
              <a:spcAft>
                <a:spcPts val="720"/>
              </a:spcAft>
              <a:buFont typeface="Arial"/>
              <a:buChar char="•"/>
            </a:pPr>
            <a:r>
              <a:rPr sz="1520" b="0" i="0">
                <a:solidFill>
                  <a:srgbClr val="007C85"/>
                </a:solidFill>
                <a:latin typeface="Consolas"/>
              </a:rPr>
              <a:t>INOUT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— both; this is how a procedure returns anything at all.</a:t>
            </a:r>
          </a:p>
          <a:p>
            <a:pPr>
              <a:spcAft>
                <a:spcPts val="720"/>
              </a:spcAft>
            </a:pPr>
            <a:r>
              <a:rPr sz="1520" b="0" i="0">
                <a:solidFill>
                  <a:srgbClr val="007C85"/>
                </a:solidFill>
                <a:latin typeface="Consolas"/>
              </a:rPr>
              <a:t>CALL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on a procedure with an </a:t>
            </a:r>
            <a:r>
              <a:rPr sz="1520" b="0" i="0">
                <a:solidFill>
                  <a:srgbClr val="007C85"/>
                </a:solidFill>
                <a:latin typeface="Consolas"/>
              </a:rPr>
              <a:t>INOUT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parameter returns a row, which is why the result above has a column. Check what it did:</a:t>
            </a:r>
          </a:p>
        </p:txBody>
      </p:sp>
      <p:pic>
        <p:nvPicPr>
          <p:cNvPr id="15" name="Picture 14" descr="SELECT (SELECT count(*) FROM tracks_pool)    AS left_in_pool,&#10;       (SELECT count(*) FROM tracks_archive) AS archived,&#10;       (SELECT count(*) FROM tracks)         AS catalogue_untouched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34868"/>
            <a:ext cx="9058275" cy="1238250"/>
          </a:xfrm>
          <a:prstGeom prst="rect">
            <a:avLst/>
          </a:prstGeom>
        </p:spPr>
      </p:pic>
      <p:pic>
        <p:nvPicPr>
          <p:cNvPr id="16" name="Picture 15" descr="SELECT (SELECT count(*) FROM tracks_pool)    AS left_in_pool,&#10;       (SELECT count(*) FROM tracks_archive) AS archived,&#10;       (SELECT count(*) FROM tracks)         AS catalogue_untouched;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601718"/>
            <a:ext cx="4333875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close-up of a bunch of paint brushes&#10;&#10;AI-generated content may be incorrect.">
            <a:extLst>
              <a:ext uri="{FF2B5EF4-FFF2-40B4-BE49-F238E27FC236}">
                <a16:creationId xmlns:a16="http://schemas.microsoft.com/office/drawing/2014/main" id="{34B42168-D1AC-F5B4-26AE-D6D4372602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603504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2.3 PROCEDURES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603504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Parameters</a:t>
            </a:r>
          </a:p>
        </p:txBody>
      </p:sp>
      <p:sp>
        <p:nvSpPr>
          <p:cNvPr id="14" name="Body"/>
          <p:cNvSpPr txBox="1"/>
          <p:nvPr/>
        </p:nvSpPr>
        <p:spPr>
          <a:xfrm>
            <a:off x="1005840" y="2057400"/>
            <a:ext cx="6766560" cy="42976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810"/>
              </a:spcAft>
            </a:pPr>
            <a:r>
              <a:rPr sz="1709" b="0" i="0">
                <a:solidFill>
                  <a:srgbClr val="007C85"/>
                </a:solidFill>
                <a:latin typeface="Consolas"/>
              </a:rPr>
              <a:t>DELETE … RETURNING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feeding an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INSERT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through a CTE is the idiomatic way to move rows between tables in one statement — atomic, and a single pass.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2.3 PROCEDURES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Control flow</a:t>
            </a:r>
          </a:p>
        </p:txBody>
      </p:sp>
      <p:sp>
        <p:nvSpPr>
          <p:cNvPr id="14" name="Lead"/>
          <p:cNvSpPr txBox="1"/>
          <p:nvPr/>
        </p:nvSpPr>
        <p:spPr>
          <a:xfrm>
            <a:off x="1005840" y="1367028"/>
            <a:ext cx="10332720" cy="4267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Conditions:</a:t>
            </a:r>
          </a:p>
        </p:txBody>
      </p:sp>
      <p:pic>
        <p:nvPicPr>
          <p:cNvPr id="15" name="Picture 14" descr="IF track_cnt &gt; 100 THEN&#10;    RAISE NOTICE 'prolific';&#10;ELSIF track_cnt &gt; 10 THEN&#10;    RAISE NOTICE 'established';&#10;ELSE&#10;    RAISE NOTICE 'occasional';&#10;END IF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885187"/>
            <a:ext cx="4391025" cy="2447925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2.3 PROCEDURES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Control flow</a:t>
            </a:r>
          </a:p>
        </p:txBody>
      </p:sp>
      <p:sp>
        <p:nvSpPr>
          <p:cNvPr id="14" name="Lead"/>
          <p:cNvSpPr txBox="1"/>
          <p:nvPr/>
        </p:nvSpPr>
        <p:spPr>
          <a:xfrm>
            <a:off x="1005840" y="1367028"/>
            <a:ext cx="10332720" cy="4267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Loops:</a:t>
            </a:r>
          </a:p>
        </p:txBody>
      </p:sp>
      <p:pic>
        <p:nvPicPr>
          <p:cNvPr id="15" name="Picture 14" descr="-- a counted loop&#10;FOR i IN 1..5 LOOP&#10;    RAISE NOTICE 'decade %', 1960 + i * 10;&#10;END LOOP;&#10;&#10;-- a loop over the rows of a query&#10;FOR rec IN SELECT name, popularity FROM tracks LIMIT 10 LOOP&#10;    RAISE NOTICE '% scores %', rec.name, rec.popularity;&#10;END LOOP;&#10;&#10;-- a conditional loop&#10;WHILE cnt &lt; 10 LOOP&#10;    cnt := cnt + 1;&#10;END LOOP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885187"/>
            <a:ext cx="804862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2.3 PROCEDURES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Control flow</a:t>
            </a:r>
          </a:p>
        </p:txBody>
      </p:sp>
      <p:sp>
        <p:nvSpPr>
          <p:cNvPr id="14" name="Lead"/>
          <p:cNvSpPr txBox="1"/>
          <p:nvPr/>
        </p:nvSpPr>
        <p:spPr>
          <a:xfrm>
            <a:off x="1005840" y="1367028"/>
            <a:ext cx="10332720" cy="4267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All three, in a routine that classifies artists:</a:t>
            </a:r>
          </a:p>
        </p:txBody>
      </p:sp>
      <p:pic>
        <p:nvPicPr>
          <p:cNvPr id="15" name="Picture 14" descr="CREATE OR REPLACE FUNCTION artist_tier(artist_name text)&#10;RETURNS text&#10;LANGUAGE plpgsql&#10;AS $$&#10;DECLARE&#10;    cnt integer;&#10;BEGIN&#10;    cnt := track_count(artist_name);&#10;&#10;    IF cnt = 0 THEN&#10;        RETURN 'unknown artist';&#10;    ELSIF cnt &gt; 100 THEN&#10;        RETURN 'prolific';&#10;    ELSIF cnt &gt; 10 THEN&#10;        RETURN 'established';&#10;    ELSE&#10;        RETURN 'occasional';&#10;    END IF;&#10;END;&#10;$$;&#10;&#10;SELECT name, track_count(name) AS tracks, artist_tier(name) AS tier&#10;  FROM artists&#10; WHERE name IN ('David Bowie', 'Bob Dylan', 'Johann Sebastian Bach', 'Nobody At All')&#10; ORDER BY tracks DESC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885187"/>
            <a:ext cx="6487376" cy="4584192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2.3 PROCEDURES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Control flow</a:t>
            </a:r>
          </a:p>
        </p:txBody>
      </p:sp>
      <p:pic>
        <p:nvPicPr>
          <p:cNvPr id="14" name="Picture 13" descr="CREATE OR REPLACE FUNCTION artist_tier(artist_name text)&#10;RETURNS text&#10;LANGUAGE plpgsql&#10;AS $$&#10;DECLARE&#10;    cnt integer;&#10;BEGIN&#10;    cnt := track_count(artist_name);&#10;&#10;    IF cnt = 0 THEN&#10;        RETURN 'unknown artist';&#10;    ELSIF cnt &gt; 100 THEN&#10;        RETURN 'prolific';&#10;    ELSIF cnt &gt; 10 THEN&#10;        RETURN 'established';&#10;    ELSE&#10;        RETURN 'occasional';&#10;    END IF;&#10;END;&#10;$$;&#10;&#10;SELECT name, track_count(name) AS tracks, artist_tier(name) AS tier&#10;  FROM artists&#10; WHERE name IN ('David Bowie', 'Bob Dylan', 'Johann Sebastian Bach', 'Nobody At All')&#10; ORDER BY tracks DESC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367028"/>
            <a:ext cx="4067175" cy="1676400"/>
          </a:xfrm>
          <a:prstGeom prst="rect">
            <a:avLst/>
          </a:prstGeom>
        </p:spPr>
      </p:pic>
      <p:sp>
        <p:nvSpPr>
          <p:cNvPr id="15" name="Note"/>
          <p:cNvSpPr txBox="1"/>
          <p:nvPr/>
        </p:nvSpPr>
        <p:spPr>
          <a:xfrm>
            <a:off x="1005840" y="3272028"/>
            <a:ext cx="10332720" cy="11430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marL="274320">
              <a:spcBef>
                <a:spcPts val="600"/>
              </a:spcBef>
              <a:spcAft>
                <a:spcPts val="720"/>
              </a:spcAft>
            </a:pPr>
            <a:r>
              <a:rPr sz="1500" b="0" i="0">
                <a:solidFill>
                  <a:srgbClr val="007C85"/>
                </a:solidFill>
                <a:latin typeface="Arial"/>
              </a:rPr>
              <a:t>💡 Row-by-row loops are the slowest way to work with a relational database. If the same result can be expressed as a single set-based </a:t>
            </a:r>
            <a:r>
              <a:rPr sz="1425" b="0" i="0">
                <a:solidFill>
                  <a:srgbClr val="007C85"/>
                </a:solidFill>
                <a:latin typeface="Consolas"/>
              </a:rPr>
              <a:t>UPDATE</a:t>
            </a:r>
            <a:r>
              <a:rPr sz="1500" b="0" i="0">
                <a:solidFill>
                  <a:srgbClr val="007C85"/>
                </a:solidFill>
                <a:latin typeface="Arial"/>
              </a:rPr>
              <a:t> or </a:t>
            </a:r>
            <a:r>
              <a:rPr sz="1425" b="0" i="0">
                <a:solidFill>
                  <a:srgbClr val="007C85"/>
                </a:solidFill>
                <a:latin typeface="Consolas"/>
              </a:rPr>
              <a:t>INSERT … SELECT</a:t>
            </a:r>
            <a:r>
              <a:rPr sz="1500" b="0" i="0">
                <a:solidFill>
                  <a:srgbClr val="007C85"/>
                </a:solidFill>
                <a:latin typeface="Arial"/>
              </a:rPr>
              <a:t>, write that instead — the loop is for the cases where it genuinely cannot.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2.3 PROCEDURES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Error handling</a:t>
            </a:r>
          </a:p>
        </p:txBody>
      </p:sp>
      <p:sp>
        <p:nvSpPr>
          <p:cNvPr id="14" name="Lead"/>
          <p:cNvSpPr txBox="1"/>
          <p:nvPr/>
        </p:nvSpPr>
        <p:spPr>
          <a:xfrm>
            <a:off x="1005840" y="1367028"/>
            <a:ext cx="10332720" cy="6705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An </a:t>
            </a:r>
            <a:r>
              <a:rPr sz="1520" b="0" i="0">
                <a:solidFill>
                  <a:srgbClr val="007C85"/>
                </a:solidFill>
                <a:latin typeface="Consolas"/>
              </a:rPr>
              <a:t>EXCEPTION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block catches errors so that a routine can continue instead of aborting the whole transaction:</a:t>
            </a:r>
          </a:p>
        </p:txBody>
      </p:sp>
      <p:pic>
        <p:nvPicPr>
          <p:cNvPr id="15" name="Picture 14" descr="CREATE OR REPLACE FUNCTION safe_add_playlist(p_name text, p_owner text)&#10;RETURNS text&#10;LANGUAGE plpgsql&#10;AS $$&#10;BEGIN&#10;    INSERT INTO playlists (name, owner) VALUES (p_name, p_owner);&#10;    RETURN 'created';&#10;EXCEPTION&#10;    WHEN unique_violation THEN&#10;        RETURN 'already exists, skipped';&#10;    WHEN others THEN&#10;        RETURN 'unexpected error: ' || SQLERRM;&#10;END;&#10;$$;&#10;&#10;SELECT safe_add_playlist('Brand New Mix', 'denis')    AS first_call,&#10;       safe_add_playlist('Brand New Mix', 'denis')    AS second_call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129028"/>
            <a:ext cx="7467515" cy="4340352"/>
          </a:xfrm>
          <a:prstGeom prst="rect">
            <a:avLst/>
          </a:prstGeom>
        </p:spPr>
      </p:pic>
      <p:pic>
        <p:nvPicPr>
          <p:cNvPr id="16" name="Picture 15" descr="CREATE OR REPLACE FUNCTION safe_add_playlist(p_name text, p_owner text)&#10;RETURNS text&#10;LANGUAGE plpgsql&#10;AS $$&#10;BEGIN&#10;    INSERT INTO playlists (name, owner) VALUES (p_name, p_owner);&#10;    RETURN 'created';&#10;EXCEPTION&#10;    WHEN unique_violation THEN&#10;        RETURN 'already exists, skipped';&#10;    WHEN others THEN&#10;        RETURN 'unexpected error: ' || SQLERRM;&#10;END;&#10;$$;&#10;&#10;SELECT safe_add_playlist('Brand New Mix', 'denis')    AS first_call,&#10;       safe_add_playlist('Brand New Mix', 'denis')    AS second_call;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1955" y="2129028"/>
            <a:ext cx="2411306" cy="753533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close-up of a bunch of paint brushes&#10;&#10;AI-generated content may be incorrect.">
            <a:extLst>
              <a:ext uri="{FF2B5EF4-FFF2-40B4-BE49-F238E27FC236}">
                <a16:creationId xmlns:a16="http://schemas.microsoft.com/office/drawing/2014/main" id="{34B42168-D1AC-F5B4-26AE-D6D4372602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603504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2.3 PROCEDURES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603504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Error handling</a:t>
            </a:r>
          </a:p>
        </p:txBody>
      </p:sp>
      <p:sp>
        <p:nvSpPr>
          <p:cNvPr id="14" name="Body"/>
          <p:cNvSpPr txBox="1"/>
          <p:nvPr/>
        </p:nvSpPr>
        <p:spPr>
          <a:xfrm>
            <a:off x="1005840" y="2057400"/>
            <a:ext cx="6766560" cy="42976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81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The second call hit the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UNIQUE (name, owner)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constraint from §2.1 and was caught instead of blowing up.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SQLERRM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holds the error message,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SQLSTATE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the error code.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2.3 PROCEDURES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Dropping a routine</a:t>
            </a:r>
          </a:p>
        </p:txBody>
      </p:sp>
      <p:pic>
        <p:nvPicPr>
          <p:cNvPr id="14" name="Picture 13" descr="DROP FUNCTION safe_add_playlist(text, text);&#10;&#10;SELECT count(*) AS still_there&#10;  FROM information_schema.routines&#10; WHERE routine_name = 'safe_add_playlist'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367028"/>
            <a:ext cx="6029325" cy="1838324"/>
          </a:xfrm>
          <a:prstGeom prst="rect">
            <a:avLst/>
          </a:prstGeom>
        </p:spPr>
      </p:pic>
      <p:pic>
        <p:nvPicPr>
          <p:cNvPr id="15" name="Picture 14" descr="DROP FUNCTION safe_add_playlist(text, text);&#10;&#10;SELECT count(*) AS still_there&#10;  FROM information_schema.routines&#10; WHERE routine_name = 'safe_add_playlist';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433952"/>
            <a:ext cx="1104900" cy="952500"/>
          </a:xfrm>
          <a:prstGeom prst="rect">
            <a:avLst/>
          </a:prstGeom>
        </p:spPr>
      </p:pic>
      <p:sp>
        <p:nvSpPr>
          <p:cNvPr id="16" name="Note"/>
          <p:cNvSpPr txBox="1"/>
          <p:nvPr/>
        </p:nvSpPr>
        <p:spPr>
          <a:xfrm>
            <a:off x="1005840" y="4615053"/>
            <a:ext cx="10332720" cy="6705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The argument types are part of the identity of a routine — PostgreSQL allows overloading, so </a:t>
            </a:r>
            <a:r>
              <a:rPr sz="1520" b="0" i="0">
                <a:solidFill>
                  <a:srgbClr val="007C85"/>
                </a:solidFill>
                <a:latin typeface="Consolas"/>
              </a:rPr>
              <a:t>DROP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needs the signature, not just the name.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Content Placeholder 4" descr="A close-up of a colorful object&#10;&#10;AI-generated content may be incorrect.">
            <a:extLst>
              <a:ext uri="{FF2B5EF4-FFF2-40B4-BE49-F238E27FC236}">
                <a16:creationId xmlns:a16="http://schemas.microsoft.com/office/drawing/2014/main" id="{94BE2C03-EF74-F5AD-32D8-416E363868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10" name="Picture 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665C1B3-FAA8-E5C8-582A-771B8F2A5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6498" y="198723"/>
            <a:ext cx="332804" cy="332804"/>
          </a:xfrm>
          <a:prstGeom prst="rect">
            <a:avLst/>
          </a:prstGeom>
        </p:spPr>
      </p:pic>
      <p:sp>
        <p:nvSpPr>
          <p:cNvPr id="11" name="Title"/>
          <p:cNvSpPr txBox="1"/>
          <p:nvPr/>
        </p:nvSpPr>
        <p:spPr>
          <a:xfrm>
            <a:off x="6035040" y="685800"/>
            <a:ext cx="5394960" cy="146304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4000" b="1" i="0">
                <a:solidFill>
                  <a:srgbClr val="000000"/>
                </a:solidFill>
                <a:latin typeface="Arial"/>
              </a:rPr>
              <a:t>2.4 Variables</a:t>
            </a:r>
          </a:p>
        </p:txBody>
      </p:sp>
      <p:sp>
        <p:nvSpPr>
          <p:cNvPr id="12" name="Body"/>
          <p:cNvSpPr txBox="1"/>
          <p:nvPr/>
        </p:nvSpPr>
        <p:spPr>
          <a:xfrm>
            <a:off x="6035040" y="1635759"/>
            <a:ext cx="5394960" cy="47193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81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There are two quite different things called "variables" in PostgreSQL. Do not mix them up.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Arial"/>
              </a:rPr>
              <a:t>1. Variables inside PL/pgSQL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Arial"/>
              </a:rPr>
              <a:t>An anonymous block: DO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Arial"/>
              </a:rPr>
              <a:t>2. Session variables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Arial"/>
              </a:rPr>
              <a:t>3. psql client variables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Arial"/>
              </a:rPr>
              <a:t>Which one to use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2.4 VARIABLES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1. Variables inside PL/pgSQL</a:t>
            </a:r>
          </a:p>
        </p:txBody>
      </p:sp>
      <p:sp>
        <p:nvSpPr>
          <p:cNvPr id="14" name="Lead"/>
          <p:cNvSpPr txBox="1"/>
          <p:nvPr/>
        </p:nvSpPr>
        <p:spPr>
          <a:xfrm>
            <a:off x="1005840" y="1367028"/>
            <a:ext cx="10332720" cy="6705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Declared in the </a:t>
            </a:r>
            <a:r>
              <a:rPr sz="1520" b="0" i="0">
                <a:solidFill>
                  <a:srgbClr val="007C85"/>
                </a:solidFill>
                <a:latin typeface="Consolas"/>
              </a:rPr>
              <a:t>DECLARE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block of a function, procedure or anonymous block, and living only for the duration of the call.</a:t>
            </a:r>
          </a:p>
        </p:txBody>
      </p:sp>
      <p:pic>
        <p:nvPicPr>
          <p:cNvPr id="15" name="Picture 14" descr="DECLARE&#10;    track_cnt   integer;                      -- no initial value → NULL&#10;    threshold   integer := 10;                -- with an initial value&#10;    label       text    := 'prolific';&#10;    decade      constant int := 1970;         -- cannot be reassigned&#10;    rec         record;                       -- a row of any shape&#10;    t           tracks%ROWTYPE;               -- a row of the tracks table&#10;    nm          tracks.name%TYPE;             -- the type of one column&#10;BEGIN&#10;    ...&#10;END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129028"/>
            <a:ext cx="9810750" cy="3667125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2.4 VARIABLES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1. Variables inside PL/pgSQL</a:t>
            </a:r>
          </a:p>
        </p:txBody>
      </p:sp>
      <p:sp>
        <p:nvSpPr>
          <p:cNvPr id="14" name="Body"/>
          <p:cNvSpPr txBox="1"/>
          <p:nvPr/>
        </p:nvSpPr>
        <p:spPr>
          <a:xfrm>
            <a:off x="1005840" y="1367028"/>
            <a:ext cx="10332720" cy="498805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81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Assignment uses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:=</a:t>
            </a:r>
            <a:r>
              <a:rPr sz="1800" b="0" i="0">
                <a:solidFill>
                  <a:srgbClr val="000000"/>
                </a:solidFill>
                <a:latin typeface="Arial"/>
              </a:rPr>
              <a:t>, and a query result is assigned with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SELECT … INTO</a:t>
            </a:r>
            <a:r>
              <a:rPr sz="1800" b="0" i="0">
                <a:solidFill>
                  <a:srgbClr val="000000"/>
                </a:solidFill>
                <a:latin typeface="Arial"/>
              </a:rPr>
              <a:t>.</a:t>
            </a:r>
          </a:p>
          <a:p>
            <a:pPr>
              <a:spcAft>
                <a:spcPts val="810"/>
              </a:spcAft>
            </a:pPr>
            <a:r>
              <a:rPr sz="1709" b="0" i="0">
                <a:solidFill>
                  <a:srgbClr val="007C85"/>
                </a:solidFill>
                <a:latin typeface="Consolas"/>
              </a:rPr>
              <a:t>%TYPE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and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%ROWTYPE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are worth the habit: they tie the variable to the column or table definition, so the code keeps working if the column type changes.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2.4 VARIABLES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An anonymous block: DO</a:t>
            </a:r>
          </a:p>
        </p:txBody>
      </p:sp>
      <p:sp>
        <p:nvSpPr>
          <p:cNvPr id="14" name="Lead"/>
          <p:cNvSpPr txBox="1"/>
          <p:nvPr/>
        </p:nvSpPr>
        <p:spPr>
          <a:xfrm>
            <a:off x="1005840" y="1367028"/>
            <a:ext cx="10332720" cy="6705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You do not have to create a routine to run PL/pgSQL. A </a:t>
            </a:r>
            <a:r>
              <a:rPr sz="1520" b="0" i="0">
                <a:solidFill>
                  <a:srgbClr val="007C85"/>
                </a:solidFill>
                <a:latin typeface="Consolas"/>
              </a:rPr>
              <a:t>DO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block executes it once, immediately — ideal for one-off maintenance scripts:</a:t>
            </a:r>
          </a:p>
        </p:txBody>
      </p:sp>
      <p:pic>
        <p:nvPicPr>
          <p:cNvPr id="15" name="Picture 14" descr="DO $$&#10;DECLARE&#10;    cutoff       constant int := 80;&#10;    hits         integer;&#10;    total        integer;&#10;    oldest       tracks%ROWTYPE;&#10;BEGIN&#10;    SELECT count(*) INTO hits  FROM tracks WHERE popularity &gt;= cutoff;&#10;    SELECT count(*) INTO total FROM tracks;&#10;&#10;    SELECT * INTO oldest FROM tracks ORDER BY release_date LIMIT 1;&#10;&#10;    -- '%' is the placeholder, so a literal percent sign has to be doubled.&#10;    -- Writing them adjacent is ambiguous, so keep the word instead.&#10;    RAISE NOTICE 'Tracks at popularity &gt;= %: % of % (% percent)',&#10;                 cutoff, hits, total, round(100.0 * hits / total, 2);&#10;    RAISE NOTICE 'Oldest track: &quot;%&quot; from %', oldest.name, oldest.release_date;&#10;END;&#10;$$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129028"/>
            <a:ext cx="7344689" cy="4340352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2.4 VARIABLES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An anonymous block: DO</a:t>
            </a:r>
          </a:p>
        </p:txBody>
      </p:sp>
      <p:sp>
        <p:nvSpPr>
          <p:cNvPr id="14" name="Lead"/>
          <p:cNvSpPr txBox="1"/>
          <p:nvPr/>
        </p:nvSpPr>
        <p:spPr>
          <a:xfrm>
            <a:off x="1005840" y="1367028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A </a:t>
            </a:r>
            <a:r>
              <a:rPr sz="1520" b="0" i="0">
                <a:solidFill>
                  <a:srgbClr val="007C85"/>
                </a:solidFill>
                <a:latin typeface="Consolas"/>
              </a:rPr>
              <a:t>DO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block takes no parameters and returns nothing — it acts. Its output goes to the notice channel, which the playground displays above the results.</a:t>
            </a:r>
          </a:p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Looping over a query, with a variable accumulating as it goes:</a:t>
            </a:r>
          </a:p>
        </p:txBody>
      </p:sp>
      <p:pic>
        <p:nvPicPr>
          <p:cNvPr id="15" name="Picture 14" descr="DO $$&#10;DECLARE&#10;    rec           record;&#10;    running_total integer := 0;&#10;BEGIN&#10;    FOR rec IN&#10;        SELECT decade_of(release_date) AS decade, count(*) AS tracks&#10;          FROM tracks&#10;         GROUP BY 1&#10;         ORDER BY 1&#10;    LOOP&#10;        running_total := running_total + rec.tracks;&#10;        RAISE NOTICE '% → % tracks (running total %)',&#10;                     rec.decade, rec.tracks, running_total;&#10;    END LOOP;&#10;END;&#10;$$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464308"/>
            <a:ext cx="6612540" cy="4005072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2.4 VARIABLES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An anonymous block: DO</a:t>
            </a:r>
          </a:p>
        </p:txBody>
      </p:sp>
      <p:sp>
        <p:nvSpPr>
          <p:cNvPr id="14" name="Body"/>
          <p:cNvSpPr txBox="1"/>
          <p:nvPr/>
        </p:nvSpPr>
        <p:spPr>
          <a:xfrm>
            <a:off x="1005840" y="1367028"/>
            <a:ext cx="10332720" cy="498805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marL="274320">
              <a:spcBef>
                <a:spcPts val="600"/>
              </a:spcBef>
              <a:spcAft>
                <a:spcPts val="810"/>
              </a:spcAft>
            </a:pPr>
            <a:r>
              <a:rPr sz="1700" b="0" i="0">
                <a:solidFill>
                  <a:srgbClr val="007C85"/>
                </a:solidFill>
                <a:latin typeface="Arial"/>
              </a:rPr>
              <a:t>💡 Everything that loop does, </a:t>
            </a:r>
            <a:r>
              <a:rPr sz="1614" b="0" i="0">
                <a:solidFill>
                  <a:srgbClr val="007C85"/>
                </a:solidFill>
                <a:latin typeface="Consolas"/>
              </a:rPr>
              <a:t>SUM(…) OVER (ORDER BY decade)</a:t>
            </a:r>
            <a:r>
              <a:rPr sz="1700" b="0" i="0">
                <a:solidFill>
                  <a:srgbClr val="007C85"/>
                </a:solidFill>
                <a:latin typeface="Arial"/>
              </a:rPr>
              <a:t> from Lecture 1 §1.3 does in one statement and far faster. Reach for the window function first.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2.4 VARIABLES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2. Session variables</a:t>
            </a:r>
          </a:p>
        </p:txBody>
      </p:sp>
      <p:sp>
        <p:nvSpPr>
          <p:cNvPr id="14" name="Lead"/>
          <p:cNvSpPr txBox="1"/>
          <p:nvPr/>
        </p:nvSpPr>
        <p:spPr>
          <a:xfrm>
            <a:off x="1005840" y="1367028"/>
            <a:ext cx="10332720" cy="6705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These live in the connection, not in a block, and are visible to every statement until the session ends.</a:t>
            </a:r>
          </a:p>
        </p:txBody>
      </p:sp>
      <p:pic>
        <p:nvPicPr>
          <p:cNvPr id="15" name="Picture 14" descr="SET my.decade = '1970';&#10;&#10;SELECT current_setting('my.decade') AS the_setting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129028"/>
            <a:ext cx="6915150" cy="1238250"/>
          </a:xfrm>
          <a:prstGeom prst="rect">
            <a:avLst/>
          </a:prstGeom>
        </p:spPr>
      </p:pic>
      <p:pic>
        <p:nvPicPr>
          <p:cNvPr id="16" name="Picture 15" descr="SET my.decade = '1970';&#10;&#10;SELECT current_setting('my.decade') AS the_setting;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595878"/>
            <a:ext cx="1209675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2.4 VARIABLES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2. Session variables</a:t>
            </a:r>
          </a:p>
        </p:txBody>
      </p:sp>
      <p:pic>
        <p:nvPicPr>
          <p:cNvPr id="14" name="Picture 13" descr="SELECT count(*) AS tracks_in_my_decade&#10;  FROM tracks&#10; WHERE decade_of(release_date) = current_setting('my.decade')::int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367028"/>
            <a:ext cx="8934450" cy="1238250"/>
          </a:xfrm>
          <a:prstGeom prst="rect">
            <a:avLst/>
          </a:prstGeom>
        </p:spPr>
      </p:pic>
      <p:pic>
        <p:nvPicPr>
          <p:cNvPr id="15" name="Picture 14" descr="SELECT count(*) AS tracks_in_my_decade&#10;  FROM tracks&#10; WHERE decade_of(release_date) = current_setting('my.decade')::int;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833878"/>
            <a:ext cx="21336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2.4 VARIABLES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2. Session variables</a:t>
            </a:r>
          </a:p>
        </p:txBody>
      </p:sp>
      <p:sp>
        <p:nvSpPr>
          <p:cNvPr id="14" name="Lead"/>
          <p:cNvSpPr txBox="1"/>
          <p:nvPr/>
        </p:nvSpPr>
        <p:spPr>
          <a:xfrm>
            <a:off x="1005840" y="1367028"/>
            <a:ext cx="10332720" cy="7620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Note the cast: </a:t>
            </a:r>
            <a:r>
              <a:rPr sz="1520" b="0" i="0">
                <a:solidFill>
                  <a:srgbClr val="007C85"/>
                </a:solidFill>
                <a:latin typeface="Consolas"/>
              </a:rPr>
              <a:t>current_setting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always returns </a:t>
            </a:r>
            <a:r>
              <a:rPr sz="1520" b="0" i="0">
                <a:solidFill>
                  <a:srgbClr val="007C85"/>
                </a:solidFill>
                <a:latin typeface="Consolas"/>
              </a:rPr>
              <a:t>text</a:t>
            </a:r>
            <a:r>
              <a:rPr sz="1600" b="0" i="0">
                <a:solidFill>
                  <a:srgbClr val="000000"/>
                </a:solidFill>
                <a:latin typeface="Arial"/>
              </a:rPr>
              <a:t>, whatever you put in.</a:t>
            </a:r>
          </a:p>
          <a:p>
            <a:pPr>
              <a:spcAft>
                <a:spcPts val="720"/>
              </a:spcAft>
            </a:pPr>
            <a:r>
              <a:rPr sz="1520" b="0" i="0">
                <a:solidFill>
                  <a:srgbClr val="007C85"/>
                </a:solidFill>
                <a:latin typeface="Consolas"/>
              </a:rPr>
              <a:t>SET LOCAL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limits the setting to the current transaction:</a:t>
            </a:r>
          </a:p>
        </p:txBody>
      </p:sp>
      <p:pic>
        <p:nvPicPr>
          <p:cNvPr id="15" name="Picture 14" descr="BEGIN;&#10;SET LOCAL my.decade = '1990';&#10;SELECT current_setting('my.decade') AS inside_transaction;&#10;COMMIT;&#10;&#10;SELECT current_setting('my.decade') AS after_commit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220468"/>
            <a:ext cx="7791450" cy="2143125"/>
          </a:xfrm>
          <a:prstGeom prst="rect">
            <a:avLst/>
          </a:prstGeom>
        </p:spPr>
      </p:pic>
      <p:pic>
        <p:nvPicPr>
          <p:cNvPr id="16" name="Picture 15" descr="BEGIN;&#10;SET LOCAL my.decade = '1990';&#10;SELECT current_setting('my.decade') AS inside_transaction;&#10;COMMIT;&#10;&#10;SELECT current_setting('my.decade') AS after_commit;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592192"/>
            <a:ext cx="1381125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2.4 VARIABLES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2. Session variables</a:t>
            </a:r>
          </a:p>
        </p:txBody>
      </p:sp>
      <p:sp>
        <p:nvSpPr>
          <p:cNvPr id="14" name="Lead"/>
          <p:cNvSpPr txBox="1"/>
          <p:nvPr/>
        </p:nvSpPr>
        <p:spPr>
          <a:xfrm>
            <a:off x="1005840" y="1367028"/>
            <a:ext cx="10332720" cy="4267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The same mechanism configures the server's own behaviour:</a:t>
            </a:r>
          </a:p>
        </p:txBody>
      </p:sp>
      <p:pic>
        <p:nvPicPr>
          <p:cNvPr id="15" name="Picture 14" descr="SET work_mem = '256MB';&#10;SHOW work_mem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885187"/>
            <a:ext cx="3381375" cy="933449"/>
          </a:xfrm>
          <a:prstGeom prst="rect">
            <a:avLst/>
          </a:prstGeom>
        </p:spPr>
      </p:pic>
      <p:pic>
        <p:nvPicPr>
          <p:cNvPr id="16" name="Picture 15" descr="SET work_mem = '256MB';&#10;SHOW work_mem;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047237"/>
            <a:ext cx="1190625" cy="952500"/>
          </a:xfrm>
          <a:prstGeom prst="rect">
            <a:avLst/>
          </a:prstGeom>
        </p:spPr>
      </p:pic>
      <p:sp>
        <p:nvSpPr>
          <p:cNvPr id="17" name="Note"/>
          <p:cNvSpPr txBox="1"/>
          <p:nvPr/>
        </p:nvSpPr>
        <p:spPr>
          <a:xfrm>
            <a:off x="1005840" y="4228338"/>
            <a:ext cx="10332720" cy="8991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marL="274320">
              <a:spcBef>
                <a:spcPts val="600"/>
              </a:spcBef>
              <a:spcAft>
                <a:spcPts val="720"/>
              </a:spcAft>
            </a:pPr>
            <a:r>
              <a:rPr sz="1500" b="0" i="0">
                <a:solidFill>
                  <a:srgbClr val="007C85"/>
                </a:solidFill>
                <a:latin typeface="Arial"/>
              </a:rPr>
              <a:t>💡 A custom session variable must contain a dot (</a:t>
            </a:r>
            <a:r>
              <a:rPr sz="1425" b="0" i="0">
                <a:solidFill>
                  <a:srgbClr val="007C85"/>
                </a:solidFill>
                <a:latin typeface="Consolas"/>
              </a:rPr>
              <a:t>my.decade</a:t>
            </a:r>
            <a:r>
              <a:rPr sz="1500" b="0" i="0">
                <a:solidFill>
                  <a:srgbClr val="007C85"/>
                </a:solidFill>
                <a:latin typeface="Arial"/>
              </a:rPr>
              <a:t>, not </a:t>
            </a:r>
            <a:r>
              <a:rPr sz="1425" b="0" i="0">
                <a:solidFill>
                  <a:srgbClr val="007C85"/>
                </a:solidFill>
                <a:latin typeface="Consolas"/>
              </a:rPr>
              <a:t>decade</a:t>
            </a:r>
            <a:r>
              <a:rPr sz="1500" b="0" i="0">
                <a:solidFill>
                  <a:srgbClr val="007C85"/>
                </a:solidFill>
                <a:latin typeface="Arial"/>
              </a:rPr>
              <a:t>) — that is how PostgreSQL distinguishes user settings from its own configuration parameters.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2.4 VARIABLES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3. psql client variables</a:t>
            </a:r>
          </a:p>
        </p:txBody>
      </p:sp>
      <p:sp>
        <p:nvSpPr>
          <p:cNvPr id="14" name="Lead"/>
          <p:cNvSpPr txBox="1"/>
          <p:nvPr/>
        </p:nvSpPr>
        <p:spPr>
          <a:xfrm>
            <a:off x="1005840" y="1367028"/>
            <a:ext cx="10332720" cy="6705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Strictly speaking these belong to the </a:t>
            </a:r>
            <a:r>
              <a:rPr sz="1520" b="0" i="0">
                <a:solidFill>
                  <a:srgbClr val="007C85"/>
                </a:solidFill>
                <a:latin typeface="Consolas"/>
              </a:rPr>
              <a:t>psql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client rather than to the server, so they will not run in the browser playground — but they are what people usually reach for in scripts:</a:t>
            </a:r>
          </a:p>
        </p:txBody>
      </p:sp>
      <p:pic>
        <p:nvPicPr>
          <p:cNvPr id="15" name="Picture 14" descr="\set decade 1970&#10;SELECT count(*) FROM tracks WHERE decade_of(release_date) = :decade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129028"/>
            <a:ext cx="9058275" cy="933449"/>
          </a:xfrm>
          <a:prstGeom prst="rect">
            <a:avLst/>
          </a:prstGeom>
        </p:spPr>
      </p:pic>
      <p:sp>
        <p:nvSpPr>
          <p:cNvPr id="16" name="Note"/>
          <p:cNvSpPr txBox="1"/>
          <p:nvPr/>
        </p:nvSpPr>
        <p:spPr>
          <a:xfrm>
            <a:off x="1005840" y="3291077"/>
            <a:ext cx="10332720" cy="6705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520" b="0" i="0">
                <a:solidFill>
                  <a:srgbClr val="007C85"/>
                </a:solidFill>
                <a:latin typeface="Consolas"/>
              </a:rPr>
              <a:t>:name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substitutes the value, </a:t>
            </a:r>
            <a:r>
              <a:rPr sz="1520" b="0" i="0">
                <a:solidFill>
                  <a:srgbClr val="007C85"/>
                </a:solidFill>
                <a:latin typeface="Consolas"/>
              </a:rPr>
              <a:t>:'name'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substitutes it quoted as a string literal, and </a:t>
            </a:r>
            <a:r>
              <a:rPr sz="1520" b="0" i="0">
                <a:solidFill>
                  <a:srgbClr val="007C85"/>
                </a:solidFill>
                <a:latin typeface="Consolas"/>
              </a:rPr>
              <a:t>:"name"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as an identifier.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2.4 VARIABLES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Which one to use</a:t>
            </a:r>
          </a:p>
        </p:txBody>
      </p:sp>
      <p:graphicFrame>
        <p:nvGraphicFramePr>
          <p:cNvPr id="14" name="Table"/>
          <p:cNvGraphicFramePr>
            <a:graphicFrameLocks noGrp="1"/>
          </p:cNvGraphicFramePr>
          <p:nvPr/>
        </p:nvGraphicFramePr>
        <p:xfrm>
          <a:off x="1005840" y="1367028"/>
          <a:ext cx="10332720" cy="1524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5166360"/>
                <a:gridCol w="5166360"/>
              </a:tblGrid>
              <a:tr h="3048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Arial"/>
                        </a:rPr>
                        <a:t>Need</a:t>
                      </a:r>
                    </a:p>
                  </a:txBody>
                  <a:tcPr marL="91440" marR="91440" marT="45720" marB="45720">
                    <a:solidFill>
                      <a:srgbClr val="03CDD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Arial"/>
                        </a:rPr>
                        <a:t>Use</a:t>
                      </a:r>
                    </a:p>
                  </a:txBody>
                  <a:tcPr marL="91440" marR="91440" marT="45720" marB="45720">
                    <a:solidFill>
                      <a:srgbClr val="03CDD8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A temporary value inside a routine or block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a PL/pgSQL variable in </a:t>
                      </a:r>
                      <a:r>
                        <a:rPr sz="1330" b="0" i="0">
                          <a:solidFill>
                            <a:srgbClr val="007C85"/>
                          </a:solidFill>
                          <a:latin typeface="Consolas"/>
                        </a:rPr>
                        <a:t>DECLARE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A value shared by several statements in one connection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30" b="0" i="0">
                          <a:solidFill>
                            <a:srgbClr val="007C85"/>
                          </a:solidFill>
                          <a:latin typeface="Consolas"/>
                        </a:rPr>
                        <a:t>SET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 / </a:t>
                      </a:r>
                      <a:r>
                        <a:rPr sz="1330" b="0" i="0">
                          <a:solidFill>
                            <a:srgbClr val="007C85"/>
                          </a:solidFill>
                          <a:latin typeface="Consolas"/>
                        </a:rPr>
                        <a:t>current_setting()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A parameter for a script run through the </a:t>
                      </a:r>
                      <a:r>
                        <a:rPr sz="1330" b="0" i="0">
                          <a:solidFill>
                            <a:srgbClr val="007C85"/>
                          </a:solidFill>
                          <a:latin typeface="Consolas"/>
                        </a:rPr>
                        <a:t>psql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 client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30" b="0" i="0">
                          <a:solidFill>
                            <a:srgbClr val="007C85"/>
                          </a:solidFill>
                          <a:latin typeface="Consolas"/>
                        </a:rPr>
                        <a:t>\set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 and </a:t>
                      </a:r>
                      <a:r>
                        <a:rPr sz="1330" b="0" i="0">
                          <a:solidFill>
                            <a:srgbClr val="007C85"/>
                          </a:solidFill>
                          <a:latin typeface="Consolas"/>
                        </a:rPr>
                        <a:t>:name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A value passed from an application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a </a:t>
                      </a:r>
                      <a:r>
                        <a:rPr sz="1400" b="1" i="0">
                          <a:solidFill>
                            <a:srgbClr val="000000"/>
                          </a:solidFill>
                          <a:latin typeface="Arial"/>
                        </a:rPr>
                        <a:t>query parameter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 (</a:t>
                      </a:r>
                      <a:r>
                        <a:rPr sz="1330" b="0" i="0">
                          <a:solidFill>
                            <a:srgbClr val="007C85"/>
                          </a:solidFill>
                          <a:latin typeface="Consolas"/>
                        </a:rPr>
                        <a:t>$1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, </a:t>
                      </a:r>
                      <a:r>
                        <a:rPr sz="1330" b="0" i="0">
                          <a:solidFill>
                            <a:srgbClr val="007C85"/>
                          </a:solidFill>
                          <a:latin typeface="Consolas"/>
                        </a:rPr>
                        <a:t>$2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Arial"/>
                        </a:rPr>
                        <a:t>), never string concatenation</a:t>
                      </a:r>
                    </a:p>
                  </a:txBody>
                  <a:tcPr marL="91440" marR="91440" marT="45720" marB="45720"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15" name="Note"/>
          <p:cNvSpPr txBox="1"/>
          <p:nvPr/>
        </p:nvSpPr>
        <p:spPr>
          <a:xfrm>
            <a:off x="1005840" y="3256788"/>
            <a:ext cx="10332720" cy="6705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72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The last row is a security point, not a style point: building SQL by concatenating user input is how SQL injection happens. Pass parameters.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2.4 VARIABLES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Which one to use</a:t>
            </a:r>
          </a:p>
        </p:txBody>
      </p:sp>
      <p:pic>
        <p:nvPicPr>
          <p:cNvPr id="14" name="Picture 13" descr="-- never do this&#10;'SELECT * FROM tracks WHERE name = ''' || user_input || ''''&#10;&#10;-- do this: the value can never be parsed as SQL&#10;SELECT * FROM tracks WHERE name = $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367028"/>
            <a:ext cx="8048625" cy="1838324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LECTURE 2. DDL &amp; DML, PROCEDURES, VARIABLES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Summary</a:t>
            </a:r>
          </a:p>
        </p:txBody>
      </p:sp>
      <p:sp>
        <p:nvSpPr>
          <p:cNvPr id="14" name="Body"/>
          <p:cNvSpPr txBox="1"/>
          <p:nvPr/>
        </p:nvSpPr>
        <p:spPr>
          <a:xfrm>
            <a:off x="1005840" y="1367028"/>
            <a:ext cx="10332720" cy="498805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810"/>
              </a:spcAft>
            </a:pPr>
            <a:r>
              <a:rPr sz="1800" b="1" i="0">
                <a:solidFill>
                  <a:srgbClr val="000000"/>
                </a:solidFill>
                <a:latin typeface="Arial"/>
              </a:rPr>
              <a:t>DDL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describes the structure of the data — tables, indexes, constraints, sequences: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709" b="0" i="0">
                <a:solidFill>
                  <a:srgbClr val="007C85"/>
                </a:solidFill>
                <a:latin typeface="Consolas"/>
              </a:rPr>
              <a:t>CREATE TABLE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— creates a table; declare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PRIMARY KEY</a:t>
            </a:r>
            <a:r>
              <a:rPr sz="1800" b="0" i="0">
                <a:solidFill>
                  <a:srgbClr val="000000"/>
                </a:solidFill>
                <a:latin typeface="Arial"/>
              </a:rPr>
              <a:t>,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NOT NULL</a:t>
            </a:r>
            <a:r>
              <a:rPr sz="1800" b="0" i="0">
                <a:solidFill>
                  <a:srgbClr val="000000"/>
                </a:solidFill>
                <a:latin typeface="Arial"/>
              </a:rPr>
              <a:t>,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UNIQUE</a:t>
            </a:r>
            <a:r>
              <a:rPr sz="1800" b="0" i="0">
                <a:solidFill>
                  <a:srgbClr val="000000"/>
                </a:solidFill>
                <a:latin typeface="Arial"/>
              </a:rPr>
              <a:t>,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CHECK</a:t>
            </a:r>
            <a:r>
              <a:rPr sz="1800" b="0" i="0">
                <a:solidFill>
                  <a:srgbClr val="000000"/>
                </a:solidFill>
                <a:latin typeface="Arial"/>
              </a:rPr>
              <a:t>,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REFERENCES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and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DEFAULT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while you are there;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709" b="0" i="0">
                <a:solidFill>
                  <a:srgbClr val="007C85"/>
                </a:solidFill>
                <a:latin typeface="Consolas"/>
              </a:rPr>
              <a:t>ALTER TABLE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— renames a table, and adds, renames, retypes and drops fields;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709" b="0" i="0">
                <a:solidFill>
                  <a:srgbClr val="007C85"/>
                </a:solidFill>
                <a:latin typeface="Consolas"/>
              </a:rPr>
              <a:t>DROP COLUMN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/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DROP TABLE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— removes a field or the whole table;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709" b="0" i="0">
                <a:solidFill>
                  <a:srgbClr val="007C85"/>
                </a:solidFill>
                <a:latin typeface="Consolas"/>
              </a:rPr>
              <a:t>TRUNCATE TABLE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— removes all records fast, keeping the structure;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709" b="0" i="0">
                <a:solidFill>
                  <a:srgbClr val="007C85"/>
                </a:solidFill>
                <a:latin typeface="Consolas"/>
              </a:rPr>
              <a:t>CREATE TABLE … AS SELECT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— creates and fills a table from a query in one go.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LECTURE 2. DDL &amp; DML, PROCEDURES, VARIABLES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Summary</a:t>
            </a:r>
          </a:p>
        </p:txBody>
      </p:sp>
      <p:sp>
        <p:nvSpPr>
          <p:cNvPr id="14" name="Body"/>
          <p:cNvSpPr txBox="1"/>
          <p:nvPr/>
        </p:nvSpPr>
        <p:spPr>
          <a:xfrm>
            <a:off x="1005840" y="1367028"/>
            <a:ext cx="10332720" cy="498805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810"/>
              </a:spcAft>
            </a:pPr>
            <a:r>
              <a:rPr sz="1800" b="1" i="0">
                <a:solidFill>
                  <a:srgbClr val="000000"/>
                </a:solidFill>
                <a:latin typeface="Arial"/>
              </a:rPr>
              <a:t>DML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manipulates the data in the tables: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709" b="0" i="0">
                <a:solidFill>
                  <a:srgbClr val="007C85"/>
                </a:solidFill>
                <a:latin typeface="Consolas"/>
              </a:rPr>
              <a:t>INSERT INTO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— adds records, from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VALUES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or from a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SELECT</a:t>
            </a:r>
            <a:r>
              <a:rPr sz="1800" b="0" i="0">
                <a:solidFill>
                  <a:srgbClr val="000000"/>
                </a:solidFill>
                <a:latin typeface="Arial"/>
              </a:rPr>
              <a:t>;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ON CONFLICT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turns it into an upsert;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709" b="0" i="0">
                <a:solidFill>
                  <a:srgbClr val="007C85"/>
                </a:solidFill>
                <a:latin typeface="Consolas"/>
              </a:rPr>
              <a:t>UPDATE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— changes data, with or without a filter;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UPDATE … FROM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draws new values from another table;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709" b="0" i="0">
                <a:solidFill>
                  <a:srgbClr val="007C85"/>
                </a:solidFill>
                <a:latin typeface="Consolas"/>
              </a:rPr>
              <a:t>DELETE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— deletes data; always give it a condition, and use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TRUNCATE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when you mean "everything";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709" b="0" i="0">
                <a:solidFill>
                  <a:srgbClr val="007C85"/>
                </a:solidFill>
                <a:latin typeface="Consolas"/>
              </a:rPr>
              <a:t>RETURNING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reports what any of the three actually changed.</a:t>
            </a:r>
          </a:p>
          <a:p>
            <a:pPr>
              <a:spcAft>
                <a:spcPts val="810"/>
              </a:spcAft>
            </a:pPr>
            <a:r>
              <a:rPr sz="1800" b="1" i="0">
                <a:solidFill>
                  <a:srgbClr val="000000"/>
                </a:solidFill>
                <a:latin typeface="Arial"/>
              </a:rPr>
              <a:t>Materializations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name a query: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Arial"/>
              </a:rPr>
              <a:t>a </a:t>
            </a:r>
            <a:r>
              <a:rPr sz="1800" b="1" i="0">
                <a:solidFill>
                  <a:srgbClr val="000000"/>
                </a:solidFill>
                <a:latin typeface="Arial"/>
              </a:rPr>
              <a:t>view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stores only the query — it is always current, occupies no space, and costs a full re-execution on every read;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Arial"/>
              </a:rPr>
              <a:t>a </a:t>
            </a:r>
            <a:r>
              <a:rPr sz="1800" b="1" i="0">
                <a:solidFill>
                  <a:srgbClr val="000000"/>
                </a:solidFill>
                <a:latin typeface="Arial"/>
              </a:rPr>
              <a:t>materialized view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stores the result — reads are cheap and it can be indexed, but the data is only as fresh as the last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REFRESH MATERIALIZED VIEW</a:t>
            </a:r>
            <a:r>
              <a:rPr sz="1800" b="0" i="0">
                <a:solidFill>
                  <a:srgbClr val="000000"/>
                </a:solidFill>
                <a:latin typeface="Arial"/>
              </a:rPr>
              <a:t>;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Arial"/>
              </a:rPr>
              <a:t>unlike a CTE, both persist in the database and can be used by other queries.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ACF8AF4-1303-4591-2A1A-1D337805B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8" y="262042"/>
            <a:ext cx="332804" cy="332804"/>
          </a:xfrm>
          <a:prstGeom prst="rect">
            <a:avLst/>
          </a:prstGeom>
        </p:spPr>
      </p:pic>
      <p:sp>
        <p:nvSpPr>
          <p:cNvPr id="12" name="Kicker"/>
          <p:cNvSpPr txBox="1"/>
          <p:nvPr/>
        </p:nvSpPr>
        <p:spPr>
          <a:xfrm>
            <a:off x="1005840" y="256032"/>
            <a:ext cx="1033272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1200" b="1" i="0">
                <a:solidFill>
                  <a:srgbClr val="007C85"/>
                </a:solidFill>
                <a:latin typeface="Arial"/>
              </a:rPr>
              <a:t>LECTURE 2. DDL &amp; DML, PROCEDURES, VARIABLES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1005840" y="566928"/>
            <a:ext cx="10332720" cy="617219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Summary</a:t>
            </a:r>
          </a:p>
        </p:txBody>
      </p:sp>
      <p:sp>
        <p:nvSpPr>
          <p:cNvPr id="14" name="Body"/>
          <p:cNvSpPr txBox="1"/>
          <p:nvPr/>
        </p:nvSpPr>
        <p:spPr>
          <a:xfrm>
            <a:off x="1005840" y="1367028"/>
            <a:ext cx="10332720" cy="498805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>
              <a:spcAft>
                <a:spcPts val="810"/>
              </a:spcAft>
            </a:pPr>
            <a:r>
              <a:rPr sz="1800" b="1" i="0">
                <a:solidFill>
                  <a:srgbClr val="000000"/>
                </a:solidFill>
                <a:latin typeface="Arial"/>
              </a:rPr>
              <a:t>Procedures and functions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put logic in the database, written in PL/pgSQL: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Arial"/>
              </a:rPr>
              <a:t>a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FUNCTION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returns a value and can be called inside a query (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SELECT f(x)</a:t>
            </a:r>
            <a:r>
              <a:rPr sz="1800" b="0" i="0">
                <a:solidFill>
                  <a:srgbClr val="000000"/>
                </a:solidFill>
                <a:latin typeface="Arial"/>
              </a:rPr>
              <a:t>);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Arial"/>
              </a:rPr>
              <a:t>a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PROCEDURE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performs an action, is called with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CALL</a:t>
            </a:r>
            <a:r>
              <a:rPr sz="1800" b="0" i="0">
                <a:solidFill>
                  <a:srgbClr val="000000"/>
                </a:solidFill>
                <a:latin typeface="Arial"/>
              </a:rPr>
              <a:t>, and can manage transactions;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Arial"/>
              </a:rPr>
              <a:t>both support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IN</a:t>
            </a:r>
            <a:r>
              <a:rPr sz="1800" b="0" i="0">
                <a:solidFill>
                  <a:srgbClr val="000000"/>
                </a:solidFill>
                <a:latin typeface="Arial"/>
              </a:rPr>
              <a:t>/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OUT</a:t>
            </a:r>
            <a:r>
              <a:rPr sz="1800" b="0" i="0">
                <a:solidFill>
                  <a:srgbClr val="000000"/>
                </a:solidFill>
                <a:latin typeface="Arial"/>
              </a:rPr>
              <a:t>/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INOUT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parameters,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IF</a:t>
            </a:r>
            <a:r>
              <a:rPr sz="1800" b="0" i="0">
                <a:solidFill>
                  <a:srgbClr val="000000"/>
                </a:solidFill>
                <a:latin typeface="Arial"/>
              </a:rPr>
              <a:t>,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FOR</a:t>
            </a:r>
            <a:r>
              <a:rPr sz="1800" b="0" i="0">
                <a:solidFill>
                  <a:srgbClr val="000000"/>
                </a:solidFill>
                <a:latin typeface="Arial"/>
              </a:rPr>
              <a:t>/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WHILE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loops, and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EXCEPTION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blocks;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Arial"/>
              </a:rPr>
              <a:t>prefer set-based statements to row-by-row loops.</a:t>
            </a:r>
          </a:p>
          <a:p>
            <a:pPr>
              <a:spcAft>
                <a:spcPts val="810"/>
              </a:spcAft>
            </a:pPr>
            <a:r>
              <a:rPr sz="1800" b="1" i="0">
                <a:solidFill>
                  <a:srgbClr val="000000"/>
                </a:solidFill>
                <a:latin typeface="Arial"/>
              </a:rPr>
              <a:t>Variables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come in three kinds, at three different scopes: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Arial"/>
              </a:rPr>
              <a:t>PL/pgSQL variables — declared in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DECLARE</a:t>
            </a:r>
            <a:r>
              <a:rPr sz="1800" b="0" i="0">
                <a:solidFill>
                  <a:srgbClr val="000000"/>
                </a:solidFill>
                <a:latin typeface="Arial"/>
              </a:rPr>
              <a:t>, assigned with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:=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or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SELECT … INTO</a:t>
            </a:r>
            <a:r>
              <a:rPr sz="1800" b="0" i="0">
                <a:solidFill>
                  <a:srgbClr val="000000"/>
                </a:solidFill>
                <a:latin typeface="Arial"/>
              </a:rPr>
              <a:t>, alive for one call;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%TYPE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and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%ROWTYPE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tie them to the schema;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Arial"/>
              </a:rPr>
              <a:t>session variables —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SET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/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SET LOCAL</a:t>
            </a:r>
            <a:r>
              <a:rPr sz="1800" b="0" i="0">
                <a:solidFill>
                  <a:srgbClr val="000000"/>
                </a:solidFill>
                <a:latin typeface="Arial"/>
              </a:rPr>
              <a:t>, read with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current_setting()</a:t>
            </a:r>
            <a:r>
              <a:rPr sz="1800" b="0" i="0">
                <a:solidFill>
                  <a:srgbClr val="000000"/>
                </a:solidFill>
                <a:latin typeface="Arial"/>
              </a:rPr>
              <a:t>, alive for the connection or the transaction;</a:t>
            </a:r>
          </a:p>
          <a:p>
            <a:pPr marL="292608" indent="-292608">
              <a:spcAft>
                <a:spcPts val="810"/>
              </a:spcAft>
              <a:buFont typeface="Arial"/>
              <a:buChar char="•"/>
            </a:pPr>
            <a:r>
              <a:rPr sz="1800" b="0" i="0">
                <a:solidFill>
                  <a:srgbClr val="000000"/>
                </a:solidFill>
                <a:latin typeface="Arial"/>
              </a:rPr>
              <a:t>psql client variables —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\set</a:t>
            </a:r>
            <a:r>
              <a:rPr sz="1800" b="0" i="0">
                <a:solidFill>
                  <a:srgbClr val="000000"/>
                </a:solidFill>
                <a:latin typeface="Arial"/>
              </a:rPr>
              <a:t> and </a:t>
            </a:r>
            <a:r>
              <a:rPr sz="1709" b="0" i="0">
                <a:solidFill>
                  <a:srgbClr val="007C85"/>
                </a:solidFill>
                <a:latin typeface="Consolas"/>
              </a:rPr>
              <a:t>:name</a:t>
            </a:r>
            <a:r>
              <a:rPr sz="1800" b="0" i="0">
                <a:solidFill>
                  <a:srgbClr val="000000"/>
                </a:solidFill>
                <a:latin typeface="Arial"/>
              </a:rPr>
              <a:t>, for scripts.</a:t>
            </a:r>
          </a:p>
          <a:p>
            <a:pPr>
              <a:spcAft>
                <a:spcPts val="81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Values coming from an application belong in query parameters, never in concatenated SQL.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>
            <a:extLst>
              <a:ext uri="{FF2B5EF4-FFF2-40B4-BE49-F238E27FC236}">
                <a16:creationId xmlns:a16="http://schemas.microsoft.com/office/drawing/2014/main" id="{11B2B030-4738-4359-9E46-144B7C8BF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17" y="8300"/>
            <a:ext cx="12193117" cy="68497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14431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1798B1-4005-C97E-0648-9D3F1CDE26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121" b="1"/>
          <a:stretch>
            <a:fillRect/>
          </a:stretch>
        </p:blipFill>
        <p:spPr>
          <a:xfrm>
            <a:off x="20" y="10"/>
            <a:ext cx="12191980" cy="68662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D61A46-62DF-F056-62BA-65F56A64EE05}"/>
              </a:ext>
            </a:extLst>
          </p:cNvPr>
          <p:cNvSpPr txBox="1"/>
          <p:nvPr/>
        </p:nvSpPr>
        <p:spPr>
          <a:xfrm>
            <a:off x="4382604" y="5551151"/>
            <a:ext cx="378984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 dirty="0">
                <a:latin typeface="Arial" panose="020B0604020202020204" pitchFamily="34" charset="0"/>
                <a:cs typeface="Arial" panose="020B0604020202020204" pitchFamily="34" charset="0"/>
              </a:rPr>
              <a:t>Q &amp; A</a:t>
            </a:r>
            <a:endParaRPr lang="en-US" sz="8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A866A7-9B64-F277-DAB1-DBA42FF4DD1C}"/>
              </a:ext>
            </a:extLst>
          </p:cNvPr>
          <p:cNvSpPr txBox="1"/>
          <p:nvPr/>
        </p:nvSpPr>
        <p:spPr>
          <a:xfrm>
            <a:off x="9916257" y="4621806"/>
            <a:ext cx="29329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TBC Explorers</a:t>
            </a:r>
          </a:p>
        </p:txBody>
      </p:sp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439EE91-C7A1-F4F4-6F72-2DF52A4BC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778" y="719242"/>
            <a:ext cx="332804" cy="332804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>
            <a:extLst>
              <a:ext uri="{FF2B5EF4-FFF2-40B4-BE49-F238E27FC236}">
                <a16:creationId xmlns:a16="http://schemas.microsoft.com/office/drawing/2014/main" id="{11B2B030-4738-4359-9E46-144B7C8BF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17" y="8300"/>
            <a:ext cx="12193117" cy="68497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14431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close-up of colorful strips&#10;&#10;AI-generated content may be incorrect.">
            <a:extLst>
              <a:ext uri="{FF2B5EF4-FFF2-40B4-BE49-F238E27FC236}">
                <a16:creationId xmlns:a16="http://schemas.microsoft.com/office/drawing/2014/main" id="{6FE50DF5-292F-EB40-B82B-B90D406D42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121" b="1"/>
          <a:stretch>
            <a:fillRect/>
          </a:stretch>
        </p:blipFill>
        <p:spPr>
          <a:xfrm>
            <a:off x="20" y="10"/>
            <a:ext cx="12191980" cy="6866290"/>
          </a:xfrm>
          <a:prstGeom prst="rect">
            <a:avLst/>
          </a:prstGeom>
        </p:spPr>
      </p:pic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622731B-5292-3D86-E736-01F65D75A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1753" y="204892"/>
            <a:ext cx="332804" cy="3328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9C38BF-2AF1-AB4D-3789-0E206CF6E1E2}"/>
              </a:ext>
            </a:extLst>
          </p:cNvPr>
          <p:cNvSpPr txBox="1"/>
          <p:nvPr/>
        </p:nvSpPr>
        <p:spPr>
          <a:xfrm>
            <a:off x="4105686" y="6184319"/>
            <a:ext cx="29329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7e2a8a44-4773-4649-a4d0-14fe0292ffe6}" enabled="0" method="" siteId="{7e2a8a44-4773-4649-a4d0-14fe0292ffe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294</Words>
  <Application>Microsoft Macintosh PowerPoint</Application>
  <PresentationFormat>Widescreen</PresentationFormat>
  <Paragraphs>21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Nini Onezashvili</dc:creator>
  <cp:lastModifiedBy>Denis Boldin</cp:lastModifiedBy>
  <cp:revision>3</cp:revision>
  <dcterms:created xsi:type="dcterms:W3CDTF">2025-12-09T07:05:38Z</dcterms:created>
  <dcterms:modified xsi:type="dcterms:W3CDTF">2026-10-04T11:11:26Z</dcterms:modified>
</cp:coreProperties>
</file>